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9" r:id="rId3"/>
    <p:sldId id="278" r:id="rId4"/>
    <p:sldId id="271" r:id="rId5"/>
    <p:sldId id="272" r:id="rId6"/>
    <p:sldId id="273" r:id="rId7"/>
    <p:sldId id="274" r:id="rId8"/>
    <p:sldId id="281" r:id="rId9"/>
    <p:sldId id="27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phi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2235496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48840"/>
            <a:ext cx="7132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F9A11B"/>
                </a:solidFill>
                <a:latin typeface="Arial"/>
              </a:rPr>
              <a:t>WEEKLY UPDATE  ·  16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132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KV Cache Reuse on aiDAPTIV+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67665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C9CAD0"/>
                </a:solidFill>
                <a:latin typeface="Arial"/>
              </a:rPr>
              <a:t>A ~10K-token KV cache survives a full server restart and is served back from the AI SSD </a:t>
            </a:r>
            <a:r>
              <a:rPr lang="en-US" sz="1800" b="0" dirty="0">
                <a:solidFill>
                  <a:srgbClr val="C9CAD0"/>
                </a:solidFill>
                <a:latin typeface="Arial"/>
              </a:rPr>
              <a:t>and we</a:t>
            </a:r>
            <a:r>
              <a:rPr sz="1800" b="0" dirty="0">
                <a:solidFill>
                  <a:srgbClr val="C9CAD0"/>
                </a:solidFill>
                <a:latin typeface="Arial"/>
              </a:rPr>
              <a:t> measured against the same prompt without aiDAPTIV+.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CA3"/>
                </a:solidFill>
                <a:latin typeface="Arial"/>
              </a:rPr>
              <a:t>Model under test: gemma-4-26B-A4B-it-UD-Q4_K_M.gguf   ·   aiDAPTIV+ build NXWVB306.1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554480"/>
            <a:ext cx="3474720" cy="448056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12700">
            <a:solidFill>
              <a:srgbClr val="3A3A4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9CA3"/>
                </a:solidFill>
                <a:latin typeface="Arial"/>
              </a:rPr>
              <a:t>THIS WEEK</a:t>
            </a:r>
          </a:p>
        </p:txBody>
      </p:sp>
      <p:sp>
        <p:nvSpPr>
          <p:cNvPr id="9" name="Oval 8"/>
          <p:cNvSpPr/>
          <p:nvPr/>
        </p:nvSpPr>
        <p:spPr>
          <a:xfrm>
            <a:off x="8503920" y="2194560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23113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API stack reviewed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2798064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Prefill via /completions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3401568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43814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Reuse verified after restart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4005072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0416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Benchmarked vs. no aiDAPTIV+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4608576"/>
            <a:ext cx="329184" cy="3291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64515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9A11B"/>
                </a:solidFill>
                <a:latin typeface="Arial"/>
              </a:rPr>
              <a:t>Onyx reuse integration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0" y="5212080"/>
            <a:ext cx="329184" cy="3291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24865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9A11B"/>
                </a:solidFill>
                <a:latin typeface="Arial"/>
              </a:rPr>
              <a:t>Docs upload &amp; web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32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Where we were, and what this week adds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480000"/>
            <a:ext cx="5486400" cy="340000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480000"/>
            <a:ext cx="5486400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086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LAST WEEK  · 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500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A1C"/>
                </a:solidFill>
                <a:latin typeface="Arial"/>
              </a:rPr>
              <a:t>Four apps integrated on the aiDAPTIV+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420000"/>
            <a:ext cx="2331720" cy="4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✓   </a:t>
            </a:r>
            <a:r>
              <a:rPr sz="1150" b="1">
                <a:solidFill>
                  <a:srgbClr val="1A1A1C"/>
                </a:solidFill>
                <a:latin typeface="Arial"/>
              </a:rPr>
              <a:t>OpenWebUI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420000"/>
            <a:ext cx="2331720" cy="4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✓   </a:t>
            </a:r>
            <a:r>
              <a:rPr sz="1150" b="1">
                <a:solidFill>
                  <a:srgbClr val="1A1A1C"/>
                </a:solidFill>
                <a:latin typeface="Arial"/>
              </a:rPr>
              <a:t>Obsidian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880000"/>
            <a:ext cx="2331720" cy="4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✓   </a:t>
            </a:r>
            <a:r>
              <a:rPr sz="1150" b="1">
                <a:solidFill>
                  <a:srgbClr val="1A1A1C"/>
                </a:solidFill>
                <a:latin typeface="Arial"/>
              </a:rPr>
              <a:t>Onyx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880000"/>
            <a:ext cx="2331720" cy="4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✓   </a:t>
            </a:r>
            <a:r>
              <a:rPr sz="1150" b="1">
                <a:solidFill>
                  <a:srgbClr val="1A1A1C"/>
                </a:solidFill>
                <a:latin typeface="Arial"/>
              </a:rPr>
              <a:t>LibreChat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380000"/>
            <a:ext cx="4846320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48000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Middleware installed — </a:t>
            </a:r>
            <a:r>
              <a:rPr sz="1100" b="1">
                <a:solidFill>
                  <a:srgbClr val="1A1A1C"/>
                </a:solidFill>
                <a:latin typeface="Arial"/>
              </a:rPr>
              <a:t>build NXWVB306.1, checks passing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2000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Each app tested </a:t>
            </a:r>
            <a:r>
              <a:rPr sz="1100" b="1">
                <a:solidFill>
                  <a:srgbClr val="1A1A1C"/>
                </a:solidFill>
                <a:latin typeface="Arial"/>
              </a:rPr>
              <a:t>with and without aiDAPTIV+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000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KV cache offload verified — </a:t>
            </a:r>
            <a:r>
              <a:rPr sz="1100" b="1">
                <a:solidFill>
                  <a:srgbClr val="1A1A1C"/>
                </a:solidFill>
                <a:latin typeface="Arial"/>
              </a:rPr>
              <a:t>cache file on D: grew 16.5×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55000" y="2920000"/>
            <a:ext cx="430000" cy="3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05600" y="1480000"/>
            <a:ext cx="4934712" cy="340000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05600" y="1480000"/>
            <a:ext cx="4934712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5640" y="1708600"/>
            <a:ext cx="429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THIS WEEK  · 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5640" y="1930000"/>
            <a:ext cx="429463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From offload to 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5640" y="2480000"/>
            <a:ext cx="42946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Prove the offloaded cache can be </a:t>
            </a:r>
            <a:r>
              <a:rPr sz="1100" b="1">
                <a:solidFill>
                  <a:srgbClr val="1A1A1C"/>
                </a:solidFill>
                <a:latin typeface="Arial"/>
              </a:rPr>
              <a:t>read back after a restart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5640" y="3000000"/>
            <a:ext cx="42946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Benchmark it against the same prompt </a:t>
            </a:r>
            <a:r>
              <a:rPr sz="1100" b="1">
                <a:solidFill>
                  <a:srgbClr val="1A1A1C"/>
                </a:solidFill>
                <a:latin typeface="Arial"/>
              </a:rPr>
              <a:t>without aiDAPTIV+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5640" y="3520000"/>
            <a:ext cx="42946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Plan the </a:t>
            </a:r>
            <a:r>
              <a:rPr sz="1100" b="1">
                <a:solidFill>
                  <a:srgbClr val="1A1A1C"/>
                </a:solidFill>
                <a:latin typeface="Arial"/>
              </a:rPr>
              <a:t>Onyx integration that makes reuse work from the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25640" y="4180000"/>
            <a:ext cx="4294632" cy="5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Result:  </a:t>
            </a:r>
            <a:r>
              <a:rPr sz="1100" b="1">
                <a:solidFill>
                  <a:srgbClr val="1A1A1C"/>
                </a:solidFill>
                <a:latin typeface="Arial"/>
              </a:rPr>
              <a:t>10,272 of 10,274 tokens restored after a restart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0000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In short: </a:t>
            </a:r>
            <a:r>
              <a:rPr sz="1300" b="0">
                <a:solidFill>
                  <a:srgbClr val="5F6168"/>
                </a:solidFill>
                <a:latin typeface="Arial"/>
              </a:rPr>
              <a:t>last week we showed the KV cache is written to the AI SSD. This week we show it is read back — and what that saves.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7568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This week at a glance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480000"/>
            <a:ext cx="6035040" cy="340000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480000"/>
            <a:ext cx="6035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086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WHAT WE DID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196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98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Went through the aiDAPTIV+ middleware </a:t>
            </a:r>
            <a:r>
              <a:rPr sz="1200" b="1">
                <a:solidFill>
                  <a:srgbClr val="1A1A1C"/>
                </a:solidFill>
                <a:latin typeface="Arial"/>
              </a:rPr>
              <a:t>API stack documentation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52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4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Prefilled a ~10K-token prompt with </a:t>
            </a:r>
            <a:r>
              <a:rPr sz="1200" b="1">
                <a:solidFill>
                  <a:srgbClr val="1A1A1C"/>
                </a:solidFill>
                <a:latin typeface="Arial"/>
              </a:rPr>
              <a:t>POST 127.0.0.1:8080/completions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08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0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Restarted llama-server so nothing survived in </a:t>
            </a:r>
            <a:r>
              <a:rPr sz="1200" b="1">
                <a:solidFill>
                  <a:srgbClr val="1A1A1C"/>
                </a:solidFill>
                <a:latin typeface="Arial"/>
              </a:rPr>
              <a:t>GPU VRAM or DRAM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64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6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Replayed the same prompt — </a:t>
            </a:r>
            <a:r>
              <a:rPr sz="1200" b="1">
                <a:solidFill>
                  <a:srgbClr val="1A1A1C"/>
                </a:solidFill>
                <a:latin typeface="Arial"/>
              </a:rPr>
              <a:t>10,272 tokens came from the drive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20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2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Repeated the run </a:t>
            </a:r>
            <a:r>
              <a:rPr sz="1200" b="1">
                <a:solidFill>
                  <a:srgbClr val="1A1A1C"/>
                </a:solidFill>
                <a:latin typeface="Arial"/>
              </a:rPr>
              <a:t>without aiDAPTIV+ for a like-for-like comparison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1480000"/>
            <a:ext cx="2299716" cy="160856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79" y="1708600"/>
            <a:ext cx="19339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10,272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2257240"/>
            <a:ext cx="19339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tokens restored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from aiDAPTIV+ 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40595" y="1480000"/>
            <a:ext cx="2299716" cy="160856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23475" y="1708600"/>
            <a:ext cx="19339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3475" y="2257240"/>
            <a:ext cx="19339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tokens re-computed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out of 10,274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7999" y="3271440"/>
            <a:ext cx="2299716" cy="160856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79" y="3500040"/>
            <a:ext cx="19339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99×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4048680"/>
            <a:ext cx="19339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faster prefill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91.2 s → 0.92 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40595" y="3271440"/>
            <a:ext cx="2299716" cy="160856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23475" y="3500040"/>
            <a:ext cx="19339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9.4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3475" y="4048680"/>
            <a:ext cx="19339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VRAM saved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MoE experts on the AI SSD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24000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Next: 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integrate and verify KV cache reuse through Onyx </a:t>
            </a:r>
            <a:r>
              <a:rPr lang="en-US" sz="1300" b="0" dirty="0">
                <a:solidFill>
                  <a:srgbClr val="5F6168"/>
                </a:solidFill>
                <a:latin typeface="Arial"/>
              </a:rPr>
              <a:t>and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document upload comes with that integration.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5000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9CA3"/>
                </a:solidFill>
                <a:latin typeface="Arial"/>
              </a:rPr>
              <a:t>In this deck:  method  ·  log proof  ·  benchmark findings  ·  run detail  ·  log comparison  ·  performance  · 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THIS WEEK · KV CACHE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Verified KV cache reuse from the AI SSD across a restart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201168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Read the API stack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29000"/>
            <a:ext cx="20116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Went through the aiDAPTIV+ middleware API stack documentation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llama-server exposes its endpoints on 127.0.0.1:8080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496443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3960" y="3520440"/>
            <a:ext cx="198000" cy="0"/>
          </a:xfrm>
          <a:prstGeom prst="line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92424" y="160020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92424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66743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3" y="2606040"/>
            <a:ext cx="201168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Prefill via /completions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3" y="3429000"/>
            <a:ext cx="20116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POST /completions on 127.0.0.1:8080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Prompt of approx. 10K tokens sent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KV cache offloaded to D:\nvme0 (folder 'doc1')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66743" y="496443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7744" y="3520440"/>
            <a:ext cx="198000" cy="0"/>
          </a:xfrm>
          <a:prstGeom prst="line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36207" y="160020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36207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10526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6" y="2606040"/>
            <a:ext cx="201168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Restart the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6" y="3429000"/>
            <a:ext cx="20116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llama-server restarted so nothing survives in GPU VRAM or DRAM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Run with --kv-cache-resume-policy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6" y="496443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11527" y="3520440"/>
            <a:ext cx="198000" cy="0"/>
          </a:xfrm>
          <a:prstGeom prst="line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79992" y="160020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79992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54311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1" y="2606040"/>
            <a:ext cx="201168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Replay the same prompt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1" y="3429000"/>
            <a:ext cx="20116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Identical prompt re-sent to /completions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Log shows Hit token cnt (CACHE): 10272 — served from aiDAPTIV+ storage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54311" y="496443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550000"/>
            <a:ext cx="11091672" cy="7000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Result: </a:t>
            </a:r>
            <a:r>
              <a:rPr sz="1300" b="0">
                <a:solidFill>
                  <a:srgbClr val="5F6168"/>
                </a:solidFill>
                <a:latin typeface="Arial"/>
              </a:rPr>
              <a:t>a ~10K-token prompt posted to http://127.0.0.1:8080/completions survived a full server restart — 10,272 of the 10,274 tokens came back from aiDAPTIV+ storage, only 2 had to be re-computed.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THIS WEEK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Log evidence: where the prompt tokens came from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004832"/>
            <a:ext cx="822960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9A9CA3"/>
                </a:solidFill>
                <a:latin typeface="Arial"/>
              </a:rPr>
              <a:t>Run 2 — first request after the resta</a:t>
            </a:r>
            <a:r>
              <a:rPr lang="en-US" sz="950" b="0" dirty="0">
                <a:solidFill>
                  <a:srgbClr val="9A9CA3"/>
                </a:solidFill>
                <a:latin typeface="Arial"/>
              </a:rPr>
              <a:t>rt</a:t>
            </a:r>
            <a:endParaRPr sz="950" b="0" dirty="0">
              <a:solidFill>
                <a:srgbClr val="9A9CA3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970273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9CA3"/>
                </a:solidFill>
                <a:latin typeface="Arial"/>
              </a:rPr>
              <a:t>Run 3 — same prompt again, server left running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000" y="1509000"/>
            <a:ext cx="2679312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RUN 2 · AFTER RESTART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000" y="1965960"/>
            <a:ext cx="2679312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C"/>
                </a:solidFill>
                <a:latin typeface="Arial"/>
              </a:rPr>
              <a:t>Served from the drive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GPU and DRAM caches are empty after the restart, yet Hit token cnt (CACHE) = 10272: the prefix is read back from the aiDAPTIV namespace on D:.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5F6168"/>
                </a:solidFill>
                <a:latin typeface="Arial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Only 2 of 10,274 tokens went through prefill.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000" y="4270000"/>
            <a:ext cx="2679312" cy="27432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RUN 3 · SAME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000" y="4726960"/>
            <a:ext cx="2679312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C"/>
                </a:solidFill>
                <a:latin typeface="Arial"/>
              </a:rPr>
              <a:t>Served from VRAM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Without a restart the prompt is matched by LCP similarity (sim_best = 1.000) and answered from the GPU: Hit token cnt (GPU) = 10274.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0B92B8-3427-6C46-CC47-0D98B2048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76428"/>
            <a:ext cx="8229600" cy="24067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C34D8B-7592-3B95-DDAA-254743831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4215034"/>
            <a:ext cx="8229600" cy="16316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THIS WEEK ·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Findings from the aiDAPTIV+ server log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5090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4615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10,272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6736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tokens restored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from aiDAPTIV+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5090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164615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16736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tokens re-computed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out of 10,274 in the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5090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68112" y="164615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99.98%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216736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of the prompt reused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after a full server restart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549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29207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416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1328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cache lookup + restore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log 25.517 s → 25.933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1549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90672" y="329207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9.06 t/s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381328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generation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100 tokens in 11.04 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31549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68112" y="329207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89.27%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381328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MoE expert hit (GPU)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single-token · DRAM 0.00%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509000"/>
            <a:ext cx="3867912" cy="4541000"/>
          </a:xfrm>
          <a:prstGeom prst="roundRect">
            <a:avLst>
              <a:gd name="adj" fmla="val 4000"/>
            </a:avLst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t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9A9CA3"/>
                </a:solidFill>
                <a:latin typeface="Arial"/>
              </a:rPr>
              <a:t>KEY LOG LINES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9A11B"/>
                </a:solidFill>
                <a:latin typeface="Consolas"/>
              </a:rPr>
              <a:t>[MDW] Trying to resume KV cache...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9A11B"/>
                </a:solidFill>
                <a:latin typeface="Consolas"/>
              </a:rPr>
              <a:t>[MDW] KV cache resume completed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[MDW] Resume subfolder: doc1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Hit token cnt (GPU):       0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Hit token cnt (DRAM):      0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9A11B"/>
                </a:solidFill>
                <a:latin typeface="Consolas"/>
              </a:rPr>
              <a:t>Hit token cnt (CACHE): 10272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saved checkpoint to Cache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 Storage (n_tokens = 10272)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9A11B"/>
                </a:solidFill>
                <a:latin typeface="Consolas"/>
              </a:rPr>
              <a:t>prompt eval time = 917.98 ms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 / 2 tokens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eval time = 11041.72 ms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 / 100 tokens (9.06 t/s)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total time = 11959.70 ms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 / 102 tokens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graphs reused = 99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00000"/>
            <a:ext cx="6949440" cy="64008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Reading: 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prefill collapsed from ~10K tokens to 2 tokens, so time-to-first-token is set by a ~0.4 s cache restore instead of a full prefill.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70000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9CA3"/>
                </a:solidFill>
                <a:latin typeface="Arial"/>
              </a:rPr>
              <a:t>Source: C:\Windows\Temp\2026-09-15_17-55-49_llama_server.log  ·  task 0, slot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THIS WEEK · RUN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Run configuration and MoE expert offload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9617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9CA3"/>
                </a:solidFill>
                <a:latin typeface="Arial"/>
              </a:rPr>
              <a:t>Same run — the middleware reports the expert offload it applied at model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09000"/>
            <a:ext cx="3867912" cy="137160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1646159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9.398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167368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VRAM saved (est.)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reported by the middleware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017760"/>
            <a:ext cx="3867912" cy="137160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3154919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3676128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layers offloaded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layers 0–29 · 32 VRAM experts/layer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526520"/>
            <a:ext cx="3867912" cy="137160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4663679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14.1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5184888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cold start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launch to “model loaded”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16214"/>
            <a:ext cx="6949440" cy="1883786"/>
          </a:xfrm>
          <a:prstGeom prst="roundRect">
            <a:avLst>
              <a:gd name="adj" fmla="val 4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24481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9A9CA3"/>
                </a:solidFill>
                <a:latin typeface="Arial"/>
              </a:rPr>
              <a:t>RUN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64854"/>
            <a:ext cx="6400800" cy="7540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5F6168"/>
                </a:solidFill>
                <a:latin typeface="Arial"/>
              </a:rPr>
              <a:t>• </a:t>
            </a:r>
            <a:r>
              <a:rPr sz="1100" b="1" dirty="0">
                <a:solidFill>
                  <a:srgbClr val="1A1A1C"/>
                </a:solidFill>
                <a:latin typeface="Arial"/>
              </a:rPr>
              <a:t>gemma-4-26B-A4B-it-UD-Q4_K_M.gguf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 ·  aiDAPTIV+ build NXWVB306.1 (b9568)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5F6168"/>
                </a:solidFill>
                <a:latin typeface="Arial"/>
              </a:rPr>
              <a:t>• --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ctx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-size 16000  ·  -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ngl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100  ·  --flash-attn auto  ·  --no-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mmap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 ·  --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vram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-experts-cached-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gb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4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5F6168"/>
                </a:solidFill>
                <a:latin typeface="Arial"/>
              </a:rPr>
              <a:t>• --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kv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-cache-resume-policy 1  ·  --offload-path D:/nvme0  ·  resume subfolder 'doc1'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5F6168"/>
                </a:solidFill>
                <a:latin typeface="Arial"/>
              </a:rPr>
              <a:t>• Intel Core Ultra 7 356H  ·  Vulkan0 Intel Graphics 18,268 MiB  ·  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n_parallel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80000"/>
            <a:ext cx="11091672" cy="32004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Together: </a:t>
            </a:r>
            <a:r>
              <a:rPr sz="1300" b="0">
                <a:solidFill>
                  <a:srgbClr val="5F6168"/>
                </a:solidFill>
                <a:latin typeface="Arial"/>
              </a:rPr>
              <a:t>the AI SSD holds both the offloaded experts and the KV cache — 9.4 GB of VRAM saved on this run.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7B25CC3-6683-2483-8529-B60EC088E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353488"/>
            <a:ext cx="6949440" cy="21910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THIS WEEK ·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440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Measured difference, side by side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44287"/>
              </p:ext>
            </p:extLst>
          </p:nvPr>
        </p:nvGraphicFramePr>
        <p:xfrm>
          <a:off x="545897" y="1973400"/>
          <a:ext cx="11091672" cy="251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4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137160" marR="137160" marT="36576" marB="36576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Without aiDAPTIV+</a:t>
                      </a:r>
                    </a:p>
                  </a:txBody>
                  <a:tcPr marL="137160" marR="137160" marT="36576" marB="36576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 aiDAPTIV+</a:t>
                      </a:r>
                    </a:p>
                  </a:txBody>
                  <a:tcPr marL="137160" marR="137160" marT="36576" marB="36576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Difference</a:t>
                      </a:r>
                    </a:p>
                  </a:txBody>
                  <a:tcPr marL="137160" marR="137160" marT="36576" marB="36576" anchor="ctr">
                    <a:solidFill>
                      <a:srgbClr val="1A1A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Prompt tokens in the request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5F6168"/>
                          </a:solidFill>
                          <a:latin typeface="Arial"/>
                        </a:rPr>
                        <a:t>10,793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10,274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similar ~10K prompt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Cache hit  (GPU / DRAM / CACHE)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0 / 0 / 0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0 / 0 / 10,272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prefix served from drive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Prompt tokens re-computed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5F6168"/>
                          </a:solidFill>
                          <a:latin typeface="Arial"/>
                        </a:rPr>
                        <a:t>10,793  (all)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− 99.98 %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1A1A1C"/>
                          </a:solidFill>
                          <a:latin typeface="Arial"/>
                        </a:rPr>
                        <a:t>Prompt eval (prefill) time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rgbClr val="5F6168"/>
                          </a:solidFill>
                          <a:latin typeface="Arial"/>
                        </a:rPr>
                        <a:t> 105381 </a:t>
                      </a:r>
                      <a:r>
                        <a:rPr sz="1200" b="0" dirty="0" err="1">
                          <a:solidFill>
                            <a:srgbClr val="5F6168"/>
                          </a:solidFill>
                          <a:latin typeface="Arial"/>
                        </a:rPr>
                        <a:t>ms</a:t>
                      </a:r>
                      <a:endParaRPr sz="1200" b="0" dirty="0">
                        <a:solidFill>
                          <a:srgbClr val="5F6168"/>
                        </a:solidFill>
                        <a:latin typeface="Arial"/>
                      </a:endParaRP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917.98 ms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D9501A"/>
                          </a:solidFill>
                          <a:latin typeface="Arial"/>
                        </a:rPr>
                        <a:t>114</a:t>
                      </a:r>
                      <a:r>
                        <a:rPr sz="1200" b="1" dirty="0">
                          <a:solidFill>
                            <a:srgbClr val="D9501A"/>
                          </a:solidFill>
                          <a:latin typeface="Arial"/>
                        </a:rPr>
                        <a:t>× faster · </a:t>
                      </a:r>
                      <a:r>
                        <a:rPr lang="en-US" sz="1200" b="1" dirty="0">
                          <a:solidFill>
                            <a:srgbClr val="D9501A"/>
                          </a:solidFill>
                          <a:latin typeface="Arial"/>
                        </a:rPr>
                        <a:t>104</a:t>
                      </a:r>
                      <a:r>
                        <a:rPr sz="1200" b="1" dirty="0">
                          <a:solidFill>
                            <a:srgbClr val="D9501A"/>
                          </a:solidFill>
                          <a:latin typeface="Arial"/>
                        </a:rPr>
                        <a:t>s saved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Generation throughput *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rgbClr val="5F6168"/>
                          </a:solidFill>
                          <a:latin typeface="Arial"/>
                        </a:rPr>
                        <a:t>7.63</a:t>
                      </a:r>
                      <a:r>
                        <a:rPr sz="1200" b="0" dirty="0">
                          <a:solidFill>
                            <a:srgbClr val="5F6168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5F6168"/>
                          </a:solidFill>
                          <a:latin typeface="Arial"/>
                        </a:rPr>
                        <a:t>tok</a:t>
                      </a:r>
                      <a:r>
                        <a:rPr sz="1200" b="0" dirty="0">
                          <a:solidFill>
                            <a:srgbClr val="5F6168"/>
                          </a:solidFill>
                          <a:latin typeface="Arial"/>
                        </a:rPr>
                        <a:t>/s  (6</a:t>
                      </a:r>
                      <a:r>
                        <a:rPr lang="en-US" sz="1200" b="0" dirty="0">
                          <a:solidFill>
                            <a:srgbClr val="5F6168"/>
                          </a:solidFill>
                          <a:latin typeface="Arial"/>
                        </a:rPr>
                        <a:t>83</a:t>
                      </a:r>
                      <a:r>
                        <a:rPr sz="1200" b="0" dirty="0">
                          <a:solidFill>
                            <a:srgbClr val="5F6168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5F6168"/>
                          </a:solidFill>
                          <a:latin typeface="Arial"/>
                        </a:rPr>
                        <a:t>tok</a:t>
                      </a:r>
                      <a:r>
                        <a:rPr sz="1200" b="0" dirty="0">
                          <a:solidFill>
                            <a:srgbClr val="5F6168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9.06 tok/s  (100 tok)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D9501A"/>
                          </a:solidFill>
                          <a:latin typeface="Arial"/>
                        </a:rPr>
                        <a:t>not like-for-like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0591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NEXT · ONYX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22376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dirty="0">
                <a:solidFill>
                  <a:srgbClr val="1A1A1C"/>
                </a:solidFill>
                <a:latin typeface="Arial"/>
              </a:rPr>
              <a:t>Making KV cache reuse work inside Onyx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71344" cy="393192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3571344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302270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What we assume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29000"/>
            <a:ext cx="302270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Reuse is proven at the API level, but not yet through Onyx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The middleware only reuses a cache entry when the leading tokens match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We assume Onyx's code has to be modified before that prefix stays stable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505587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ASSUMPTION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984" y="1600200"/>
            <a:ext cx="3571344" cy="393192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7984" y="1600200"/>
            <a:ext cx="3571344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82303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303" y="2606040"/>
            <a:ext cx="302270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303" y="3429000"/>
            <a:ext cx="302270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Take the OpenWebUI integration code as the base — its request path already works against the aiDAPTIV+ endpoint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Integrate that handling into Onyx's LLM provider layer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Keep system prompt and document context byte-identical across turns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2303" y="505587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PLANNED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7328" y="1600200"/>
            <a:ext cx="3571344" cy="393192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7328" y="1600200"/>
            <a:ext cx="3571344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41647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1647" y="2606040"/>
            <a:ext cx="302270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How we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1647" y="3429000"/>
            <a:ext cx="302270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Repeat this week's test through Onyx: prefill → restart → replay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Expect Hit token cnt (CACHE) &gt; 0 in the server log, not a 91 s prefill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Document upload lands with this work — an uploaded file becomes the reusable prefix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41647" y="505587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PLANNED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Next: </a:t>
            </a:r>
            <a:r>
              <a:rPr sz="1300" b="0">
                <a:solidFill>
                  <a:srgbClr val="5F6168"/>
                </a:solidFill>
                <a:latin typeface="Arial"/>
              </a:rPr>
              <a:t>integrate and verify KV cache reuse through Onyx. Document upload comes with that integration, then the same path is rolled out to the other apps.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1420</Words>
  <Application>Microsoft Office PowerPoint</Application>
  <PresentationFormat>Widescreen</PresentationFormat>
  <Paragraphs>219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Ganapathy K H</cp:lastModifiedBy>
  <cp:revision>13</cp:revision>
  <dcterms:created xsi:type="dcterms:W3CDTF">2013-01-27T09:14:16Z</dcterms:created>
  <dcterms:modified xsi:type="dcterms:W3CDTF">2026-09-16T10:58:20Z</dcterms:modified>
  <cp:category/>
</cp:coreProperties>
</file>