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9" r:id="rId3"/>
    <p:sldId id="278" r:id="rId4"/>
    <p:sldId id="286" r:id="rId5"/>
    <p:sldId id="271" r:id="rId6"/>
    <p:sldId id="272" r:id="rId7"/>
    <p:sldId id="273" r:id="rId8"/>
    <p:sldId id="274" r:id="rId9"/>
    <p:sldId id="281" r:id="rId10"/>
    <p:sldId id="277" r:id="rId11"/>
    <p:sldId id="287" r:id="rId12"/>
    <p:sldId id="282" r:id="rId13"/>
    <p:sldId id="283" r:id="rId14"/>
    <p:sldId id="284" r:id="rId15"/>
    <p:sldId id="28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75B4AF-520D-662E-68E4-85E3BD34420A}" v="1" dt="2026-09-18T04:13:27.063"/>
    <p1510:client id="{82B1F4FA-C7D3-4EE2-A42D-5AF6632D4DF0}" v="32" dt="2026-09-17T15:58:56.550"/>
    <p1510:client id="{9D998A1B-CEF6-94CB-A4EB-334BEB25F24E}" v="194" dt="2026-09-18T04:24:02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phi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2235496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48840"/>
            <a:ext cx="7132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9A11B"/>
                </a:solidFill>
                <a:latin typeface="Arial"/>
              </a:rPr>
              <a:t>WEEKLY UPDATE  ·  18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132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KV Cache Reuse on aiDAPTIV+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51960"/>
            <a:ext cx="67665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C9CAD0"/>
                </a:solidFill>
                <a:latin typeface="Arial"/>
              </a:rPr>
              <a:t>KV cache reuse verified on the middleware API, then wired into Onyx </a:t>
            </a:r>
            <a:r>
              <a:rPr lang="en-US" dirty="0">
                <a:solidFill>
                  <a:srgbClr val="C9CAD0"/>
                </a:solidFill>
                <a:latin typeface="Arial"/>
              </a:rPr>
              <a:t>-</a:t>
            </a:r>
            <a:r>
              <a:rPr sz="1800" b="0" dirty="0">
                <a:solidFill>
                  <a:srgbClr val="C9CAD0"/>
                </a:solidFill>
                <a:latin typeface="Arial"/>
              </a:rPr>
              <a:t> an uploaded document now comes back from the AI SSD instead of being re-computed.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CA3"/>
                </a:solidFill>
                <a:latin typeface="Arial"/>
              </a:rPr>
              <a:t>Model under test: gemma-4-26B-A4B-it-UD-Q4_K_M.gguf   ·   aiDAPTIV+ build NXWVB306.1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554480"/>
            <a:ext cx="3474720" cy="448056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12700">
            <a:solidFill>
              <a:srgbClr val="3A3A4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1783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A9CA3"/>
                </a:solidFill>
                <a:latin typeface="Arial"/>
              </a:rPr>
              <a:t>14 — 18 SEPTEMBER</a:t>
            </a:r>
          </a:p>
        </p:txBody>
      </p:sp>
      <p:sp>
        <p:nvSpPr>
          <p:cNvPr id="9" name="Oval 8"/>
          <p:cNvSpPr/>
          <p:nvPr/>
        </p:nvSpPr>
        <p:spPr>
          <a:xfrm>
            <a:off x="8503920" y="2194560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23113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Reuse verified after restart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2798064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834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Benchmarked vs. no aiDAPTIV+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3401568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343814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Onyx cache_prompt wired in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4005072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40416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Document upload verified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4608576"/>
            <a:ext cx="329184" cy="3291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645152"/>
            <a:ext cx="2560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F9A11B"/>
                </a:solidFill>
                <a:latin typeface="Arial"/>
              </a:rPr>
              <a:t>RAG retrieval </a:t>
            </a:r>
            <a:r>
              <a:rPr lang="en-US" sz="1300" b="1" dirty="0" err="1">
                <a:solidFill>
                  <a:srgbClr val="F9A11B"/>
                </a:solidFill>
                <a:latin typeface="Arial"/>
              </a:rPr>
              <a:t>benchamarking</a:t>
            </a:r>
            <a:endParaRPr sz="1300" b="1" dirty="0">
              <a:solidFill>
                <a:srgbClr val="F9A11B"/>
              </a:solidFill>
              <a:latin typeface="Arial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503920" y="5212080"/>
            <a:ext cx="329184" cy="3291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24865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9A11B"/>
                </a:solidFill>
                <a:latin typeface="Arial"/>
              </a:rPr>
              <a:t>LibreChat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32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RECAP · BEFORE 14 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4764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dirty="0">
                <a:solidFill>
                  <a:srgbClr val="1A1A1C"/>
                </a:solidFill>
                <a:latin typeface="Arial"/>
              </a:rPr>
              <a:t>Where we were, and what this week adds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480000"/>
            <a:ext cx="5486400" cy="340000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480000"/>
            <a:ext cx="5486400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086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E8E3E"/>
                </a:solidFill>
                <a:latin typeface="Arial"/>
              </a:rPr>
              <a:t>LAST WEEK  · 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500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A1C"/>
                </a:solidFill>
                <a:latin typeface="Arial"/>
              </a:rPr>
              <a:t>Four apps integrated on the aiDAPTIV+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420000"/>
            <a:ext cx="2331720" cy="4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8E3E"/>
                </a:solidFill>
                <a:latin typeface="Arial"/>
              </a:rPr>
              <a:t>✓   </a:t>
            </a:r>
            <a:r>
              <a:rPr sz="1150" b="1">
                <a:solidFill>
                  <a:srgbClr val="1A1A1C"/>
                </a:solidFill>
                <a:latin typeface="Arial"/>
              </a:rPr>
              <a:t>OpenWebUI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420000"/>
            <a:ext cx="2331720" cy="4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8E3E"/>
                </a:solidFill>
                <a:latin typeface="Arial"/>
              </a:rPr>
              <a:t>✓   </a:t>
            </a:r>
            <a:r>
              <a:rPr sz="1150" b="1">
                <a:solidFill>
                  <a:srgbClr val="1A1A1C"/>
                </a:solidFill>
                <a:latin typeface="Arial"/>
              </a:rPr>
              <a:t>Obsidian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880000"/>
            <a:ext cx="2331720" cy="4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8E3E"/>
                </a:solidFill>
                <a:latin typeface="Arial"/>
              </a:rPr>
              <a:t>✓   </a:t>
            </a:r>
            <a:r>
              <a:rPr sz="1150" b="1">
                <a:solidFill>
                  <a:srgbClr val="1A1A1C"/>
                </a:solidFill>
                <a:latin typeface="Arial"/>
              </a:rPr>
              <a:t>Onyx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880000"/>
            <a:ext cx="2331720" cy="40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8E3E"/>
                </a:solidFill>
                <a:latin typeface="Arial"/>
              </a:rPr>
              <a:t>✓   </a:t>
            </a:r>
            <a:r>
              <a:rPr sz="1150" b="1">
                <a:solidFill>
                  <a:srgbClr val="1A1A1C"/>
                </a:solidFill>
                <a:latin typeface="Arial"/>
              </a:rPr>
              <a:t>LibreChat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380000"/>
            <a:ext cx="4846320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48000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Middleware installed — </a:t>
            </a:r>
            <a:r>
              <a:rPr sz="1100" b="1">
                <a:solidFill>
                  <a:srgbClr val="1A1A1C"/>
                </a:solidFill>
                <a:latin typeface="Arial"/>
              </a:rPr>
              <a:t>build NXWVB306.1, checks passing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2000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Each app tested </a:t>
            </a:r>
            <a:r>
              <a:rPr sz="1100" b="1">
                <a:solidFill>
                  <a:srgbClr val="1A1A1C"/>
                </a:solidFill>
                <a:latin typeface="Arial"/>
              </a:rPr>
              <a:t>with and without aiDAPTIV+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6000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KV cache offload verified — </a:t>
            </a:r>
            <a:r>
              <a:rPr sz="1100" b="1">
                <a:solidFill>
                  <a:srgbClr val="1A1A1C"/>
                </a:solidFill>
                <a:latin typeface="Arial"/>
              </a:rPr>
              <a:t>cache file on D: grew 16.5×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55000" y="2920000"/>
            <a:ext cx="430000" cy="3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05600" y="1480000"/>
            <a:ext cx="4934712" cy="340000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05600" y="1480000"/>
            <a:ext cx="4934712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25640" y="1708600"/>
            <a:ext cx="429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14–16 SEP  · 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5640" y="1930000"/>
            <a:ext cx="4294632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From offload to 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5640" y="2480000"/>
            <a:ext cx="42946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Prove the offloaded cache can be </a:t>
            </a:r>
            <a:r>
              <a:rPr sz="1100" b="1">
                <a:solidFill>
                  <a:srgbClr val="1A1A1C"/>
                </a:solidFill>
                <a:latin typeface="Arial"/>
              </a:rPr>
              <a:t>read back after a restart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5640" y="3000000"/>
            <a:ext cx="42946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Benchmark it against the same prompt </a:t>
            </a:r>
            <a:r>
              <a:rPr sz="1100" b="1">
                <a:solidFill>
                  <a:srgbClr val="1A1A1C"/>
                </a:solidFill>
                <a:latin typeface="Arial"/>
              </a:rPr>
              <a:t>without aiDAPTIV+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5640" y="3520000"/>
            <a:ext cx="42946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Plan the </a:t>
            </a:r>
            <a:r>
              <a:rPr sz="1100" b="1">
                <a:solidFill>
                  <a:srgbClr val="1A1A1C"/>
                </a:solidFill>
                <a:latin typeface="Arial"/>
              </a:rPr>
              <a:t>Onyx integration that makes reuse work from the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25640" y="4180000"/>
            <a:ext cx="4294632" cy="52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Result:  </a:t>
            </a:r>
            <a:r>
              <a:rPr sz="1100" b="1">
                <a:solidFill>
                  <a:srgbClr val="1A1A1C"/>
                </a:solidFill>
                <a:latin typeface="Arial"/>
              </a:rPr>
              <a:t>10,272 of 10,274 tokens restored after a restart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00000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D9501A"/>
                </a:solidFill>
                <a:latin typeface="Arial"/>
              </a:rPr>
              <a:t>In short: 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last week we showed the KV cache is written to the AI SSD. This week we show it is read back and what that saves.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7568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5874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dirty="0">
                <a:solidFill>
                  <a:srgbClr val="1A1A1C"/>
                </a:solidFill>
                <a:latin typeface="Arial"/>
              </a:rPr>
              <a:t>The week at a glance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480000"/>
            <a:ext cx="6035040" cy="340000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480000"/>
            <a:ext cx="6035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086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WHAT WE DID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1960000"/>
            <a:ext cx="320040" cy="32004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9828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Went through the aiDAPTIV+ middleware </a:t>
            </a:r>
            <a:r>
              <a:rPr sz="1200" b="1">
                <a:solidFill>
                  <a:srgbClr val="1A1A1C"/>
                </a:solidFill>
                <a:latin typeface="Arial"/>
              </a:rPr>
              <a:t>API stack documentation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520000"/>
            <a:ext cx="320040" cy="32004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428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Prefilled a ~10K-token prompt with </a:t>
            </a:r>
            <a:r>
              <a:rPr sz="1200" b="1">
                <a:solidFill>
                  <a:srgbClr val="1A1A1C"/>
                </a:solidFill>
                <a:latin typeface="Arial"/>
              </a:rPr>
              <a:t>POST 127.0.0.1:8080/completions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080000"/>
            <a:ext cx="320040" cy="32004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028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Restarted llama-server so nothing survived in </a:t>
            </a:r>
            <a:r>
              <a:rPr sz="1200" b="1">
                <a:solidFill>
                  <a:srgbClr val="1A1A1C"/>
                </a:solidFill>
                <a:latin typeface="Arial"/>
              </a:rPr>
              <a:t>GPU VRAM or DRAM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640000"/>
            <a:ext cx="320040" cy="32004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6628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Replayed the same prompt — </a:t>
            </a:r>
            <a:r>
              <a:rPr sz="1200" b="1">
                <a:solidFill>
                  <a:srgbClr val="1A1A1C"/>
                </a:solidFill>
                <a:latin typeface="Arial"/>
              </a:rPr>
              <a:t>10,272 tokens came from the drive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200000"/>
            <a:ext cx="320040" cy="32004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2228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Repeated the run </a:t>
            </a:r>
            <a:r>
              <a:rPr sz="1200" b="1">
                <a:solidFill>
                  <a:srgbClr val="1A1A1C"/>
                </a:solidFill>
                <a:latin typeface="Arial"/>
              </a:rPr>
              <a:t>without aiDAPTIV+ for a like-for-like comparison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7999" y="1480000"/>
            <a:ext cx="2299716" cy="160856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79" y="1708600"/>
            <a:ext cx="19339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10,272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2257240"/>
            <a:ext cx="19339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tokens restored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from aiDAPTIV+ storage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40595" y="1480000"/>
            <a:ext cx="2299716" cy="160856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23475" y="1708600"/>
            <a:ext cx="19339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3475" y="2257240"/>
            <a:ext cx="19339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tokens re-computed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out of 10,274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7999" y="3271440"/>
            <a:ext cx="2299716" cy="160856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79" y="3500040"/>
            <a:ext cx="19339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99×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4048680"/>
            <a:ext cx="19339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faster prefill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91.2 s → 0.92 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40595" y="3271440"/>
            <a:ext cx="2299716" cy="160856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23475" y="3500040"/>
            <a:ext cx="19339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9.4 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3475" y="4048680"/>
            <a:ext cx="19339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VRAM saved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MoE experts on the AI SSD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240000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D9501A"/>
                </a:solidFill>
                <a:latin typeface="Arial"/>
              </a:rPr>
              <a:t>Then 17–18 Sep: </a:t>
            </a:r>
            <a:r>
              <a:rPr sz="1300" b="0" dirty="0" err="1">
                <a:solidFill>
                  <a:srgbClr val="5F6168"/>
                </a:solidFill>
                <a:latin typeface="Arial"/>
              </a:rPr>
              <a:t>cache_prompt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 wired into Onyx </a:t>
            </a:r>
            <a:r>
              <a:rPr lang="en-US" sz="1300" b="0" dirty="0">
                <a:solidFill>
                  <a:srgbClr val="5F6168"/>
                </a:solidFill>
                <a:latin typeface="Arial"/>
              </a:rPr>
              <a:t>-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 an uploaded document comes back from the drive as 10,968 cached tokens.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50000"/>
            <a:ext cx="1109167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9A9CA3"/>
                </a:solidFill>
                <a:latin typeface="Arial"/>
              </a:rPr>
              <a:t>In this deck:  14–16 Sep </a:t>
            </a:r>
            <a:r>
              <a:rPr lang="en-US" sz="950" b="0" dirty="0">
                <a:solidFill>
                  <a:srgbClr val="9A9CA3"/>
                </a:solidFill>
                <a:latin typeface="Arial"/>
              </a:rPr>
              <a:t>-</a:t>
            </a:r>
            <a:r>
              <a:rPr sz="950" b="0" dirty="0">
                <a:solidFill>
                  <a:srgbClr val="9A9CA3"/>
                </a:solidFill>
                <a:latin typeface="Arial"/>
              </a:rPr>
              <a:t> reuse verified and benchmarked  ·  17–18 Sep </a:t>
            </a:r>
            <a:r>
              <a:rPr lang="en-US" sz="950" dirty="0">
                <a:solidFill>
                  <a:srgbClr val="9A9CA3"/>
                </a:solidFill>
                <a:latin typeface="Arial"/>
              </a:rPr>
              <a:t>- </a:t>
            </a:r>
            <a:r>
              <a:rPr sz="950" b="0" dirty="0">
                <a:solidFill>
                  <a:srgbClr val="9A9CA3"/>
                </a:solidFill>
                <a:latin typeface="Arial"/>
              </a:rPr>
              <a:t>Onyx integration, document upload, tokens saved  ·  upcoming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242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dirty="0">
                <a:solidFill>
                  <a:srgbClr val="1A1A1C"/>
                </a:solidFill>
                <a:latin typeface="Arial"/>
              </a:rPr>
              <a:t>Middleware API: proving the cache can be reused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560000"/>
            <a:ext cx="11091672" cy="3000000"/>
          </a:xfrm>
          <a:prstGeom prst="roundRect">
            <a:avLst>
              <a:gd name="adj" fmla="val 3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560000"/>
            <a:ext cx="11091672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460000"/>
            <a:ext cx="3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26522"/>
                </a:solidFill>
                <a:latin typeface="Arial"/>
              </a:rPr>
              <a:t>14 – 16 SEP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90000"/>
            <a:ext cx="380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C"/>
                </a:solidFill>
                <a:latin typeface="Arial"/>
              </a:rPr>
              <a:t>KV cache reuse on the middleware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0000" y="1960000"/>
            <a:ext cx="9144" cy="2200000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0000" y="2080000"/>
            <a:ext cx="590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9A9CA3"/>
                </a:solidFill>
                <a:latin typeface="Arial"/>
              </a:rPr>
              <a:t>•  </a:t>
            </a:r>
            <a:r>
              <a:rPr sz="1150" b="0">
                <a:solidFill>
                  <a:srgbClr val="5F6168"/>
                </a:solidFill>
                <a:latin typeface="Arial"/>
              </a:rPr>
              <a:t>Read the API stack docs and prefilled ~10K tokens through </a:t>
            </a:r>
            <a:r>
              <a:rPr sz="1150" b="1">
                <a:solidFill>
                  <a:srgbClr val="1A1A1C"/>
                </a:solidFill>
                <a:latin typeface="Arial"/>
              </a:rPr>
              <a:t>POST /completions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0000" y="2700000"/>
            <a:ext cx="590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9A9CA3"/>
                </a:solidFill>
                <a:latin typeface="Arial"/>
              </a:rPr>
              <a:t>•  </a:t>
            </a:r>
            <a:r>
              <a:rPr sz="1150" b="0">
                <a:solidFill>
                  <a:srgbClr val="5F6168"/>
                </a:solidFill>
                <a:latin typeface="Arial"/>
              </a:rPr>
              <a:t>Restarted the server, replayed the prompt — </a:t>
            </a:r>
            <a:r>
              <a:rPr sz="1150" b="1">
                <a:solidFill>
                  <a:srgbClr val="1A1A1C"/>
                </a:solidFill>
                <a:latin typeface="Arial"/>
              </a:rPr>
              <a:t>10,272 of 10,274 tokens came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0000" y="3320000"/>
            <a:ext cx="590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9A9CA3"/>
                </a:solidFill>
                <a:latin typeface="Arial"/>
              </a:rPr>
              <a:t>•  </a:t>
            </a:r>
            <a:r>
              <a:rPr sz="1150" b="0">
                <a:solidFill>
                  <a:srgbClr val="5F6168"/>
                </a:solidFill>
                <a:latin typeface="Arial"/>
              </a:rPr>
              <a:t>Benchmarked the same prompt </a:t>
            </a:r>
            <a:r>
              <a:rPr sz="1150" b="1">
                <a:solidFill>
                  <a:srgbClr val="1A1A1C"/>
                </a:solidFill>
                <a:latin typeface="Arial"/>
              </a:rPr>
              <a:t>without aiDAPTIV+ for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0000" y="3940000"/>
            <a:ext cx="590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9A9CA3"/>
                </a:solidFill>
                <a:latin typeface="Arial"/>
              </a:rPr>
              <a:t>•  </a:t>
            </a:r>
            <a:r>
              <a:rPr sz="1150" b="0">
                <a:solidFill>
                  <a:srgbClr val="5F6168"/>
                </a:solidFill>
                <a:latin typeface="Arial"/>
              </a:rPr>
              <a:t>Planned the </a:t>
            </a:r>
            <a:r>
              <a:rPr sz="1150" b="1">
                <a:solidFill>
                  <a:srgbClr val="1A1A1C"/>
                </a:solidFill>
                <a:latin typeface="Arial"/>
              </a:rPr>
              <a:t>Onyx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30000"/>
            <a:ext cx="11091672" cy="54864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D9501A"/>
                </a:solidFill>
                <a:latin typeface="Arial"/>
              </a:rPr>
              <a:t>Outcome: 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KV cache reuse works at the API level </a:t>
            </a:r>
            <a:r>
              <a:rPr lang="en-US" sz="1300" b="0" dirty="0">
                <a:solidFill>
                  <a:srgbClr val="5F6168"/>
                </a:solidFill>
                <a:latin typeface="Arial"/>
              </a:rPr>
              <a:t>-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 114× faster prefill on a ~10K-token prompt after a full server restart.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14–16 SEP · KV CACHE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3524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dirty="0">
                <a:solidFill>
                  <a:srgbClr val="1A1A1C"/>
                </a:solidFill>
                <a:latin typeface="Arial"/>
              </a:rPr>
              <a:t>Verified KV cache reuse from the AI SSD across a restart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06040"/>
            <a:ext cx="201168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Read the API stack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29000"/>
            <a:ext cx="20116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Went through the aiDAPTIV+ middleware API stack documentation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llama-server exposes its endpoints on 127.0.0.1:8080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496443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3960" y="3520440"/>
            <a:ext cx="198000" cy="0"/>
          </a:xfrm>
          <a:prstGeom prst="line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92424" y="160020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92424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66743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3" y="2606040"/>
            <a:ext cx="201168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Prefill via /completions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3" y="3429000"/>
            <a:ext cx="20116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POST /completions on 127.0.0.1:8080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Prompt of approx. 10K tokens sent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KV cache offloaded to D:\nvme0 (folder 'doc1')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66743" y="496443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7744" y="3520440"/>
            <a:ext cx="198000" cy="0"/>
          </a:xfrm>
          <a:prstGeom prst="line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36207" y="160020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36207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10526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6" y="2606040"/>
            <a:ext cx="201168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Restart the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6" y="3429000"/>
            <a:ext cx="20116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llama-server restarted so nothing survives in GPU VRAM or DRAM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Run with --kv-cache-resume-policy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6" y="496443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11527" y="3520440"/>
            <a:ext cx="198000" cy="0"/>
          </a:xfrm>
          <a:prstGeom prst="line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79992" y="1600200"/>
            <a:ext cx="2560320" cy="384048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79992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54311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1" y="2606040"/>
            <a:ext cx="201168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Replay the same prompt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1" y="3429000"/>
            <a:ext cx="201168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Identical prompt re-sent to /completions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Log shows Hit token cnt (CACHE): 10272 — served from aiDAPTIV+ storage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54311" y="496443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550000"/>
            <a:ext cx="11091672" cy="7000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D9501A"/>
                </a:solidFill>
                <a:latin typeface="Arial"/>
              </a:rPr>
              <a:t>Result: 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a ~10K-token prompt posted to http://127.0.0.1:8080/completions survived a full server restart </a:t>
            </a:r>
            <a:r>
              <a:rPr lang="en-US" sz="1300" b="0" dirty="0">
                <a:solidFill>
                  <a:srgbClr val="5F6168"/>
                </a:solidFill>
                <a:latin typeface="Arial"/>
              </a:rPr>
              <a:t>-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 10,272 of the 10,274 tokens came back from aiDAPTIV+ storage, only 2 had to be re-computed.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14–16 SEP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Log evidence: where the prompt tokens came from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004832"/>
            <a:ext cx="822960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9CA3"/>
                </a:solidFill>
                <a:latin typeface="Arial"/>
              </a:rPr>
              <a:t>Run 2 — first request after the resta</a:t>
            </a:r>
            <a:r>
              <a:rPr lang="en-US" sz="950" b="0">
                <a:solidFill>
                  <a:srgbClr val="9A9CA3"/>
                </a:solidFill>
                <a:latin typeface="Arial"/>
              </a:rPr>
              <a:t>rt</a:t>
            </a:r>
            <a:endParaRPr sz="950" b="0">
              <a:solidFill>
                <a:srgbClr val="9A9CA3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5970273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9CA3"/>
                </a:solidFill>
                <a:latin typeface="Arial"/>
              </a:rPr>
              <a:t>Run 3 — same prompt again, server left running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000" y="1509000"/>
            <a:ext cx="2679312" cy="27432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RUN 2 · AFTER RESTART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000" y="1965960"/>
            <a:ext cx="2679312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C"/>
                </a:solidFill>
                <a:latin typeface="Arial"/>
              </a:rPr>
              <a:t>Served from the drive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GPU and DRAM caches are empty after the restart, yet Hit token cnt (CACHE) = 10272: the prefix is read back from the aiDAPTIV namespace on D:.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5F6168"/>
                </a:solidFill>
                <a:latin typeface="Arial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D9501A"/>
                </a:solidFill>
                <a:latin typeface="Arial"/>
              </a:rPr>
              <a:t>Only 2 of 10,274 tokens went through prefill.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000" y="4270000"/>
            <a:ext cx="2679312" cy="274320"/>
          </a:xfrm>
          <a:prstGeom prst="roundRect">
            <a:avLst>
              <a:gd name="adj" fmla="val 30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RUN 3 · SAME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000" y="4726960"/>
            <a:ext cx="2679312" cy="1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C"/>
                </a:solidFill>
                <a:latin typeface="Arial"/>
              </a:rPr>
              <a:t>Served from VRAM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Without a restart the prompt is matched by LCP similarity (sim_best = 1.000) and answered from the GPU: Hit token cnt (GPU) = 10274.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0B92B8-3427-6C46-CC47-0D98B2048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76428"/>
            <a:ext cx="8229600" cy="24067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6C34D8B-7592-3B95-DDAA-254743831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4215034"/>
            <a:ext cx="8229600" cy="16316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14–16 SEP ·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26425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dirty="0">
                <a:solidFill>
                  <a:srgbClr val="1A1A1C"/>
                </a:solidFill>
                <a:latin typeface="Arial"/>
              </a:rPr>
              <a:t>Findings from the aiDAPTIV+ server log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5090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64615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10,272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6736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tokens restored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from aiDAPTIV+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5090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164615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16736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tokens re-computed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out of 10,274 in the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5090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68112" y="164615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99.98%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216736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of the prompt reused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after a full server restart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549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29207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416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1328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cache lookup + restore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log 25.517 s → 25.933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1549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90672" y="329207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9.06 t/s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381328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generation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100 tokens in 11.04 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31549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68112" y="3292079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89.27%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3813288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MoE expert hit (GPU)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single-token · DRAM 0.00%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1509000"/>
            <a:ext cx="3867912" cy="4541000"/>
          </a:xfrm>
          <a:prstGeom prst="roundRect">
            <a:avLst>
              <a:gd name="adj" fmla="val 4000"/>
            </a:avLst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t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9A9CA3"/>
                </a:solidFill>
                <a:latin typeface="Arial"/>
              </a:rPr>
              <a:t>KEY LOG LINES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9A11B"/>
                </a:solidFill>
                <a:latin typeface="Consolas"/>
              </a:rPr>
              <a:t>[MDW] Trying to resume KV cache...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9A11B"/>
                </a:solidFill>
                <a:latin typeface="Consolas"/>
              </a:rPr>
              <a:t>[MDW] KV cache resume completed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[MDW] Resume subfolder: doc1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Hit token cnt (GPU):       0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Hit token cnt (DRAM):      0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9A11B"/>
                </a:solidFill>
                <a:latin typeface="Consolas"/>
              </a:rPr>
              <a:t>Hit token cnt (CACHE): 10272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saved checkpoint to Cache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 Storage (n_tokens = 10272)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9A11B"/>
                </a:solidFill>
                <a:latin typeface="Consolas"/>
              </a:rPr>
              <a:t>prompt eval time = 917.98 ms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 / 2 tokens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eval time = 11041.72 ms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 / 100 tokens (9.06 t/s)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total time = 11959.70 ms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  / 102 tokens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9CAD0"/>
                </a:solidFill>
                <a:latin typeface="Consolas"/>
              </a:rPr>
              <a:t>graphs reused = 99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00000"/>
            <a:ext cx="6949440" cy="64008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01A"/>
                </a:solidFill>
                <a:latin typeface="Arial"/>
              </a:rPr>
              <a:t>Reading: </a:t>
            </a:r>
            <a:r>
              <a:rPr sz="1300" b="0">
                <a:solidFill>
                  <a:srgbClr val="5F6168"/>
                </a:solidFill>
                <a:latin typeface="Arial"/>
              </a:rPr>
              <a:t>prefill collapsed from ~10K tokens to 2 tokens, so time-to-first-token is set by a ~0.4 s cache restore instead of a full prefill.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70000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9CA3"/>
                </a:solidFill>
                <a:latin typeface="Arial"/>
              </a:rPr>
              <a:t>Source: C:\Windows\Temp\2026-09-15_17-55-49_llama_server.log  ·  task 0, slot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14–16 SEP · RUN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Run configuration and MoE expert offload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96174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9CA3"/>
                </a:solidFill>
                <a:latin typeface="Arial"/>
              </a:rPr>
              <a:t>Same run — the middleware reports the expert offload it applied at model 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09000"/>
            <a:ext cx="3867912" cy="137160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1646159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9.398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167368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VRAM saved (est.)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reported by the middleware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017760"/>
            <a:ext cx="3867912" cy="137160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3154919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3676128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layers offloaded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layers 0–29 · 32 VRAM experts/layer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526520"/>
            <a:ext cx="3867912" cy="1371600"/>
          </a:xfrm>
          <a:prstGeom prst="roundRect">
            <a:avLst>
              <a:gd name="adj" fmla="val 6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992" y="4663679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26522"/>
                </a:solidFill>
                <a:latin typeface="Arial"/>
              </a:rPr>
              <a:t>14.1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5184888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Arial"/>
              </a:rPr>
              <a:t>cold start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9CA3"/>
                </a:solidFill>
                <a:latin typeface="Arial"/>
              </a:rPr>
              <a:t>launch to “model loaded”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16214"/>
            <a:ext cx="6949440" cy="1883786"/>
          </a:xfrm>
          <a:prstGeom prst="roundRect">
            <a:avLst>
              <a:gd name="adj" fmla="val 4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24481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9A9CA3"/>
                </a:solidFill>
                <a:latin typeface="Arial"/>
              </a:rPr>
              <a:t>RUN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64854"/>
            <a:ext cx="6400800" cy="7540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• </a:t>
            </a:r>
            <a:r>
              <a:rPr sz="1100" b="1">
                <a:solidFill>
                  <a:srgbClr val="1A1A1C"/>
                </a:solidFill>
                <a:latin typeface="Arial"/>
              </a:rPr>
              <a:t>gemma-4-26B-A4B-it-UD-Q4_K_M.gguf</a:t>
            </a:r>
            <a:r>
              <a:rPr sz="1100" b="0">
                <a:solidFill>
                  <a:srgbClr val="5F6168"/>
                </a:solidFill>
                <a:latin typeface="Arial"/>
              </a:rPr>
              <a:t>  ·  aiDAPTIV+ build NXWVB306.1 (b9568)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• --</a:t>
            </a:r>
            <a:r>
              <a:rPr sz="1100" b="0" err="1">
                <a:solidFill>
                  <a:srgbClr val="5F6168"/>
                </a:solidFill>
                <a:latin typeface="Arial"/>
              </a:rPr>
              <a:t>ctx</a:t>
            </a:r>
            <a:r>
              <a:rPr sz="1100" b="0">
                <a:solidFill>
                  <a:srgbClr val="5F6168"/>
                </a:solidFill>
                <a:latin typeface="Arial"/>
              </a:rPr>
              <a:t>-size 16000  ·  -</a:t>
            </a:r>
            <a:r>
              <a:rPr sz="1100" b="0" err="1">
                <a:solidFill>
                  <a:srgbClr val="5F6168"/>
                </a:solidFill>
                <a:latin typeface="Arial"/>
              </a:rPr>
              <a:t>ngl</a:t>
            </a:r>
            <a:r>
              <a:rPr sz="1100" b="0">
                <a:solidFill>
                  <a:srgbClr val="5F6168"/>
                </a:solidFill>
                <a:latin typeface="Arial"/>
              </a:rPr>
              <a:t> 100  ·  --flash-attn auto  ·  --no-</a:t>
            </a:r>
            <a:r>
              <a:rPr sz="1100" b="0" err="1">
                <a:solidFill>
                  <a:srgbClr val="5F6168"/>
                </a:solidFill>
                <a:latin typeface="Arial"/>
              </a:rPr>
              <a:t>mmap</a:t>
            </a:r>
            <a:r>
              <a:rPr sz="1100" b="0">
                <a:solidFill>
                  <a:srgbClr val="5F6168"/>
                </a:solidFill>
                <a:latin typeface="Arial"/>
              </a:rPr>
              <a:t>  ·  --</a:t>
            </a:r>
            <a:r>
              <a:rPr sz="1100" b="0" err="1">
                <a:solidFill>
                  <a:srgbClr val="5F6168"/>
                </a:solidFill>
                <a:latin typeface="Arial"/>
              </a:rPr>
              <a:t>vram</a:t>
            </a:r>
            <a:r>
              <a:rPr sz="1100" b="0">
                <a:solidFill>
                  <a:srgbClr val="5F6168"/>
                </a:solidFill>
                <a:latin typeface="Arial"/>
              </a:rPr>
              <a:t>-experts-cached-</a:t>
            </a:r>
            <a:r>
              <a:rPr sz="1100" b="0" err="1">
                <a:solidFill>
                  <a:srgbClr val="5F6168"/>
                </a:solidFill>
                <a:latin typeface="Arial"/>
              </a:rPr>
              <a:t>gb</a:t>
            </a:r>
            <a:r>
              <a:rPr sz="1100" b="0">
                <a:solidFill>
                  <a:srgbClr val="5F6168"/>
                </a:solidFill>
                <a:latin typeface="Arial"/>
              </a:rPr>
              <a:t> 4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• --</a:t>
            </a:r>
            <a:r>
              <a:rPr sz="1100" b="0" err="1">
                <a:solidFill>
                  <a:srgbClr val="5F6168"/>
                </a:solidFill>
                <a:latin typeface="Arial"/>
              </a:rPr>
              <a:t>kv</a:t>
            </a:r>
            <a:r>
              <a:rPr sz="1100" b="0">
                <a:solidFill>
                  <a:srgbClr val="5F6168"/>
                </a:solidFill>
                <a:latin typeface="Arial"/>
              </a:rPr>
              <a:t>-cache-resume-policy 1  ·  --offload-path D:/nvme0  ·  resume subfolder 'doc1'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• Intel Core Ultra 7 356H  ·  Vulkan0 Intel Graphics 18,268 MiB  ·  </a:t>
            </a:r>
            <a:r>
              <a:rPr sz="1100" b="0" err="1">
                <a:solidFill>
                  <a:srgbClr val="5F6168"/>
                </a:solidFill>
                <a:latin typeface="Arial"/>
              </a:rPr>
              <a:t>n_parallel</a:t>
            </a:r>
            <a:r>
              <a:rPr sz="1100" b="0">
                <a:solidFill>
                  <a:srgbClr val="5F6168"/>
                </a:solidFill>
                <a:latin typeface="Arial"/>
              </a:rPr>
              <a:t>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80000"/>
            <a:ext cx="11091672" cy="32004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D9501A"/>
                </a:solidFill>
                <a:latin typeface="Arial"/>
              </a:rPr>
              <a:t>Together: 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the AI SSD holds both the offloaded experts and the KV cache </a:t>
            </a:r>
            <a:r>
              <a:rPr lang="en-US" sz="1300" b="0" dirty="0">
                <a:solidFill>
                  <a:srgbClr val="5F6168"/>
                </a:solidFill>
                <a:latin typeface="Arial"/>
              </a:rPr>
              <a:t>and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 9.4 GB of VRAM saved on this run.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7B25CC3-6683-2483-8529-B60EC088E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353488"/>
            <a:ext cx="6949440" cy="21910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14–16 SEP ·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440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Measured difference, side by side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844287"/>
              </p:ext>
            </p:extLst>
          </p:nvPr>
        </p:nvGraphicFramePr>
        <p:xfrm>
          <a:off x="545897" y="1973400"/>
          <a:ext cx="11091672" cy="251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4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137160" marR="137160" marT="36576" marB="36576" anchor="ctr">
                    <a:solidFill>
                      <a:srgbClr val="1A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Without aiDAPTIV+</a:t>
                      </a:r>
                    </a:p>
                  </a:txBody>
                  <a:tcPr marL="137160" marR="137160" marT="36576" marB="36576" anchor="ctr">
                    <a:solidFill>
                      <a:srgbClr val="1A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 aiDAPTIV+</a:t>
                      </a:r>
                    </a:p>
                  </a:txBody>
                  <a:tcPr marL="137160" marR="137160" marT="36576" marB="36576" anchor="ctr">
                    <a:solidFill>
                      <a:srgbClr val="1A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Difference</a:t>
                      </a:r>
                    </a:p>
                  </a:txBody>
                  <a:tcPr marL="137160" marR="137160" marT="36576" marB="36576" anchor="ctr">
                    <a:solidFill>
                      <a:srgbClr val="1A1A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C"/>
                          </a:solidFill>
                          <a:latin typeface="Arial"/>
                        </a:rPr>
                        <a:t>Prompt tokens in the request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10,793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10,274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501A"/>
                          </a:solidFill>
                          <a:latin typeface="Arial"/>
                        </a:rPr>
                        <a:t>similar ~10K prompt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C"/>
                          </a:solidFill>
                          <a:latin typeface="Arial"/>
                        </a:rPr>
                        <a:t>Cache hit  (GPU / DRAM / CACHE)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0 / 0 / 0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0 / 0 / 10,272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501A"/>
                          </a:solidFill>
                          <a:latin typeface="Arial"/>
                        </a:rPr>
                        <a:t>prefix served from drive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C"/>
                          </a:solidFill>
                          <a:latin typeface="Arial"/>
                        </a:rPr>
                        <a:t>Prompt tokens re-computed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10,793  (all)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501A"/>
                          </a:solidFill>
                          <a:latin typeface="Arial"/>
                        </a:rPr>
                        <a:t>− 99.98 %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C"/>
                          </a:solidFill>
                          <a:latin typeface="Arial"/>
                        </a:rPr>
                        <a:t>Prompt eval (prefill) time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rgbClr val="5F6168"/>
                          </a:solidFill>
                          <a:latin typeface="Arial"/>
                        </a:rPr>
                        <a:t> 105381 </a:t>
                      </a:r>
                      <a:r>
                        <a:rPr sz="1200" b="0" err="1">
                          <a:solidFill>
                            <a:srgbClr val="5F6168"/>
                          </a:solidFill>
                          <a:latin typeface="Arial"/>
                        </a:rPr>
                        <a:t>ms</a:t>
                      </a:r>
                      <a:endParaRPr sz="1200" b="0">
                        <a:solidFill>
                          <a:srgbClr val="5F6168"/>
                        </a:solidFill>
                        <a:latin typeface="Arial"/>
                      </a:endParaRP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917.98 ms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D9501A"/>
                          </a:solidFill>
                          <a:latin typeface="Arial"/>
                        </a:rPr>
                        <a:t>114</a:t>
                      </a:r>
                      <a:r>
                        <a:rPr sz="1200" b="1">
                          <a:solidFill>
                            <a:srgbClr val="D9501A"/>
                          </a:solidFill>
                          <a:latin typeface="Arial"/>
                        </a:rPr>
                        <a:t>× faster · </a:t>
                      </a:r>
                      <a:r>
                        <a:rPr lang="en-US" sz="1200" b="1">
                          <a:solidFill>
                            <a:srgbClr val="D9501A"/>
                          </a:solidFill>
                          <a:latin typeface="Arial"/>
                        </a:rPr>
                        <a:t>104</a:t>
                      </a:r>
                      <a:r>
                        <a:rPr sz="1200" b="1">
                          <a:solidFill>
                            <a:srgbClr val="D9501A"/>
                          </a:solidFill>
                          <a:latin typeface="Arial"/>
                        </a:rPr>
                        <a:t>s saved</a:t>
                      </a:r>
                    </a:p>
                  </a:txBody>
                  <a:tcPr marL="137160" marR="137160" marT="36576" marB="36576" anchor="ctr"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C"/>
                          </a:solidFill>
                          <a:latin typeface="Arial"/>
                        </a:rPr>
                        <a:t>Generation throughput *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rgbClr val="5F6168"/>
                          </a:solidFill>
                          <a:latin typeface="Arial"/>
                        </a:rPr>
                        <a:t>7.63</a:t>
                      </a: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 </a:t>
                      </a:r>
                      <a:r>
                        <a:rPr sz="1200" b="0" err="1">
                          <a:solidFill>
                            <a:srgbClr val="5F6168"/>
                          </a:solidFill>
                          <a:latin typeface="Arial"/>
                        </a:rPr>
                        <a:t>tok</a:t>
                      </a: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/s  (6</a:t>
                      </a:r>
                      <a:r>
                        <a:rPr lang="en-US" sz="1200" b="0">
                          <a:solidFill>
                            <a:srgbClr val="5F6168"/>
                          </a:solidFill>
                          <a:latin typeface="Arial"/>
                        </a:rPr>
                        <a:t>83</a:t>
                      </a: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 </a:t>
                      </a:r>
                      <a:r>
                        <a:rPr sz="1200" b="0" err="1">
                          <a:solidFill>
                            <a:srgbClr val="5F6168"/>
                          </a:solidFill>
                          <a:latin typeface="Arial"/>
                        </a:rPr>
                        <a:t>tok</a:t>
                      </a: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F6168"/>
                          </a:solidFill>
                          <a:latin typeface="Arial"/>
                        </a:rPr>
                        <a:t>9.06 tok/s  (100 tok)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501A"/>
                          </a:solidFill>
                          <a:latin typeface="Arial"/>
                        </a:rPr>
                        <a:t>not like-for-like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0591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14–16 SEP ·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22376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Making KV cache reuse work inside Onyx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71344" cy="393192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3571344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06040"/>
            <a:ext cx="302270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What we assume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29000"/>
            <a:ext cx="302270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Reuse is proven at the API level, but not yet through Onyx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The middleware only reuses a cache entry when the leading tokens match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We assume Onyx's code has to be modified before that prefix stays stable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505587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ASSUMPTION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984" y="1600200"/>
            <a:ext cx="3571344" cy="393192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07984" y="1600200"/>
            <a:ext cx="3571344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82303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303" y="2606040"/>
            <a:ext cx="302270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2303" y="3429000"/>
            <a:ext cx="3022706" cy="13439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5F6168"/>
                </a:solidFill>
                <a:latin typeface="Arial"/>
              </a:rPr>
              <a:t>• Take the </a:t>
            </a:r>
            <a:r>
              <a:rPr sz="1200" b="0" dirty="0" err="1">
                <a:solidFill>
                  <a:srgbClr val="5F6168"/>
                </a:solidFill>
                <a:latin typeface="Arial"/>
              </a:rPr>
              <a:t>OpenWebUI</a:t>
            </a:r>
            <a:r>
              <a:rPr sz="1200" b="0" dirty="0">
                <a:solidFill>
                  <a:srgbClr val="5F6168"/>
                </a:solidFill>
                <a:latin typeface="Arial"/>
              </a:rPr>
              <a:t> integration code as the base </a:t>
            </a:r>
            <a:r>
              <a:rPr lang="en-US" sz="1200" b="0" dirty="0">
                <a:solidFill>
                  <a:srgbClr val="5F6168"/>
                </a:solidFill>
                <a:latin typeface="Arial"/>
              </a:rPr>
              <a:t>and</a:t>
            </a:r>
            <a:r>
              <a:rPr sz="1200" b="0" dirty="0">
                <a:solidFill>
                  <a:srgbClr val="5F6168"/>
                </a:solidFill>
                <a:latin typeface="Arial"/>
              </a:rPr>
              <a:t> its request path already works against the aiDAPTIV+ endpoint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5F6168"/>
                </a:solidFill>
                <a:latin typeface="Arial"/>
              </a:rPr>
              <a:t>• Integrate that handling into Onyx's LLM provider layer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5F6168"/>
                </a:solidFill>
                <a:latin typeface="Arial"/>
              </a:rPr>
              <a:t>• Keep system prompt and document context byte-identical across turns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2303" y="505587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PLANNED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7328" y="1600200"/>
            <a:ext cx="3571344" cy="3931920"/>
          </a:xfrm>
          <a:prstGeom prst="roundRect">
            <a:avLst>
              <a:gd name="adj" fmla="val 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7328" y="1600200"/>
            <a:ext cx="3571344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41647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1647" y="2606040"/>
            <a:ext cx="302270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How we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1647" y="3429000"/>
            <a:ext cx="3022706" cy="1159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5F6168"/>
                </a:solidFill>
                <a:latin typeface="Arial"/>
              </a:rPr>
              <a:t>• Repeat this week's test through Onyx: prefill → restart → replay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5F6168"/>
                </a:solidFill>
                <a:latin typeface="Arial"/>
              </a:rPr>
              <a:t>• Expect Hit token </a:t>
            </a:r>
            <a:r>
              <a:rPr sz="1200" b="0" dirty="0" err="1">
                <a:solidFill>
                  <a:srgbClr val="5F6168"/>
                </a:solidFill>
                <a:latin typeface="Arial"/>
              </a:rPr>
              <a:t>cnt</a:t>
            </a:r>
            <a:r>
              <a:rPr sz="1200" b="0" dirty="0">
                <a:solidFill>
                  <a:srgbClr val="5F6168"/>
                </a:solidFill>
                <a:latin typeface="Arial"/>
              </a:rPr>
              <a:t> (CACHE) &gt; 0 in the server log, not a 91 s prefill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5F6168"/>
                </a:solidFill>
                <a:latin typeface="Arial"/>
              </a:rPr>
              <a:t>• Document upload lands with this work </a:t>
            </a:r>
            <a:r>
              <a:rPr lang="en-US" sz="1200" b="0" dirty="0">
                <a:solidFill>
                  <a:srgbClr val="5F6168"/>
                </a:solidFill>
                <a:latin typeface="Arial"/>
              </a:rPr>
              <a:t>and</a:t>
            </a:r>
            <a:r>
              <a:rPr sz="1200" b="0" dirty="0">
                <a:solidFill>
                  <a:srgbClr val="5F6168"/>
                </a:solidFill>
                <a:latin typeface="Arial"/>
              </a:rPr>
              <a:t> an uploaded file becomes the reusable prefix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41647" y="5055870"/>
            <a:ext cx="1234440" cy="274320"/>
          </a:xfrm>
          <a:prstGeom prst="roundRect">
            <a:avLst>
              <a:gd name="adj" fmla="val 30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PLANNED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01A"/>
                </a:solidFill>
                <a:latin typeface="Arial"/>
              </a:rPr>
              <a:t>Next: </a:t>
            </a:r>
            <a:r>
              <a:rPr sz="1300" b="0">
                <a:solidFill>
                  <a:srgbClr val="5F6168"/>
                </a:solidFill>
                <a:latin typeface="Arial"/>
              </a:rPr>
              <a:t>integrate and verify KV cache reuse through Onyx. Document upload comes with that integration, then the same path is rolled out to the other apps.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Onyx: making the same reuse work from the app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560000"/>
            <a:ext cx="11091672" cy="3000000"/>
          </a:xfrm>
          <a:prstGeom prst="roundRect">
            <a:avLst>
              <a:gd name="adj" fmla="val 3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560000"/>
            <a:ext cx="11091672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460000"/>
            <a:ext cx="3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26522"/>
                </a:solidFill>
                <a:latin typeface="Arial"/>
              </a:rPr>
              <a:t>17 – 18 SEP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90000"/>
            <a:ext cx="380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C"/>
                </a:solidFill>
                <a:latin typeface="Arial"/>
              </a:rPr>
              <a:t>KV cache reuse inside Onyx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0000" y="1960000"/>
            <a:ext cx="9144" cy="2200000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0000" y="2080000"/>
            <a:ext cx="590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9A9CA3"/>
                </a:solidFill>
                <a:latin typeface="Arial"/>
              </a:rPr>
              <a:t>•  </a:t>
            </a:r>
            <a:r>
              <a:rPr sz="1150" b="0">
                <a:solidFill>
                  <a:srgbClr val="5F6168"/>
                </a:solidFill>
                <a:latin typeface="Arial"/>
              </a:rPr>
              <a:t>Added cache_prompt and offload_folder_name to </a:t>
            </a:r>
            <a:r>
              <a:rPr sz="1150" b="1">
                <a:solidFill>
                  <a:srgbClr val="1A1A1C"/>
                </a:solidFill>
                <a:latin typeface="Arial"/>
              </a:rPr>
              <a:t>Onyx's docker-compose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0000" y="2700000"/>
            <a:ext cx="590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9A9CA3"/>
                </a:solidFill>
                <a:latin typeface="Arial"/>
              </a:rPr>
              <a:t>•  </a:t>
            </a:r>
            <a:r>
              <a:rPr sz="1150" b="0">
                <a:solidFill>
                  <a:srgbClr val="5F6168"/>
                </a:solidFill>
                <a:latin typeface="Arial"/>
              </a:rPr>
              <a:t>Checked recomputation in Onyx </a:t>
            </a:r>
            <a:r>
              <a:rPr sz="1150" b="1">
                <a:solidFill>
                  <a:srgbClr val="1A1A1C"/>
                </a:solidFill>
                <a:latin typeface="Arial"/>
              </a:rPr>
              <a:t>across a server restart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0000" y="3320000"/>
            <a:ext cx="590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9A9CA3"/>
                </a:solidFill>
                <a:latin typeface="Arial"/>
              </a:rPr>
              <a:t>•  </a:t>
            </a:r>
            <a:r>
              <a:rPr sz="1150" b="0">
                <a:solidFill>
                  <a:srgbClr val="5F6168"/>
                </a:solidFill>
                <a:latin typeface="Arial"/>
              </a:rPr>
              <a:t>Uploaded a document and verified </a:t>
            </a:r>
            <a:r>
              <a:rPr sz="1150" b="1">
                <a:solidFill>
                  <a:srgbClr val="1A1A1C"/>
                </a:solidFill>
                <a:latin typeface="Arial"/>
              </a:rPr>
              <a:t>the context is served from the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0000" y="3940000"/>
            <a:ext cx="590000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dirty="0">
                <a:solidFill>
                  <a:srgbClr val="9A9CA3"/>
                </a:solidFill>
                <a:latin typeface="Arial"/>
              </a:rPr>
              <a:t>•  </a:t>
            </a:r>
            <a:r>
              <a:rPr sz="1150" b="0" dirty="0">
                <a:solidFill>
                  <a:srgbClr val="5F6168"/>
                </a:solidFill>
                <a:latin typeface="Arial"/>
              </a:rPr>
              <a:t>Logged the prefix the middleware wrote to the drive </a:t>
            </a:r>
            <a:r>
              <a:rPr lang="en-US" sz="1150" b="0" dirty="0">
                <a:solidFill>
                  <a:srgbClr val="5F6168"/>
                </a:solidFill>
                <a:latin typeface="Arial"/>
              </a:rPr>
              <a:t>-</a:t>
            </a:r>
            <a:r>
              <a:rPr sz="1150" b="0" dirty="0">
                <a:solidFill>
                  <a:srgbClr val="5F6168"/>
                </a:solidFill>
                <a:latin typeface="Arial"/>
              </a:rPr>
              <a:t> </a:t>
            </a:r>
            <a:r>
              <a:rPr sz="1150" b="1" dirty="0">
                <a:solidFill>
                  <a:srgbClr val="1A1A1C"/>
                </a:solidFill>
                <a:latin typeface="Arial"/>
              </a:rPr>
              <a:t>9,496 tokens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30000"/>
            <a:ext cx="11091672" cy="54864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D9501A"/>
                </a:solidFill>
                <a:latin typeface="Arial"/>
              </a:rPr>
              <a:t>Outcome: 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after a restart Onyx re-uses the uploaded document's prefix </a:t>
            </a:r>
            <a:r>
              <a:rPr lang="en-US" sz="1300" b="0" dirty="0">
                <a:solidFill>
                  <a:srgbClr val="5F6168"/>
                </a:solidFill>
                <a:latin typeface="Arial"/>
              </a:rPr>
              <a:t>-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 Hit token </a:t>
            </a:r>
            <a:r>
              <a:rPr sz="1300" b="0" dirty="0" err="1">
                <a:solidFill>
                  <a:srgbClr val="5F6168"/>
                </a:solidFill>
                <a:latin typeface="Arial"/>
              </a:rPr>
              <a:t>cnt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 (CACHE): 10,968 instead of a fresh prefill.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0FF7A7-F31E-5719-9110-7C4C067F9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217920" cy="33475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80E867-1401-566A-F90F-71F748A57118}"/>
              </a:ext>
            </a:extLst>
          </p:cNvPr>
          <p:cNvSpPr/>
          <p:nvPr/>
        </p:nvSpPr>
        <p:spPr>
          <a:xfrm>
            <a:off x="841687" y="2018618"/>
            <a:ext cx="4811336" cy="226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17–18 SEP  ·  ONYX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A1A1C"/>
                </a:solidFill>
                <a:latin typeface="Arial"/>
              </a:rPr>
              <a:t>Turning on KV cache reuse inside Onyx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1600200"/>
            <a:ext cx="6217920" cy="3347513"/>
          </a:xfrm>
          <a:prstGeom prst="rect">
            <a:avLst/>
          </a:prstGeom>
          <a:noFill/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039153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D9501A"/>
                </a:solidFill>
                <a:latin typeface="Consolas"/>
              </a:rPr>
              <a:t>docker-compose.yml</a:t>
            </a:r>
            <a:r>
              <a:rPr sz="900" b="0">
                <a:solidFill>
                  <a:srgbClr val="9A9CA3"/>
                </a:solidFill>
                <a:latin typeface="Arial"/>
              </a:rPr>
              <a:t>  ·  api_server →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600200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6522"/>
                </a:solidFill>
                <a:latin typeface="Arial"/>
              </a:rPr>
              <a:t>WHAT WE CHANGED</a:t>
            </a:r>
          </a:p>
        </p:txBody>
      </p:sp>
      <p:sp>
        <p:nvSpPr>
          <p:cNvPr id="19" name="Oval 18"/>
          <p:cNvSpPr/>
          <p:nvPr/>
        </p:nvSpPr>
        <p:spPr>
          <a:xfrm>
            <a:off x="7178040" y="2020824"/>
            <a:ext cx="73152" cy="73152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60920" y="1965960"/>
            <a:ext cx="42793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Onyx was reaching the model without ever asking for cache reuse.</a:t>
            </a:r>
          </a:p>
        </p:txBody>
      </p:sp>
      <p:sp>
        <p:nvSpPr>
          <p:cNvPr id="21" name="Oval 20"/>
          <p:cNvSpPr/>
          <p:nvPr/>
        </p:nvSpPr>
        <p:spPr>
          <a:xfrm>
            <a:off x="7178040" y="2660904"/>
            <a:ext cx="73152" cy="73152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2606040"/>
            <a:ext cx="427939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5F6168"/>
                </a:solidFill>
                <a:latin typeface="Arial"/>
              </a:rPr>
              <a:t>Added one LLM extra-body line to the </a:t>
            </a:r>
            <a:r>
              <a:rPr sz="1100" b="0" dirty="0" err="1">
                <a:solidFill>
                  <a:srgbClr val="5F6168"/>
                </a:solidFill>
                <a:latin typeface="Arial"/>
              </a:rPr>
              <a:t>api_server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 service in docker-</a:t>
            </a:r>
            <a:r>
              <a:rPr sz="1100" b="0" dirty="0" err="1">
                <a:solidFill>
                  <a:srgbClr val="5F6168"/>
                </a:solidFill>
                <a:latin typeface="Arial"/>
              </a:rPr>
              <a:t>compose.yml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 </a:t>
            </a:r>
            <a:r>
              <a:rPr lang="en-US" sz="1100" b="0" dirty="0">
                <a:solidFill>
                  <a:srgbClr val="5F6168"/>
                </a:solidFill>
                <a:latin typeface="Arial"/>
              </a:rPr>
              <a:t>-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 no application code was touched.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3383280"/>
            <a:ext cx="4462272" cy="640080"/>
          </a:xfrm>
          <a:prstGeom prst="roundRect">
            <a:avLst>
              <a:gd name="adj" fmla="val 14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0" y="3474720"/>
            <a:ext cx="41879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D9501A"/>
                </a:solidFill>
                <a:latin typeface="Consolas"/>
              </a:rPr>
              <a:t>"cache_prompt": 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703320"/>
            <a:ext cx="41879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F6168"/>
                </a:solidFill>
                <a:latin typeface="Arial"/>
              </a:rPr>
              <a:t>Asks the middleware to reuse a matching prompt prefix.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4114800"/>
            <a:ext cx="4462272" cy="640080"/>
          </a:xfrm>
          <a:prstGeom prst="roundRect">
            <a:avLst>
              <a:gd name="adj" fmla="val 14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0" y="4206240"/>
            <a:ext cx="41879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D9501A"/>
                </a:solidFill>
                <a:latin typeface="Consolas"/>
              </a:rPr>
              <a:t>"offload_folder_name": "test"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434840"/>
            <a:ext cx="41879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F6168"/>
                </a:solidFill>
                <a:latin typeface="Arial"/>
              </a:rPr>
              <a:t>Names the folder on the AI SSD that holds the cache.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03520"/>
            <a:ext cx="11091672" cy="54864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01A"/>
                </a:solidFill>
                <a:latin typeface="Arial"/>
              </a:rPr>
              <a:t>Outcome — </a:t>
            </a:r>
            <a:r>
              <a:rPr sz="1300" b="0">
                <a:solidFill>
                  <a:srgbClr val="5F6168"/>
                </a:solidFill>
                <a:latin typeface="Arial"/>
              </a:rPr>
              <a:t>every Onyx request now carries the reuse flags, so prompts are cached to and served from aiDAPTIV+ storage.</a:t>
            </a:r>
          </a:p>
        </p:txBody>
      </p:sp>
    </p:spTree>
    <p:extLst>
      <p:ext uri="{BB962C8B-B14F-4D97-AF65-F5344CB8AC3E}">
        <p14:creationId xmlns:p14="http://schemas.microsoft.com/office/powerpoint/2010/main" val="2070197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7128489-0F91-DB9E-21DA-F36D5862FF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85"/>
          <a:stretch>
            <a:fillRect/>
          </a:stretch>
        </p:blipFill>
        <p:spPr>
          <a:xfrm>
            <a:off x="548640" y="4046800"/>
            <a:ext cx="5880000" cy="17309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F496AC-D385-41FD-A506-AFEE897D1D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43"/>
          <a:stretch>
            <a:fillRect/>
          </a:stretch>
        </p:blipFill>
        <p:spPr>
          <a:xfrm>
            <a:off x="548640" y="1905000"/>
            <a:ext cx="5880000" cy="16463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EF220B-ECE0-3840-B135-E7A9A634D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120" y="4046800"/>
            <a:ext cx="4800192" cy="168962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8C0D6C4-EBF7-61AB-4480-78D27F31B249}"/>
              </a:ext>
            </a:extLst>
          </p:cNvPr>
          <p:cNvSpPr/>
          <p:nvPr/>
        </p:nvSpPr>
        <p:spPr>
          <a:xfrm>
            <a:off x="2556898" y="2728511"/>
            <a:ext cx="1395363" cy="1202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577890-5E22-0316-57DB-DA7F8C5E4CC6}"/>
              </a:ext>
            </a:extLst>
          </p:cNvPr>
          <p:cNvSpPr/>
          <p:nvPr/>
        </p:nvSpPr>
        <p:spPr>
          <a:xfrm>
            <a:off x="1306219" y="3428370"/>
            <a:ext cx="1470591" cy="128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51A08D-BD0B-DB96-8ADA-45906A536DB0}"/>
              </a:ext>
            </a:extLst>
          </p:cNvPr>
          <p:cNvSpPr/>
          <p:nvPr/>
        </p:nvSpPr>
        <p:spPr>
          <a:xfrm>
            <a:off x="3928279" y="5452624"/>
            <a:ext cx="2031244" cy="199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2EDF28-30A7-866F-C09A-62B695E39299}"/>
              </a:ext>
            </a:extLst>
          </p:cNvPr>
          <p:cNvSpPr/>
          <p:nvPr/>
        </p:nvSpPr>
        <p:spPr>
          <a:xfrm>
            <a:off x="2013799" y="5632958"/>
            <a:ext cx="2272662" cy="1373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7BB636-4796-5D01-B437-CA47266F3F3F}"/>
              </a:ext>
            </a:extLst>
          </p:cNvPr>
          <p:cNvSpPr/>
          <p:nvPr/>
        </p:nvSpPr>
        <p:spPr>
          <a:xfrm>
            <a:off x="7562770" y="4999698"/>
            <a:ext cx="3744549" cy="266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17–18 SEP  ·  REUSE VERIFIED IN ONYX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A1A1C"/>
                </a:solidFill>
                <a:latin typeface="Arial"/>
              </a:rPr>
              <a:t>The same prompt after a restart is served from the SSD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8640" y="1587500"/>
            <a:ext cx="209550" cy="20955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1600200"/>
            <a:ext cx="4000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FIRST RUN  ·  CACHE WRITTEN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1905000"/>
            <a:ext cx="5880000" cy="1646394"/>
          </a:xfrm>
          <a:prstGeom prst="rect">
            <a:avLst/>
          </a:prstGeom>
          <a:noFill/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8640" y="3729300"/>
            <a:ext cx="209550" cy="20955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3742000"/>
            <a:ext cx="4000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SECOND RUN  ·  AFTER SERVER RESTART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046800"/>
            <a:ext cx="5880000" cy="1730940"/>
          </a:xfrm>
          <a:prstGeom prst="rect">
            <a:avLst/>
          </a:prstGeom>
          <a:noFill/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40120" y="1600200"/>
            <a:ext cx="48001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6522"/>
                </a:solidFill>
                <a:latin typeface="Arial"/>
              </a:rPr>
              <a:t>HOW WE TESTED</a:t>
            </a:r>
          </a:p>
        </p:txBody>
      </p:sp>
      <p:sp>
        <p:nvSpPr>
          <p:cNvPr id="41" name="Oval 40"/>
          <p:cNvSpPr/>
          <p:nvPr/>
        </p:nvSpPr>
        <p:spPr>
          <a:xfrm>
            <a:off x="6840120" y="2020824"/>
            <a:ext cx="73152" cy="73152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23000" y="1965960"/>
            <a:ext cx="461731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5F6168"/>
                </a:solidFill>
                <a:latin typeface="Arial"/>
              </a:rPr>
              <a:t>Sent a prompt through Onyx; the middleware wrote the KV cache to the aiDAPTIV+ folder.</a:t>
            </a:r>
          </a:p>
        </p:txBody>
      </p:sp>
      <p:sp>
        <p:nvSpPr>
          <p:cNvPr id="43" name="Oval 42"/>
          <p:cNvSpPr/>
          <p:nvPr/>
        </p:nvSpPr>
        <p:spPr>
          <a:xfrm>
            <a:off x="6840120" y="2615184"/>
            <a:ext cx="73152" cy="73152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23000" y="2560320"/>
            <a:ext cx="46173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Restarted llama-server so nothing could survive in GPU memory.</a:t>
            </a:r>
          </a:p>
        </p:txBody>
      </p:sp>
      <p:sp>
        <p:nvSpPr>
          <p:cNvPr id="45" name="Oval 44"/>
          <p:cNvSpPr/>
          <p:nvPr/>
        </p:nvSpPr>
        <p:spPr>
          <a:xfrm>
            <a:off x="6840120" y="3209544"/>
            <a:ext cx="73152" cy="73152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23000" y="3154680"/>
            <a:ext cx="46173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Re-sent the identical prompt from Onyx.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40120" y="3742000"/>
            <a:ext cx="48001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6522"/>
                </a:solidFill>
                <a:latin typeface="Arial"/>
              </a:rPr>
              <a:t>CACHE FILE ON THE AI SSD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40120" y="4046800"/>
            <a:ext cx="4800192" cy="1689622"/>
          </a:xfrm>
          <a:prstGeom prst="rect">
            <a:avLst/>
          </a:prstGeom>
          <a:noFill/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48640" y="5880000"/>
            <a:ext cx="11091672" cy="4600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01A"/>
                </a:solidFill>
                <a:latin typeface="Arial"/>
              </a:rPr>
              <a:t>Result — </a:t>
            </a:r>
            <a:r>
              <a:rPr sz="1300" b="0">
                <a:solidFill>
                  <a:srgbClr val="5F6168"/>
                </a:solidFill>
                <a:latin typeface="Arial"/>
              </a:rPr>
              <a:t>3,848 tokens came back from CACHE and 0 tokens were re-saved: nothing was recomputed.</a:t>
            </a:r>
          </a:p>
        </p:txBody>
      </p:sp>
    </p:spTree>
    <p:extLst>
      <p:ext uri="{BB962C8B-B14F-4D97-AF65-F5344CB8AC3E}">
        <p14:creationId xmlns:p14="http://schemas.microsoft.com/office/powerpoint/2010/main" val="484268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1576E11C-4ED2-8AA7-FE55-11FDF17013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9" t="12561" r="6036" b="5986"/>
          <a:stretch>
            <a:fillRect/>
          </a:stretch>
        </p:blipFill>
        <p:spPr>
          <a:xfrm>
            <a:off x="6797776" y="1884565"/>
            <a:ext cx="4842535" cy="214874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817DA64-240D-BEF1-6119-9310FE906E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8" r="5975" b="3607"/>
          <a:stretch>
            <a:fillRect/>
          </a:stretch>
        </p:blipFill>
        <p:spPr>
          <a:xfrm>
            <a:off x="6840120" y="4504800"/>
            <a:ext cx="4800192" cy="126416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2363EC5-48EB-56B5-B06A-26AD94DA6CF6}"/>
              </a:ext>
            </a:extLst>
          </p:cNvPr>
          <p:cNvSpPr/>
          <p:nvPr/>
        </p:nvSpPr>
        <p:spPr>
          <a:xfrm>
            <a:off x="7619497" y="5256708"/>
            <a:ext cx="3892117" cy="1425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123E60-ABE2-43FA-EC4A-2B86A618B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00" y="2189436"/>
            <a:ext cx="5880000" cy="158930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EE8D8DA-09D8-B841-72EF-C08694E7D7F9}"/>
              </a:ext>
            </a:extLst>
          </p:cNvPr>
          <p:cNvSpPr/>
          <p:nvPr/>
        </p:nvSpPr>
        <p:spPr>
          <a:xfrm>
            <a:off x="3623318" y="3489032"/>
            <a:ext cx="1917141" cy="150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54A797-2917-9059-1D79-13A50155B38E}"/>
              </a:ext>
            </a:extLst>
          </p:cNvPr>
          <p:cNvSpPr/>
          <p:nvPr/>
        </p:nvSpPr>
        <p:spPr>
          <a:xfrm>
            <a:off x="1660257" y="3629695"/>
            <a:ext cx="1954882" cy="130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17–18 SEP  ·  DOCUMENT UPLOAD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A1A1C"/>
                </a:solidFill>
                <a:latin typeface="Arial"/>
              </a:rPr>
              <a:t>Uploaded document context is reused as well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48640" y="1587500"/>
            <a:ext cx="209550" cy="20955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9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648" y="1606782"/>
            <a:ext cx="400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000" b="1" dirty="0">
                <a:solidFill>
                  <a:srgbClr val="D9501A"/>
                </a:solidFill>
                <a:latin typeface="Arial"/>
              </a:rPr>
              <a:t>KVCACHE REUSE OF UPLOADED DOCUMENT</a:t>
            </a:r>
            <a:endParaRPr sz="1000" b="1" dirty="0">
              <a:solidFill>
                <a:srgbClr val="D9501A"/>
              </a:solidFill>
              <a:latin typeface="Aria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16000" y="2189436"/>
            <a:ext cx="5880000" cy="1589304"/>
          </a:xfrm>
          <a:prstGeom prst="rect">
            <a:avLst/>
          </a:prstGeom>
          <a:noFill/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40120" y="1600200"/>
            <a:ext cx="48001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6522"/>
                </a:solidFill>
                <a:latin typeface="Arial"/>
              </a:rPr>
              <a:t>DOCUMENT UPLOADED TO ONYX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97776" y="1884565"/>
            <a:ext cx="4842535" cy="2148748"/>
          </a:xfrm>
          <a:prstGeom prst="rect">
            <a:avLst/>
          </a:prstGeom>
          <a:noFill/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40120" y="4200000"/>
            <a:ext cx="48001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6522"/>
                </a:solidFill>
                <a:latin typeface="Arial"/>
              </a:rPr>
              <a:t>CACHE FILE ON THE AI SSD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40120" y="4504800"/>
            <a:ext cx="4800192" cy="1264163"/>
          </a:xfrm>
          <a:prstGeom prst="rect">
            <a:avLst/>
          </a:prstGeom>
          <a:noFill/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48640" y="5880000"/>
            <a:ext cx="11091672" cy="4600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01A"/>
                </a:solidFill>
                <a:latin typeface="Arial"/>
              </a:rPr>
              <a:t>Result — </a:t>
            </a:r>
            <a:r>
              <a:rPr sz="1300" b="0">
                <a:solidFill>
                  <a:srgbClr val="5F6168"/>
                </a:solidFill>
                <a:latin typeface="Arial"/>
              </a:rPr>
              <a:t>10,968 document tokens were served from CACHE; the uploaded file was not re-read or re-processed.</a:t>
            </a:r>
          </a:p>
        </p:txBody>
      </p:sp>
    </p:spTree>
    <p:extLst>
      <p:ext uri="{BB962C8B-B14F-4D97-AF65-F5344CB8AC3E}">
        <p14:creationId xmlns:p14="http://schemas.microsoft.com/office/powerpoint/2010/main" val="352081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26522"/>
                </a:solidFill>
                <a:latin typeface="Arial"/>
              </a:rPr>
              <a:t>NEXT · UPCOMING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Upcoming tasks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Weekly Update  ·  18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00000"/>
            <a:ext cx="5422392" cy="3300000"/>
          </a:xfrm>
          <a:prstGeom prst="roundRect">
            <a:avLst>
              <a:gd name="adj" fmla="val 3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600000"/>
            <a:ext cx="5422392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1920040"/>
            <a:ext cx="548640" cy="54864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60000"/>
            <a:ext cx="47823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dirty="0">
                <a:solidFill>
                  <a:srgbClr val="1A1A1C"/>
                </a:solidFill>
                <a:latin typeface="Arial"/>
              </a:rPr>
              <a:t>Validate RAG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20000"/>
            <a:ext cx="478231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Validate the RAG retrieval in Onyx</a:t>
            </a:r>
            <a:r>
              <a:rPr lang="en-US" sz="1100" b="0" dirty="0">
                <a:solidFill>
                  <a:srgbClr val="5F6168"/>
                </a:solidFill>
                <a:latin typeface="Arial"/>
              </a:rPr>
              <a:t> with various context lengths </a:t>
            </a:r>
            <a:endParaRPr sz="1100" b="0" dirty="0">
              <a:solidFill>
                <a:srgbClr val="5F6168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3500000"/>
            <a:ext cx="4782312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Confirm that the relevant context is correctly identified and retrieved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0000"/>
            <a:ext cx="478231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9A9CA3"/>
                </a:solidFill>
                <a:latin typeface="Arial"/>
              </a:rPr>
              <a:t>•  </a:t>
            </a:r>
            <a:r>
              <a:rPr lang="en-US" sz="1100" dirty="0">
                <a:solidFill>
                  <a:srgbClr val="5F6168"/>
                </a:solidFill>
                <a:latin typeface="Arial"/>
              </a:rPr>
              <a:t>Benchmark the results with and without aiDAPTIV+ </a:t>
            </a:r>
            <a:endParaRPr sz="1100" b="0" dirty="0">
              <a:solidFill>
                <a:srgbClr val="5F6168"/>
              </a:solidFill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430000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PLANNED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00000"/>
            <a:ext cx="5422392" cy="3300000"/>
          </a:xfrm>
          <a:prstGeom prst="roundRect">
            <a:avLst>
              <a:gd name="adj" fmla="val 3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217920" y="1600000"/>
            <a:ext cx="5422392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37960" y="1920040"/>
            <a:ext cx="548640" cy="54864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60000"/>
            <a:ext cx="4782312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A1C"/>
                </a:solidFill>
                <a:latin typeface="Arial"/>
              </a:rPr>
              <a:t>Integrate LibreChat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120000"/>
            <a:ext cx="4782312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>
                <a:solidFill>
                  <a:srgbClr val="5F6168"/>
                </a:solidFill>
                <a:latin typeface="Arial"/>
              </a:rPr>
              <a:t>After validating Onyx, integrate LibreChat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500000"/>
            <a:ext cx="4782312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9A9CA3"/>
                </a:solidFill>
                <a:latin typeface="Arial"/>
              </a:rPr>
              <a:t>•  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Same path: </a:t>
            </a:r>
            <a:r>
              <a:rPr sz="1100" b="0" dirty="0" err="1">
                <a:solidFill>
                  <a:srgbClr val="5F6168"/>
                </a:solidFill>
                <a:latin typeface="Arial"/>
              </a:rPr>
              <a:t>cache_prompt</a:t>
            </a:r>
            <a:r>
              <a:rPr sz="1100" b="0" dirty="0">
                <a:solidFill>
                  <a:srgbClr val="5F6168"/>
                </a:solidFill>
                <a:latin typeface="Arial"/>
              </a:rPr>
              <a:t> plus an offload folder on the AI SSD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30000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PLANNED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60000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FC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" rIns="274320" bIns="22860" rtlCol="0" anchor="ctr"/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D9501A"/>
                </a:solidFill>
                <a:latin typeface="Arial"/>
              </a:rPr>
              <a:t>Order: 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validate</a:t>
            </a:r>
            <a:r>
              <a:rPr lang="en-US" sz="1300" b="0" dirty="0">
                <a:solidFill>
                  <a:srgbClr val="5F6168"/>
                </a:solidFill>
                <a:latin typeface="Arial"/>
              </a:rPr>
              <a:t> and benchmark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 retrieval inside Onyx first, then bring </a:t>
            </a:r>
            <a:r>
              <a:rPr sz="1300" b="0" dirty="0" err="1">
                <a:solidFill>
                  <a:srgbClr val="5F6168"/>
                </a:solidFill>
                <a:latin typeface="Arial"/>
              </a:rPr>
              <a:t>LibreChat</a:t>
            </a:r>
            <a:r>
              <a:rPr sz="1300" b="0" dirty="0">
                <a:solidFill>
                  <a:srgbClr val="5F6168"/>
                </a:solidFill>
                <a:latin typeface="Arial"/>
              </a:rPr>
              <a:t> onto the same reuse path and roll it out to the remaining apps.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2055</Words>
  <Application>Microsoft Office PowerPoint</Application>
  <PresentationFormat>Widescreen</PresentationFormat>
  <Paragraphs>293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Ganapathy K H</cp:lastModifiedBy>
  <cp:revision>18</cp:revision>
  <dcterms:created xsi:type="dcterms:W3CDTF">2013-01-27T09:14:16Z</dcterms:created>
  <dcterms:modified xsi:type="dcterms:W3CDTF">2026-09-18T07:01:39Z</dcterms:modified>
  <cp:category/>
</cp:coreProperties>
</file>