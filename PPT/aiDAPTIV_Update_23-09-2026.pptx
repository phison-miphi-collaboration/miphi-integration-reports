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Without aiDAPTIV+</c:v>
                </c:pt>
              </c:strCache>
            </c:strRef>
          </c:tx>
          <c:spPr>
            <a:solidFill>
              <a:srgbClr val="9A9CA3"/>
            </a:solidFill>
            <a:effectLst/>
          </c:spPr>
          <c:invertIfNegative val="0"/>
          <c:dLbls>
            <c:numFmt formatCode="0.0" sourceLinked="0"/>
            <c:spPr>
              <a:noFill/>
              <a:ln>
                <a:noFill/>
              </a:ln>
              <a:effectLst/>
            </c:spPr>
            <c:txPr>
              <a:bodyPr/>
              <a:lstStyle/>
              <a:p>
                <a:pPr>
                  <a:defRPr sz="900" b="0" i="0" u="none" strike="noStrike">
                    <a:solidFill>
                      <a:srgbClr val="1A1A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8K</c:v>
                </c:pt>
                <c:pt idx="1">
                  <c:v>10K</c:v>
                </c:pt>
                <c:pt idx="2">
                  <c:v>13K</c:v>
                </c:pt>
              </c:strCache>
            </c:strRef>
          </c:cat>
          <c:val>
            <c:numRef>
              <c:f>Sheet1!$B$2:$B$4</c:f>
              <c:numCache>
                <c:formatCode>General</c:formatCode>
                <c:ptCount val="3"/>
                <c:pt idx="0">
                  <c:v>184.04</c:v>
                </c:pt>
                <c:pt idx="1">
                  <c:v>232.68</c:v>
                </c:pt>
                <c:pt idx="2">
                  <c:v>271.86</c:v>
                </c:pt>
              </c:numCache>
            </c:numRef>
          </c:val>
          <c:extLst>
            <c:ext xmlns:c16="http://schemas.microsoft.com/office/drawing/2014/chart" uri="{C3380CC4-5D6E-409C-BE32-E72D297353CC}">
              <c16:uniqueId val="{00000000-2CC5-43BA-B94E-027BC396ACCF}"/>
            </c:ext>
          </c:extLst>
        </c:ser>
        <c:ser>
          <c:idx val="1"/>
          <c:order val="1"/>
          <c:tx>
            <c:strRef>
              <c:f>Sheet1!$C$1</c:f>
              <c:strCache>
                <c:ptCount val="1"/>
                <c:pt idx="0">
                  <c:v>With aiDAPTIV+ — first run</c:v>
                </c:pt>
              </c:strCache>
            </c:strRef>
          </c:tx>
          <c:spPr>
            <a:solidFill>
              <a:srgbClr val="F9A11B"/>
            </a:solidFill>
            <a:effectLst/>
          </c:spPr>
          <c:invertIfNegative val="0"/>
          <c:dLbls>
            <c:numFmt formatCode="0.0" sourceLinked="0"/>
            <c:spPr>
              <a:noFill/>
              <a:ln>
                <a:noFill/>
              </a:ln>
              <a:effectLst/>
            </c:spPr>
            <c:txPr>
              <a:bodyPr/>
              <a:lstStyle/>
              <a:p>
                <a:pPr>
                  <a:defRPr sz="900" b="0" i="0" u="none" strike="noStrike">
                    <a:solidFill>
                      <a:srgbClr val="1A1A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8K</c:v>
                </c:pt>
                <c:pt idx="1">
                  <c:v>10K</c:v>
                </c:pt>
                <c:pt idx="2">
                  <c:v>13K</c:v>
                </c:pt>
              </c:strCache>
            </c:strRef>
          </c:cat>
          <c:val>
            <c:numRef>
              <c:f>Sheet1!$C$2:$C$4</c:f>
              <c:numCache>
                <c:formatCode>General</c:formatCode>
                <c:ptCount val="3"/>
                <c:pt idx="0">
                  <c:v>89.74</c:v>
                </c:pt>
                <c:pt idx="1">
                  <c:v>125.88</c:v>
                </c:pt>
                <c:pt idx="2">
                  <c:v>152.85</c:v>
                </c:pt>
              </c:numCache>
            </c:numRef>
          </c:val>
          <c:extLst>
            <c:ext xmlns:c16="http://schemas.microsoft.com/office/drawing/2014/chart" uri="{C3380CC4-5D6E-409C-BE32-E72D297353CC}">
              <c16:uniqueId val="{00000001-2CC5-43BA-B94E-027BC396ACCF}"/>
            </c:ext>
          </c:extLst>
        </c:ser>
        <c:ser>
          <c:idx val="2"/>
          <c:order val="2"/>
          <c:tx>
            <c:strRef>
              <c:f>Sheet1!$D$1</c:f>
              <c:strCache>
                <c:ptCount val="1"/>
                <c:pt idx="0">
                  <c:v>With aiDAPTIV+ — repeat run</c:v>
                </c:pt>
              </c:strCache>
            </c:strRef>
          </c:tx>
          <c:spPr>
            <a:solidFill>
              <a:srgbClr val="F26522"/>
            </a:solidFill>
            <a:effectLst/>
          </c:spPr>
          <c:invertIfNegative val="0"/>
          <c:dLbls>
            <c:numFmt formatCode="0.0" sourceLinked="0"/>
            <c:spPr>
              <a:noFill/>
              <a:ln>
                <a:noFill/>
              </a:ln>
              <a:effectLst/>
            </c:spPr>
            <c:txPr>
              <a:bodyPr/>
              <a:lstStyle/>
              <a:p>
                <a:pPr>
                  <a:defRPr sz="900" b="0" i="0" u="none" strike="noStrike">
                    <a:solidFill>
                      <a:srgbClr val="1A1A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8K</c:v>
                </c:pt>
                <c:pt idx="1">
                  <c:v>10K</c:v>
                </c:pt>
                <c:pt idx="2">
                  <c:v>13K</c:v>
                </c:pt>
              </c:strCache>
            </c:strRef>
          </c:cat>
          <c:val>
            <c:numRef>
              <c:f>Sheet1!$D$2:$D$4</c:f>
              <c:numCache>
                <c:formatCode>General</c:formatCode>
                <c:ptCount val="3"/>
                <c:pt idx="0">
                  <c:v>0.88</c:v>
                </c:pt>
                <c:pt idx="1">
                  <c:v>1.97</c:v>
                </c:pt>
                <c:pt idx="2">
                  <c:v>1.26</c:v>
                </c:pt>
              </c:numCache>
            </c:numRef>
          </c:val>
          <c:extLst>
            <c:ext xmlns:c16="http://schemas.microsoft.com/office/drawing/2014/chart" uri="{C3380CC4-5D6E-409C-BE32-E72D297353CC}">
              <c16:uniqueId val="{00000002-2CC5-43BA-B94E-027BC396ACC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1DA"/>
              </a:solidFill>
              <a:prstDash val="solid"/>
              <a:round/>
            </a:ln>
          </c:spPr>
        </c:majorGridlines>
        <c:title>
          <c:tx>
            <c:rich>
              <a:bodyPr/>
              <a:lstStyle/>
              <a:p>
                <a:pPr>
                  <a:defRPr sz="900" b="0" i="0" u="none" strike="noStrike">
                    <a:solidFill>
                      <a:srgbClr val="9A9CA3"/>
                    </a:solidFill>
                    <a:latin typeface="Arial"/>
                  </a:defRPr>
                </a:pPr>
                <a:r>
                  <a:rPr lang="en-US" sz="900" b="0" i="0" u="none" strike="noStrike">
                    <a:solidFill>
                      <a:srgbClr val="9A9CA3"/>
                    </a:solidFill>
                    <a:latin typeface="Arial"/>
                  </a:rPr>
                  <a:t>prefill time (seconds)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9CA3"/>
                </a:solidFill>
                <a:latin typeface="Arial"/>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t"/>
      <c:overlay val="0"/>
      <c:txPr>
        <a:bodyPr/>
        <a:lstStyle/>
        <a:p>
          <a:pPr>
            <a:defRPr sz="1000">
              <a:solidFill>
                <a:srgbClr val="5F616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2375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 this deck are parsed from the llama-server logs in the Onyx_Benchmarking Drive folder (With_aiDAPTIV / Without_aiDAPTIV, 8K / 10K / 13K).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last week = KV cache reuse proven. This week = measured across context lengths with a like-for-like control.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216x at 13K on a repeat query, and 2.05x on the cold run at 8K from MoE expert offload alone. Every figure is one named log file, not an average.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Stress that the prompt files were byte-identical between the two stacks.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files under Prompt/ are identical between With_aiDAPTIV and Without_aiDAPTIV - verified by diff.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up the results. Without = no cache, full prefill every time. Cold = cache empty, still gains 1.8x from MoE expert offload, then saves to SSD. Repeat = prefix read back, only the new question tokens are prefilled. The 8K cache survived overnight and a server restart.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8K: 184.0s -&gt; 0.88s. 10K: 232.7s -&gt; 1.97s. 13K: 271.9s -&gt; 1.26s. Cold-run gain (2.05x/1.85x/1.78x) comes from MoE expert offload, before any cache reuse. If asked why 10K shows a smaller repeat speedup: its question was 18 new tokens against 4 and 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Repeat-run bars are 0.88 / 1.97 / 1.26 s - too small to see at this scale, which is the point. All six bars are single named log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295.8 s vs 19.5 s for the same query and the same 156 generated tokens.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in the Onyx_Benchmarking Drive folder: Logs, Prompt and Videos, split With_aiDAPTIV / Without_aiDAPTIV.</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manual filename and the Drive link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is LibreChat integration with aiDAPTIV+. If the integration works, we repeat this same benchmark on LibreChat: 8K, 10K and 13K, with and without.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C"/>
        </a:solidFill>
        <a:effectLst/>
      </p:bgPr>
    </p:bg>
    <p:spTree>
      <p:nvGrpSpPr>
        <p:cNvPr id="1" name=""/>
        <p:cNvGrpSpPr/>
        <p:nvPr/>
      </p:nvGrpSpPr>
      <p:grpSpPr>
        <a:xfrm>
          <a:off x="0" y="0"/>
          <a:ext cx="0" cy="0"/>
          <a:chOff x="0" y="0"/>
          <a:chExt cx="0" cy="0"/>
        </a:xfrm>
      </p:grpSpPr>
      <p:sp>
        <p:nvSpPr>
          <p:cNvPr id="3" name="Text 0"/>
          <p:cNvSpPr txBox="1"/>
          <p:nvPr/>
        </p:nvSpPr>
        <p:spPr>
          <a:xfrm>
            <a:off x="731520" y="2148840"/>
            <a:ext cx="7132320" cy="274320"/>
          </a:xfrm>
          <a:prstGeom prst="rect">
            <a:avLst/>
          </a:prstGeom>
          <a:noFill/>
          <a:ln/>
        </p:spPr>
        <p:txBody>
          <a:bodyPr wrap="square" lIns="0" tIns="0" rIns="0" bIns="0" rtlCol="0" anchor="ctr"/>
          <a:lstStyle/>
          <a:p>
            <a:pPr marL="0" indent="0">
              <a:buNone/>
            </a:pPr>
            <a:r>
              <a:rPr lang="en-US" sz="1600" b="1" dirty="0">
                <a:solidFill>
                  <a:srgbClr val="F9A11B"/>
                </a:solidFill>
                <a:latin typeface="Arial" pitchFamily="34" charset="0"/>
                <a:ea typeface="Arial" pitchFamily="34" charset="-122"/>
                <a:cs typeface="Arial" pitchFamily="34" charset="-120"/>
              </a:rPr>
              <a:t>WEEKLY UPDATE  ·  23 SEPTEMBER 2026</a:t>
            </a:r>
            <a:endParaRPr lang="en-US" sz="1600" dirty="0"/>
          </a:p>
        </p:txBody>
      </p:sp>
      <p:sp>
        <p:nvSpPr>
          <p:cNvPr id="4" name="Text 1"/>
          <p:cNvSpPr txBox="1"/>
          <p:nvPr/>
        </p:nvSpPr>
        <p:spPr>
          <a:xfrm>
            <a:off x="731520" y="2560320"/>
            <a:ext cx="7132320" cy="16459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RAG Retrieval on aiDAPTIV+</a:t>
            </a:r>
            <a:endParaRPr lang="en-US" sz="4600" dirty="0"/>
          </a:p>
        </p:txBody>
      </p:sp>
      <p:sp>
        <p:nvSpPr>
          <p:cNvPr id="5" name="Text 2"/>
          <p:cNvSpPr txBox="1"/>
          <p:nvPr/>
        </p:nvSpPr>
        <p:spPr>
          <a:xfrm>
            <a:off x="731520" y="4370832"/>
            <a:ext cx="6766560" cy="1097280"/>
          </a:xfrm>
          <a:prstGeom prst="rect">
            <a:avLst/>
          </a:prstGeom>
          <a:noFill/>
          <a:ln/>
        </p:spPr>
        <p:txBody>
          <a:bodyPr wrap="square" lIns="0" tIns="0" rIns="0" bIns="0" rtlCol="0" anchor="ctr"/>
          <a:lstStyle/>
          <a:p>
            <a:pPr marL="0" indent="0">
              <a:lnSpc>
                <a:spcPct val="125000"/>
              </a:lnSpc>
              <a:buNone/>
            </a:pPr>
            <a:r>
              <a:rPr lang="en-US" sz="1800" dirty="0">
                <a:solidFill>
                  <a:srgbClr val="C9CAD0"/>
                </a:solidFill>
                <a:latin typeface="Arial" pitchFamily="34" charset="0"/>
                <a:ea typeface="Arial" pitchFamily="34" charset="-122"/>
                <a:cs typeface="Arial" pitchFamily="34" charset="-120"/>
              </a:rPr>
              <a:t>RAG retrieval benchmarked through Onyx at 8K, 10K and 13K tokens, with and without aiDAPTIV+. A 13K-token query that takes 4 min 32 s to answer without aiDAPTIV+ comes back in 1.3 s </a:t>
            </a:r>
            <a:r>
              <a:rPr lang="en-US" dirty="0">
                <a:solidFill>
                  <a:srgbClr val="C9CAD0"/>
                </a:solidFill>
                <a:latin typeface="Arial" pitchFamily="34" charset="0"/>
                <a:ea typeface="Arial" pitchFamily="34" charset="-122"/>
                <a:cs typeface="Arial" pitchFamily="34" charset="-120"/>
              </a:rPr>
              <a:t>across server restarts</a:t>
            </a:r>
            <a:r>
              <a:rPr lang="en-US" sz="1800" dirty="0">
                <a:solidFill>
                  <a:srgbClr val="C9CAD0"/>
                </a:solidFill>
                <a:latin typeface="Arial" pitchFamily="34" charset="0"/>
                <a:ea typeface="Arial" pitchFamily="34" charset="-122"/>
                <a:cs typeface="Arial" pitchFamily="34" charset="-120"/>
              </a:rPr>
              <a:t>.</a:t>
            </a:r>
            <a:endParaRPr lang="en-US" sz="1800" dirty="0"/>
          </a:p>
        </p:txBody>
      </p:sp>
      <p:sp>
        <p:nvSpPr>
          <p:cNvPr id="6" name="Text 3"/>
          <p:cNvSpPr txBox="1"/>
          <p:nvPr/>
        </p:nvSpPr>
        <p:spPr>
          <a:xfrm>
            <a:off x="731520" y="5897880"/>
            <a:ext cx="7315200" cy="274320"/>
          </a:xfrm>
          <a:prstGeom prst="rect">
            <a:avLst/>
          </a:prstGeom>
          <a:noFill/>
          <a:ln/>
        </p:spPr>
        <p:txBody>
          <a:bodyPr wrap="square" lIns="0" tIns="0" rIns="0" bIns="0" rtlCol="0" anchor="ctr"/>
          <a:lstStyle/>
          <a:p>
            <a:pPr marL="0" indent="0">
              <a:buNone/>
            </a:pPr>
            <a:r>
              <a:rPr lang="en-US" sz="1100" dirty="0">
                <a:solidFill>
                  <a:srgbClr val="5F6168"/>
                </a:solidFill>
                <a:latin typeface="Arial" pitchFamily="34" charset="0"/>
                <a:ea typeface="Arial" pitchFamily="34" charset="-122"/>
                <a:cs typeface="Arial" pitchFamily="34" charset="-120"/>
              </a:rPr>
              <a:t>Model under test: gemma-4-26B-A4B-it-UD-Q4_K_M.gguf   ·   aiDAPTIV+ build NXWVB306.1 (b9568)</a:t>
            </a:r>
            <a:endParaRPr lang="en-US" sz="1100" dirty="0"/>
          </a:p>
        </p:txBody>
      </p:sp>
      <p:sp>
        <p:nvSpPr>
          <p:cNvPr id="7" name="Shape 4"/>
          <p:cNvSpPr/>
          <p:nvPr/>
        </p:nvSpPr>
        <p:spPr>
          <a:xfrm>
            <a:off x="8183880" y="1554480"/>
            <a:ext cx="3474720" cy="4480560"/>
          </a:xfrm>
          <a:prstGeom prst="roundRect">
            <a:avLst>
              <a:gd name="adj" fmla="val 1316"/>
            </a:avLst>
          </a:prstGeom>
          <a:solidFill>
            <a:srgbClr val="2A2A2E"/>
          </a:solidFill>
          <a:ln w="12700">
            <a:solidFill>
              <a:srgbClr val="3A3A40"/>
            </a:solidFill>
            <a:prstDash val="solid"/>
          </a:ln>
        </p:spPr>
        <p:txBody>
          <a:bodyPr/>
          <a:lstStyle/>
          <a:p>
            <a:endParaRPr lang="en-US"/>
          </a:p>
        </p:txBody>
      </p:sp>
      <p:sp>
        <p:nvSpPr>
          <p:cNvPr id="8" name="Text 5"/>
          <p:cNvSpPr txBox="1"/>
          <p:nvPr/>
        </p:nvSpPr>
        <p:spPr>
          <a:xfrm>
            <a:off x="8503920" y="1783080"/>
            <a:ext cx="2926080" cy="274320"/>
          </a:xfrm>
          <a:prstGeom prst="rect">
            <a:avLst/>
          </a:prstGeom>
          <a:noFill/>
          <a:ln/>
        </p:spPr>
        <p:txBody>
          <a:bodyPr wrap="square" lIns="0" tIns="0" rIns="0" bIns="0" rtlCol="0" anchor="ctr"/>
          <a:lstStyle/>
          <a:p>
            <a:pPr marL="0" indent="0">
              <a:buNone/>
            </a:pPr>
            <a:r>
              <a:rPr lang="en-US" sz="1100" b="1" dirty="0">
                <a:solidFill>
                  <a:srgbClr val="9A9CA3"/>
                </a:solidFill>
                <a:latin typeface="Arial" pitchFamily="34" charset="0"/>
                <a:ea typeface="Arial" pitchFamily="34" charset="-122"/>
                <a:cs typeface="Arial" pitchFamily="34" charset="-120"/>
              </a:rPr>
              <a:t>21 — 23 SEPTEMBER</a:t>
            </a:r>
            <a:endParaRPr lang="en-US" sz="1100" dirty="0"/>
          </a:p>
        </p:txBody>
      </p:sp>
      <p:sp>
        <p:nvSpPr>
          <p:cNvPr id="9" name="Shape 6"/>
          <p:cNvSpPr/>
          <p:nvPr/>
        </p:nvSpPr>
        <p:spPr>
          <a:xfrm>
            <a:off x="8503920" y="2194560"/>
            <a:ext cx="329184" cy="329184"/>
          </a:xfrm>
          <a:prstGeom prst="ellipse">
            <a:avLst/>
          </a:prstGeom>
          <a:solidFill>
            <a:srgbClr val="1E8E3E"/>
          </a:solidFill>
          <a:ln w="12700">
            <a:solidFill>
              <a:srgbClr val="1E8E3E"/>
            </a:solidFill>
            <a:prstDash val="solid"/>
          </a:ln>
        </p:spPr>
        <p:txBody>
          <a:bodyPr/>
          <a:lstStyle/>
          <a:p>
            <a:endParaRPr lang="en-US"/>
          </a:p>
        </p:txBody>
      </p:sp>
      <p:sp>
        <p:nvSpPr>
          <p:cNvPr id="10" name="Text 7"/>
          <p:cNvSpPr txBox="1"/>
          <p:nvPr/>
        </p:nvSpPr>
        <p:spPr>
          <a:xfrm>
            <a:off x="8503920" y="21945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1" name="Text 8"/>
          <p:cNvSpPr txBox="1"/>
          <p:nvPr/>
        </p:nvSpPr>
        <p:spPr>
          <a:xfrm>
            <a:off x="9006840" y="2231136"/>
            <a:ext cx="2560320" cy="3200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RAG retrieval verified in Onyx</a:t>
            </a:r>
            <a:endParaRPr lang="en-US" sz="1200" dirty="0"/>
          </a:p>
        </p:txBody>
      </p:sp>
      <p:sp>
        <p:nvSpPr>
          <p:cNvPr id="12" name="Shape 9"/>
          <p:cNvSpPr/>
          <p:nvPr/>
        </p:nvSpPr>
        <p:spPr>
          <a:xfrm>
            <a:off x="8503920" y="2798064"/>
            <a:ext cx="329184" cy="329184"/>
          </a:xfrm>
          <a:prstGeom prst="ellipse">
            <a:avLst/>
          </a:prstGeom>
          <a:solidFill>
            <a:srgbClr val="1E8E3E"/>
          </a:solidFill>
          <a:ln w="12700">
            <a:solidFill>
              <a:srgbClr val="1E8E3E"/>
            </a:solidFill>
            <a:prstDash val="solid"/>
          </a:ln>
        </p:spPr>
        <p:txBody>
          <a:bodyPr/>
          <a:lstStyle/>
          <a:p>
            <a:endParaRPr lang="en-US"/>
          </a:p>
        </p:txBody>
      </p:sp>
      <p:sp>
        <p:nvSpPr>
          <p:cNvPr id="13" name="Text 10"/>
          <p:cNvSpPr txBox="1"/>
          <p:nvPr/>
        </p:nvSpPr>
        <p:spPr>
          <a:xfrm>
            <a:off x="8503920" y="27980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4" name="Text 11"/>
          <p:cNvSpPr txBox="1"/>
          <p:nvPr/>
        </p:nvSpPr>
        <p:spPr>
          <a:xfrm>
            <a:off x="9006840" y="2834640"/>
            <a:ext cx="2560320" cy="3200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Benchmarked at 8K / 10K / 13K</a:t>
            </a:r>
            <a:endParaRPr lang="en-US" sz="1200" dirty="0"/>
          </a:p>
        </p:txBody>
      </p:sp>
      <p:sp>
        <p:nvSpPr>
          <p:cNvPr id="15" name="Shape 12"/>
          <p:cNvSpPr/>
          <p:nvPr/>
        </p:nvSpPr>
        <p:spPr>
          <a:xfrm>
            <a:off x="8503920" y="3401568"/>
            <a:ext cx="329184" cy="329184"/>
          </a:xfrm>
          <a:prstGeom prst="ellipse">
            <a:avLst/>
          </a:prstGeom>
          <a:solidFill>
            <a:srgbClr val="1E8E3E"/>
          </a:solidFill>
          <a:ln w="12700">
            <a:solidFill>
              <a:srgbClr val="1E8E3E"/>
            </a:solidFill>
            <a:prstDash val="solid"/>
          </a:ln>
        </p:spPr>
        <p:txBody>
          <a:bodyPr/>
          <a:lstStyle/>
          <a:p>
            <a:endParaRPr lang="en-US"/>
          </a:p>
        </p:txBody>
      </p:sp>
      <p:sp>
        <p:nvSpPr>
          <p:cNvPr id="16" name="Text 13"/>
          <p:cNvSpPr txBox="1"/>
          <p:nvPr/>
        </p:nvSpPr>
        <p:spPr>
          <a:xfrm>
            <a:off x="8503920" y="34015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7" name="Text 14"/>
          <p:cNvSpPr txBox="1"/>
          <p:nvPr/>
        </p:nvSpPr>
        <p:spPr>
          <a:xfrm>
            <a:off x="9006840" y="3438144"/>
            <a:ext cx="2560320" cy="3200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With vs. without aiDAPTIV+</a:t>
            </a:r>
            <a:endParaRPr lang="en-US" sz="1200" dirty="0"/>
          </a:p>
        </p:txBody>
      </p:sp>
      <p:sp>
        <p:nvSpPr>
          <p:cNvPr id="18" name="Shape 15"/>
          <p:cNvSpPr/>
          <p:nvPr/>
        </p:nvSpPr>
        <p:spPr>
          <a:xfrm>
            <a:off x="8503920" y="4005072"/>
            <a:ext cx="329184" cy="329184"/>
          </a:xfrm>
          <a:prstGeom prst="ellipse">
            <a:avLst/>
          </a:prstGeom>
          <a:solidFill>
            <a:srgbClr val="1E8E3E"/>
          </a:solidFill>
          <a:ln w="12700">
            <a:solidFill>
              <a:srgbClr val="1E8E3E"/>
            </a:solidFill>
            <a:prstDash val="solid"/>
          </a:ln>
        </p:spPr>
        <p:txBody>
          <a:bodyPr/>
          <a:lstStyle/>
          <a:p>
            <a:endParaRPr lang="en-US"/>
          </a:p>
        </p:txBody>
      </p:sp>
      <p:sp>
        <p:nvSpPr>
          <p:cNvPr id="19" name="Text 16"/>
          <p:cNvSpPr txBox="1"/>
          <p:nvPr/>
        </p:nvSpPr>
        <p:spPr>
          <a:xfrm>
            <a:off x="8503920" y="40050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0" name="Text 17"/>
          <p:cNvSpPr txBox="1"/>
          <p:nvPr/>
        </p:nvSpPr>
        <p:spPr>
          <a:xfrm>
            <a:off x="9006840" y="4041648"/>
            <a:ext cx="2560320" cy="3200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User manual written</a:t>
            </a:r>
            <a:endParaRPr lang="en-US" sz="1200" dirty="0"/>
          </a:p>
        </p:txBody>
      </p:sp>
      <p:sp>
        <p:nvSpPr>
          <p:cNvPr id="21" name="Shape 18"/>
          <p:cNvSpPr/>
          <p:nvPr/>
        </p:nvSpPr>
        <p:spPr>
          <a:xfrm>
            <a:off x="8503920" y="4608576"/>
            <a:ext cx="329184" cy="329184"/>
          </a:xfrm>
          <a:prstGeom prst="ellipse">
            <a:avLst/>
          </a:prstGeom>
          <a:solidFill>
            <a:srgbClr val="1E8E3E"/>
          </a:solidFill>
          <a:ln w="12700">
            <a:solidFill>
              <a:srgbClr val="1E8E3E"/>
            </a:solidFill>
            <a:prstDash val="solid"/>
          </a:ln>
        </p:spPr>
        <p:txBody>
          <a:bodyPr/>
          <a:lstStyle/>
          <a:p>
            <a:endParaRPr lang="en-US"/>
          </a:p>
        </p:txBody>
      </p:sp>
      <p:sp>
        <p:nvSpPr>
          <p:cNvPr id="22" name="Text 19"/>
          <p:cNvSpPr txBox="1"/>
          <p:nvPr/>
        </p:nvSpPr>
        <p:spPr>
          <a:xfrm>
            <a:off x="8503920"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0"/>
          <p:cNvSpPr txBox="1"/>
          <p:nvPr/>
        </p:nvSpPr>
        <p:spPr>
          <a:xfrm>
            <a:off x="9006840" y="4645152"/>
            <a:ext cx="2560320" cy="3200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Demo videos recorded</a:t>
            </a:r>
            <a:endParaRPr lang="en-US" sz="1200" dirty="0"/>
          </a:p>
        </p:txBody>
      </p:sp>
      <p:sp>
        <p:nvSpPr>
          <p:cNvPr id="24" name="Shape 21"/>
          <p:cNvSpPr/>
          <p:nvPr/>
        </p:nvSpPr>
        <p:spPr>
          <a:xfrm>
            <a:off x="8503920" y="5212080"/>
            <a:ext cx="329184" cy="329184"/>
          </a:xfrm>
          <a:prstGeom prst="ellipse">
            <a:avLst/>
          </a:prstGeom>
          <a:solidFill>
            <a:srgbClr val="F26522"/>
          </a:solidFill>
          <a:ln w="12700">
            <a:solidFill>
              <a:srgbClr val="F26522"/>
            </a:solidFill>
            <a:prstDash val="solid"/>
          </a:ln>
        </p:spPr>
        <p:txBody>
          <a:bodyPr/>
          <a:lstStyle/>
          <a:p>
            <a:endParaRPr lang="en-US"/>
          </a:p>
        </p:txBody>
      </p:sp>
      <p:sp>
        <p:nvSpPr>
          <p:cNvPr id="25" name="Text 22"/>
          <p:cNvSpPr txBox="1"/>
          <p:nvPr/>
        </p:nvSpPr>
        <p:spPr>
          <a:xfrm>
            <a:off x="8503920" y="52120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6" name="Text 23"/>
          <p:cNvSpPr txBox="1"/>
          <p:nvPr/>
        </p:nvSpPr>
        <p:spPr>
          <a:xfrm>
            <a:off x="9006840" y="5248656"/>
            <a:ext cx="2560320" cy="320040"/>
          </a:xfrm>
          <a:prstGeom prst="rect">
            <a:avLst/>
          </a:prstGeom>
          <a:noFill/>
          <a:ln/>
        </p:spPr>
        <p:txBody>
          <a:bodyPr wrap="square" lIns="0" tIns="0" rIns="0" bIns="0" rtlCol="0" anchor="ctr"/>
          <a:lstStyle/>
          <a:p>
            <a:pPr marL="0" indent="0">
              <a:buNone/>
            </a:pPr>
            <a:r>
              <a:rPr lang="en-US" sz="1200" b="1" dirty="0">
                <a:solidFill>
                  <a:srgbClr val="F9A11B"/>
                </a:solidFill>
                <a:latin typeface="Arial" pitchFamily="34" charset="0"/>
                <a:ea typeface="Arial" pitchFamily="34" charset="-122"/>
                <a:cs typeface="Arial" pitchFamily="34" charset="-120"/>
              </a:rPr>
              <a:t>LibreChat integration</a:t>
            </a:r>
            <a:endParaRPr lang="en-US" sz="1200" dirty="0"/>
          </a:p>
        </p:txBody>
      </p:sp>
      <p:pic>
        <p:nvPicPr>
          <p:cNvPr id="27" name="Image 1" descr="assets/gradbar.png"/>
          <p:cNvPicPr>
            <a:picLocks noChangeAspect="1"/>
          </p:cNvPicPr>
          <p:nvPr/>
        </p:nvPicPr>
        <p:blipFill>
          <a:blip r:embed="rId3"/>
          <a:stretch>
            <a:fillRect/>
          </a:stretch>
        </p:blipFill>
        <p:spPr>
          <a:xfrm>
            <a:off x="0" y="6729984"/>
            <a:ext cx="12191695" cy="128016"/>
          </a:xfrm>
          <a:prstGeom prst="rect">
            <a:avLst/>
          </a:prstGeom>
        </p:spPr>
      </p:pic>
      <p:pic>
        <p:nvPicPr>
          <p:cNvPr id="29" name="Image 0" descr="assets/logo_dark.png">
            <a:extLst>
              <a:ext uri="{FF2B5EF4-FFF2-40B4-BE49-F238E27FC236}">
                <a16:creationId xmlns:a16="http://schemas.microsoft.com/office/drawing/2014/main" id="{D95778F5-C97F-5D82-2C25-E950AEE26464}"/>
              </a:ext>
            </a:extLst>
          </p:cNvPr>
          <p:cNvPicPr>
            <a:picLocks noChangeAspect="1"/>
          </p:cNvPicPr>
          <p:nvPr/>
        </p:nvPicPr>
        <p:blipFill>
          <a:blip r:embed="rId4"/>
          <a:stretch>
            <a:fillRect/>
          </a:stretch>
        </p:blipFill>
        <p:spPr>
          <a:xfrm>
            <a:off x="731519" y="502919"/>
            <a:ext cx="2173979" cy="7737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RECAP · BEFORE 21 SEP</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Where we were, and what this week adds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2</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81328"/>
            <a:ext cx="5486400" cy="3401568"/>
          </a:xfrm>
          <a:prstGeom prst="roundRect">
            <a:avLst>
              <a:gd name="adj" fmla="val 2151"/>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481328"/>
            <a:ext cx="5486400" cy="64008"/>
          </a:xfrm>
          <a:prstGeom prst="rect">
            <a:avLst/>
          </a:prstGeom>
          <a:solidFill>
            <a:srgbClr val="1E8E3E"/>
          </a:solidFill>
          <a:ln w="12700">
            <a:solidFill>
              <a:srgbClr val="1E8E3E"/>
            </a:solidFill>
            <a:prstDash val="solid"/>
          </a:ln>
        </p:spPr>
        <p:txBody>
          <a:bodyPr/>
          <a:lstStyle/>
          <a:p>
            <a:endParaRPr lang="en-US"/>
          </a:p>
        </p:txBody>
      </p:sp>
      <p:sp>
        <p:nvSpPr>
          <p:cNvPr id="12" name="Text 8"/>
          <p:cNvSpPr txBox="1"/>
          <p:nvPr/>
        </p:nvSpPr>
        <p:spPr>
          <a:xfrm>
            <a:off x="868680" y="1709928"/>
            <a:ext cx="4846320" cy="274320"/>
          </a:xfrm>
          <a:prstGeom prst="rect">
            <a:avLst/>
          </a:prstGeom>
          <a:noFill/>
          <a:ln/>
        </p:spPr>
        <p:txBody>
          <a:bodyPr wrap="square" lIns="0" tIns="0" rIns="0" bIns="0" rtlCol="0" anchor="ctr"/>
          <a:lstStyle/>
          <a:p>
            <a:pPr marL="0" indent="0">
              <a:buNone/>
            </a:pPr>
            <a:r>
              <a:rPr lang="en-US" sz="1100" b="1" dirty="0">
                <a:solidFill>
                  <a:srgbClr val="1E8E3E"/>
                </a:solidFill>
                <a:latin typeface="Arial" pitchFamily="34" charset="0"/>
                <a:ea typeface="Arial" pitchFamily="34" charset="-122"/>
                <a:cs typeface="Arial" pitchFamily="34" charset="-120"/>
              </a:rPr>
              <a:t>LAST WEEK  ·  COMPLETED</a:t>
            </a:r>
            <a:endParaRPr lang="en-US" sz="1100" dirty="0"/>
          </a:p>
        </p:txBody>
      </p:sp>
      <p:sp>
        <p:nvSpPr>
          <p:cNvPr id="13" name="Text 9"/>
          <p:cNvSpPr txBox="1"/>
          <p:nvPr/>
        </p:nvSpPr>
        <p:spPr>
          <a:xfrm>
            <a:off x="868680" y="1965960"/>
            <a:ext cx="4846320" cy="36576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KV cache reuse proven, then wired into Onyx</a:t>
            </a:r>
            <a:endParaRPr lang="en-US" sz="1400" dirty="0"/>
          </a:p>
        </p:txBody>
      </p:sp>
      <p:sp>
        <p:nvSpPr>
          <p:cNvPr id="14" name="Shape 10"/>
          <p:cNvSpPr/>
          <p:nvPr/>
        </p:nvSpPr>
        <p:spPr>
          <a:xfrm>
            <a:off x="868680" y="2450592"/>
            <a:ext cx="2331720" cy="402336"/>
          </a:xfrm>
          <a:prstGeom prst="roundRect">
            <a:avLst>
              <a:gd name="adj" fmla="val 40909"/>
            </a:avLst>
          </a:prstGeom>
          <a:solidFill>
            <a:srgbClr val="FFFFFF"/>
          </a:solidFill>
          <a:ln w="12700">
            <a:solidFill>
              <a:srgbClr val="E4E1DA"/>
            </a:solidFill>
            <a:prstDash val="solid"/>
          </a:ln>
        </p:spPr>
        <p:txBody>
          <a:bodyPr/>
          <a:lstStyle/>
          <a:p>
            <a:endParaRPr lang="en-US"/>
          </a:p>
        </p:txBody>
      </p:sp>
      <p:sp>
        <p:nvSpPr>
          <p:cNvPr id="15" name="Text 11"/>
          <p:cNvSpPr txBox="1"/>
          <p:nvPr/>
        </p:nvSpPr>
        <p:spPr>
          <a:xfrm>
            <a:off x="1005840" y="2450592"/>
            <a:ext cx="2057400" cy="402336"/>
          </a:xfrm>
          <a:prstGeom prst="rect">
            <a:avLst/>
          </a:prstGeom>
          <a:noFill/>
          <a:ln/>
        </p:spPr>
        <p:txBody>
          <a:bodyPr wrap="square" lIns="0" tIns="0" rIns="0" bIns="0" rtlCol="0" anchor="ctr"/>
          <a:lstStyle/>
          <a:p>
            <a:pPr marL="0" indent="0">
              <a:buNone/>
            </a:pPr>
            <a:r>
              <a:rPr lang="en-US" sz="1100" b="1" dirty="0">
                <a:solidFill>
                  <a:srgbClr val="1E8E3E"/>
                </a:solidFill>
                <a:latin typeface="Arial" pitchFamily="34" charset="0"/>
                <a:ea typeface="Arial" pitchFamily="34" charset="-122"/>
                <a:cs typeface="Arial" pitchFamily="34" charset="-120"/>
              </a:rPr>
              <a:t>✓   </a:t>
            </a:r>
            <a:r>
              <a:rPr lang="en-US" sz="1150" b="1" dirty="0">
                <a:solidFill>
                  <a:srgbClr val="1A1A1C"/>
                </a:solidFill>
                <a:latin typeface="Arial" pitchFamily="34" charset="0"/>
                <a:ea typeface="Arial" pitchFamily="34" charset="-122"/>
                <a:cs typeface="Arial" pitchFamily="34" charset="-120"/>
              </a:rPr>
              <a:t>Middleware API</a:t>
            </a:r>
            <a:endParaRPr lang="en-US" sz="1100" dirty="0"/>
          </a:p>
        </p:txBody>
      </p:sp>
      <p:sp>
        <p:nvSpPr>
          <p:cNvPr id="16" name="Shape 12"/>
          <p:cNvSpPr/>
          <p:nvPr/>
        </p:nvSpPr>
        <p:spPr>
          <a:xfrm>
            <a:off x="3383280" y="2450592"/>
            <a:ext cx="2331720" cy="402336"/>
          </a:xfrm>
          <a:prstGeom prst="roundRect">
            <a:avLst>
              <a:gd name="adj" fmla="val 40909"/>
            </a:avLst>
          </a:prstGeom>
          <a:solidFill>
            <a:srgbClr val="FFFFFF"/>
          </a:solidFill>
          <a:ln w="12700">
            <a:solidFill>
              <a:srgbClr val="E4E1DA"/>
            </a:solidFill>
            <a:prstDash val="solid"/>
          </a:ln>
        </p:spPr>
        <p:txBody>
          <a:bodyPr/>
          <a:lstStyle/>
          <a:p>
            <a:endParaRPr lang="en-US"/>
          </a:p>
        </p:txBody>
      </p:sp>
      <p:sp>
        <p:nvSpPr>
          <p:cNvPr id="17" name="Text 13"/>
          <p:cNvSpPr txBox="1"/>
          <p:nvPr/>
        </p:nvSpPr>
        <p:spPr>
          <a:xfrm>
            <a:off x="3520440" y="2450592"/>
            <a:ext cx="2057400" cy="402336"/>
          </a:xfrm>
          <a:prstGeom prst="rect">
            <a:avLst/>
          </a:prstGeom>
          <a:noFill/>
          <a:ln/>
        </p:spPr>
        <p:txBody>
          <a:bodyPr wrap="square" lIns="0" tIns="0" rIns="0" bIns="0" rtlCol="0" anchor="ctr"/>
          <a:lstStyle/>
          <a:p>
            <a:pPr marL="0" indent="0">
              <a:buNone/>
            </a:pPr>
            <a:r>
              <a:rPr lang="en-US" sz="1100" b="1" dirty="0">
                <a:solidFill>
                  <a:srgbClr val="1E8E3E"/>
                </a:solidFill>
                <a:latin typeface="Arial" pitchFamily="34" charset="0"/>
                <a:ea typeface="Arial" pitchFamily="34" charset="-122"/>
                <a:cs typeface="Arial" pitchFamily="34" charset="-120"/>
              </a:rPr>
              <a:t>✓   </a:t>
            </a:r>
            <a:r>
              <a:rPr lang="en-US" sz="1150" b="1" dirty="0">
                <a:solidFill>
                  <a:srgbClr val="1A1A1C"/>
                </a:solidFill>
                <a:latin typeface="Arial" pitchFamily="34" charset="0"/>
                <a:ea typeface="Arial" pitchFamily="34" charset="-122"/>
                <a:cs typeface="Arial" pitchFamily="34" charset="-120"/>
              </a:rPr>
              <a:t>Onyx cache_prompt</a:t>
            </a:r>
            <a:endParaRPr lang="en-US" sz="1100" dirty="0"/>
          </a:p>
        </p:txBody>
      </p:sp>
      <p:sp>
        <p:nvSpPr>
          <p:cNvPr id="18" name="Shape 14"/>
          <p:cNvSpPr/>
          <p:nvPr/>
        </p:nvSpPr>
        <p:spPr>
          <a:xfrm>
            <a:off x="868680" y="2907792"/>
            <a:ext cx="2331720" cy="402336"/>
          </a:xfrm>
          <a:prstGeom prst="roundRect">
            <a:avLst>
              <a:gd name="adj" fmla="val 40909"/>
            </a:avLst>
          </a:prstGeom>
          <a:solidFill>
            <a:srgbClr val="FFFFFF"/>
          </a:solidFill>
          <a:ln w="12700">
            <a:solidFill>
              <a:srgbClr val="E4E1DA"/>
            </a:solidFill>
            <a:prstDash val="solid"/>
          </a:ln>
        </p:spPr>
        <p:txBody>
          <a:bodyPr/>
          <a:lstStyle/>
          <a:p>
            <a:endParaRPr lang="en-US"/>
          </a:p>
        </p:txBody>
      </p:sp>
      <p:sp>
        <p:nvSpPr>
          <p:cNvPr id="19" name="Text 15"/>
          <p:cNvSpPr txBox="1"/>
          <p:nvPr/>
        </p:nvSpPr>
        <p:spPr>
          <a:xfrm>
            <a:off x="1005840" y="2907792"/>
            <a:ext cx="2057400" cy="402336"/>
          </a:xfrm>
          <a:prstGeom prst="rect">
            <a:avLst/>
          </a:prstGeom>
          <a:noFill/>
          <a:ln/>
        </p:spPr>
        <p:txBody>
          <a:bodyPr wrap="square" lIns="0" tIns="0" rIns="0" bIns="0" rtlCol="0" anchor="ctr"/>
          <a:lstStyle/>
          <a:p>
            <a:pPr marL="0" indent="0">
              <a:buNone/>
            </a:pPr>
            <a:r>
              <a:rPr lang="en-US" sz="1100" b="1" dirty="0">
                <a:solidFill>
                  <a:srgbClr val="1E8E3E"/>
                </a:solidFill>
                <a:latin typeface="Arial" pitchFamily="34" charset="0"/>
                <a:ea typeface="Arial" pitchFamily="34" charset="-122"/>
                <a:cs typeface="Arial" pitchFamily="34" charset="-120"/>
              </a:rPr>
              <a:t>✓   </a:t>
            </a:r>
            <a:r>
              <a:rPr lang="en-US" sz="1150" b="1" dirty="0">
                <a:solidFill>
                  <a:srgbClr val="1A1A1C"/>
                </a:solidFill>
                <a:latin typeface="Arial" pitchFamily="34" charset="0"/>
                <a:ea typeface="Arial" pitchFamily="34" charset="-122"/>
                <a:cs typeface="Arial" pitchFamily="34" charset="-120"/>
              </a:rPr>
              <a:t>Restart survival</a:t>
            </a:r>
            <a:endParaRPr lang="en-US" sz="1100" dirty="0"/>
          </a:p>
        </p:txBody>
      </p:sp>
      <p:sp>
        <p:nvSpPr>
          <p:cNvPr id="20" name="Shape 16"/>
          <p:cNvSpPr/>
          <p:nvPr/>
        </p:nvSpPr>
        <p:spPr>
          <a:xfrm>
            <a:off x="3383280" y="2907792"/>
            <a:ext cx="2331720" cy="402336"/>
          </a:xfrm>
          <a:prstGeom prst="roundRect">
            <a:avLst>
              <a:gd name="adj" fmla="val 40909"/>
            </a:avLst>
          </a:prstGeom>
          <a:solidFill>
            <a:srgbClr val="FFFFFF"/>
          </a:solidFill>
          <a:ln w="12700">
            <a:solidFill>
              <a:srgbClr val="E4E1DA"/>
            </a:solidFill>
            <a:prstDash val="solid"/>
          </a:ln>
        </p:spPr>
        <p:txBody>
          <a:bodyPr/>
          <a:lstStyle/>
          <a:p>
            <a:endParaRPr lang="en-US"/>
          </a:p>
        </p:txBody>
      </p:sp>
      <p:sp>
        <p:nvSpPr>
          <p:cNvPr id="21" name="Text 17"/>
          <p:cNvSpPr txBox="1"/>
          <p:nvPr/>
        </p:nvSpPr>
        <p:spPr>
          <a:xfrm>
            <a:off x="3520440" y="2907792"/>
            <a:ext cx="2057400" cy="402336"/>
          </a:xfrm>
          <a:prstGeom prst="rect">
            <a:avLst/>
          </a:prstGeom>
          <a:noFill/>
          <a:ln/>
        </p:spPr>
        <p:txBody>
          <a:bodyPr wrap="square" lIns="0" tIns="0" rIns="0" bIns="0" rtlCol="0" anchor="ctr"/>
          <a:lstStyle/>
          <a:p>
            <a:pPr marL="0" indent="0">
              <a:buNone/>
            </a:pPr>
            <a:r>
              <a:rPr lang="en-US" sz="1100" b="1" dirty="0">
                <a:solidFill>
                  <a:srgbClr val="1E8E3E"/>
                </a:solidFill>
                <a:latin typeface="Arial" pitchFamily="34" charset="0"/>
                <a:ea typeface="Arial" pitchFamily="34" charset="-122"/>
                <a:cs typeface="Arial" pitchFamily="34" charset="-120"/>
              </a:rPr>
              <a:t>✓   </a:t>
            </a:r>
            <a:r>
              <a:rPr lang="en-US" sz="1150" b="1" dirty="0">
                <a:solidFill>
                  <a:srgbClr val="1A1A1C"/>
                </a:solidFill>
                <a:latin typeface="Arial" pitchFamily="34" charset="0"/>
                <a:ea typeface="Arial" pitchFamily="34" charset="-122"/>
                <a:cs typeface="Arial" pitchFamily="34" charset="-120"/>
              </a:rPr>
              <a:t>Document upload</a:t>
            </a:r>
            <a:endParaRPr lang="en-US" sz="1100" dirty="0"/>
          </a:p>
        </p:txBody>
      </p:sp>
      <p:sp>
        <p:nvSpPr>
          <p:cNvPr id="22" name="Shape 18"/>
          <p:cNvSpPr/>
          <p:nvPr/>
        </p:nvSpPr>
        <p:spPr>
          <a:xfrm>
            <a:off x="868680" y="3419856"/>
            <a:ext cx="4846320" cy="9144"/>
          </a:xfrm>
          <a:prstGeom prst="rect">
            <a:avLst/>
          </a:prstGeom>
          <a:solidFill>
            <a:srgbClr val="E4E1DA"/>
          </a:solidFill>
          <a:ln w="12700">
            <a:solidFill>
              <a:srgbClr val="E4E1DA"/>
            </a:solidFill>
            <a:prstDash val="solid"/>
          </a:ln>
        </p:spPr>
        <p:txBody>
          <a:bodyPr/>
          <a:lstStyle/>
          <a:p>
            <a:endParaRPr lang="en-US"/>
          </a:p>
        </p:txBody>
      </p:sp>
      <p:sp>
        <p:nvSpPr>
          <p:cNvPr id="23" name="Text 19"/>
          <p:cNvSpPr txBox="1"/>
          <p:nvPr/>
        </p:nvSpPr>
        <p:spPr>
          <a:xfrm>
            <a:off x="868680" y="3547872"/>
            <a:ext cx="4846320" cy="1188720"/>
          </a:xfrm>
          <a:prstGeom prst="rect">
            <a:avLst/>
          </a:prstGeom>
          <a:noFill/>
          <a:ln/>
        </p:spPr>
        <p:txBody>
          <a:bodyPr wrap="square" lIns="0" tIns="0" rIns="0" bIns="0" rtlCol="0" anchor="ctr"/>
          <a:lstStyle/>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10,272 of 10,274 tokens restored </a:t>
            </a:r>
            <a:r>
              <a:rPr lang="en-US" sz="1100" b="1" dirty="0">
                <a:solidFill>
                  <a:srgbClr val="1A1A1C"/>
                </a:solidFill>
                <a:latin typeface="Arial" pitchFamily="34" charset="0"/>
                <a:ea typeface="Arial" pitchFamily="34" charset="-122"/>
                <a:cs typeface="Arial" pitchFamily="34" charset="-120"/>
              </a:rPr>
              <a:t>after a full server restart</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Prefill </a:t>
            </a:r>
            <a:r>
              <a:rPr lang="en-US" sz="1100" b="1" dirty="0">
                <a:solidFill>
                  <a:srgbClr val="1A1A1C"/>
                </a:solidFill>
                <a:latin typeface="Arial" pitchFamily="34" charset="0"/>
                <a:ea typeface="Arial" pitchFamily="34" charset="-122"/>
                <a:cs typeface="Arial" pitchFamily="34" charset="-120"/>
              </a:rPr>
              <a:t>114× faster than the same prompt without aiDAPTIV+</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Uploaded document served from CACHE — </a:t>
            </a:r>
            <a:r>
              <a:rPr lang="en-US" sz="1100" b="1" dirty="0">
                <a:solidFill>
                  <a:srgbClr val="1A1A1C"/>
                </a:solidFill>
                <a:latin typeface="Arial" pitchFamily="34" charset="0"/>
                <a:ea typeface="Arial" pitchFamily="34" charset="-122"/>
                <a:cs typeface="Arial" pitchFamily="34" charset="-120"/>
              </a:rPr>
              <a:t>10,968 tokens</a:t>
            </a:r>
            <a:endParaRPr lang="en-US" sz="1100" dirty="0"/>
          </a:p>
        </p:txBody>
      </p:sp>
      <p:sp>
        <p:nvSpPr>
          <p:cNvPr id="24" name="Shape 20"/>
          <p:cNvSpPr/>
          <p:nvPr/>
        </p:nvSpPr>
        <p:spPr>
          <a:xfrm>
            <a:off x="6153912" y="2916936"/>
            <a:ext cx="429768" cy="384048"/>
          </a:xfrm>
          <a:prstGeom prst="rightArrow">
            <a:avLst/>
          </a:prstGeom>
          <a:solidFill>
            <a:srgbClr val="F26522"/>
          </a:solidFill>
          <a:ln w="12700">
            <a:solidFill>
              <a:srgbClr val="F26522"/>
            </a:solidFill>
            <a:prstDash val="solid"/>
          </a:ln>
        </p:spPr>
        <p:txBody>
          <a:bodyPr/>
          <a:lstStyle/>
          <a:p>
            <a:endParaRPr lang="en-US"/>
          </a:p>
        </p:txBody>
      </p:sp>
      <p:sp>
        <p:nvSpPr>
          <p:cNvPr id="25" name="Shape 21"/>
          <p:cNvSpPr/>
          <p:nvPr/>
        </p:nvSpPr>
        <p:spPr>
          <a:xfrm>
            <a:off x="6702552" y="1481328"/>
            <a:ext cx="4937760" cy="3401568"/>
          </a:xfrm>
          <a:prstGeom prst="roundRect">
            <a:avLst>
              <a:gd name="adj" fmla="val 2151"/>
            </a:avLst>
          </a:prstGeom>
          <a:solidFill>
            <a:srgbClr val="FAF9F6"/>
          </a:solidFill>
          <a:ln w="12700">
            <a:solidFill>
              <a:srgbClr val="E4E1DA"/>
            </a:solidFill>
            <a:prstDash val="solid"/>
          </a:ln>
        </p:spPr>
        <p:txBody>
          <a:bodyPr/>
          <a:lstStyle/>
          <a:p>
            <a:endParaRPr lang="en-US"/>
          </a:p>
        </p:txBody>
      </p:sp>
      <p:sp>
        <p:nvSpPr>
          <p:cNvPr id="26" name="Shape 22"/>
          <p:cNvSpPr/>
          <p:nvPr/>
        </p:nvSpPr>
        <p:spPr>
          <a:xfrm>
            <a:off x="6702552" y="1481328"/>
            <a:ext cx="4937760" cy="64008"/>
          </a:xfrm>
          <a:prstGeom prst="rect">
            <a:avLst/>
          </a:prstGeom>
          <a:solidFill>
            <a:srgbClr val="F26522"/>
          </a:solidFill>
          <a:ln w="12700">
            <a:solidFill>
              <a:srgbClr val="F26522"/>
            </a:solidFill>
            <a:prstDash val="solid"/>
          </a:ln>
        </p:spPr>
        <p:txBody>
          <a:bodyPr/>
          <a:lstStyle/>
          <a:p>
            <a:endParaRPr lang="en-US"/>
          </a:p>
        </p:txBody>
      </p:sp>
      <p:sp>
        <p:nvSpPr>
          <p:cNvPr id="27" name="Text 23"/>
          <p:cNvSpPr txBox="1"/>
          <p:nvPr/>
        </p:nvSpPr>
        <p:spPr>
          <a:xfrm>
            <a:off x="7022592" y="1709928"/>
            <a:ext cx="4297680" cy="274320"/>
          </a:xfrm>
          <a:prstGeom prst="rect">
            <a:avLst/>
          </a:prstGeom>
          <a:noFill/>
          <a:ln/>
        </p:spPr>
        <p:txBody>
          <a:bodyPr wrap="square" lIns="0" tIns="0" rIns="0" bIns="0" rtlCol="0" anchor="ctr"/>
          <a:lstStyle/>
          <a:p>
            <a:pPr marL="0" indent="0">
              <a:buNone/>
            </a:pPr>
            <a:r>
              <a:rPr lang="en-US" sz="1100" b="1" dirty="0">
                <a:solidFill>
                  <a:srgbClr val="F26522"/>
                </a:solidFill>
                <a:latin typeface="Arial" pitchFamily="34" charset="0"/>
                <a:ea typeface="Arial" pitchFamily="34" charset="-122"/>
                <a:cs typeface="Arial" pitchFamily="34" charset="-120"/>
              </a:rPr>
              <a:t>21–23 SEP  ·  FOCUS</a:t>
            </a:r>
            <a:endParaRPr lang="en-US" sz="1100" dirty="0"/>
          </a:p>
        </p:txBody>
      </p:sp>
      <p:sp>
        <p:nvSpPr>
          <p:cNvPr id="28" name="Text 24"/>
          <p:cNvSpPr txBox="1"/>
          <p:nvPr/>
        </p:nvSpPr>
        <p:spPr>
          <a:xfrm>
            <a:off x="7022592" y="1947672"/>
            <a:ext cx="4297680" cy="41148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From one cached prompt to a measured benchmarking</a:t>
            </a:r>
            <a:endParaRPr lang="en-US" sz="1400" dirty="0"/>
          </a:p>
        </p:txBody>
      </p:sp>
      <p:sp>
        <p:nvSpPr>
          <p:cNvPr id="29" name="Text 25"/>
          <p:cNvSpPr txBox="1"/>
          <p:nvPr/>
        </p:nvSpPr>
        <p:spPr>
          <a:xfrm>
            <a:off x="7022592" y="2432304"/>
            <a:ext cx="4297680" cy="1600200"/>
          </a:xfrm>
          <a:prstGeom prst="rect">
            <a:avLst/>
          </a:prstGeom>
          <a:noFill/>
          <a:ln/>
        </p:spPr>
        <p:txBody>
          <a:bodyPr wrap="square" lIns="0" tIns="0" rIns="0" bIns="0" rtlCol="0" anchor="ctr"/>
          <a:lstStyle/>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Run RAG retrieval through Onyx, not just a raw API call</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Benchmarked  with various prompt lengths - 8K, 10K and 13K tokens</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Run every length on both stacks with an identical prompt file</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Capture a log and a screen recording for each run</a:t>
            </a:r>
            <a:endParaRPr lang="en-US" sz="1050" dirty="0"/>
          </a:p>
        </p:txBody>
      </p:sp>
      <p:sp>
        <p:nvSpPr>
          <p:cNvPr id="30" name="Shape 26"/>
          <p:cNvSpPr/>
          <p:nvPr/>
        </p:nvSpPr>
        <p:spPr>
          <a:xfrm>
            <a:off x="7022592" y="4160520"/>
            <a:ext cx="4297680" cy="548640"/>
          </a:xfrm>
          <a:prstGeom prst="roundRect">
            <a:avLst>
              <a:gd name="adj" fmla="val 33333"/>
            </a:avLst>
          </a:prstGeom>
          <a:solidFill>
            <a:srgbClr val="E3F3E7"/>
          </a:solidFill>
          <a:ln w="12700">
            <a:solidFill>
              <a:srgbClr val="E3F3E7"/>
            </a:solidFill>
            <a:prstDash val="solid"/>
          </a:ln>
        </p:spPr>
        <p:txBody>
          <a:bodyPr/>
          <a:lstStyle/>
          <a:p>
            <a:endParaRPr lang="en-US"/>
          </a:p>
        </p:txBody>
      </p:sp>
      <p:sp>
        <p:nvSpPr>
          <p:cNvPr id="31" name="Text 27"/>
          <p:cNvSpPr txBox="1"/>
          <p:nvPr/>
        </p:nvSpPr>
        <p:spPr>
          <a:xfrm>
            <a:off x="7205472" y="4160520"/>
            <a:ext cx="3931920" cy="548640"/>
          </a:xfrm>
          <a:prstGeom prst="rect">
            <a:avLst/>
          </a:prstGeom>
          <a:noFill/>
          <a:ln/>
        </p:spPr>
        <p:txBody>
          <a:bodyPr wrap="square" lIns="0" tIns="0" rIns="0" bIns="0" rtlCol="0" anchor="ctr"/>
          <a:lstStyle/>
          <a:p>
            <a:pPr marL="0" indent="0">
              <a:buNone/>
            </a:pPr>
            <a:r>
              <a:rPr lang="en-US" sz="1150" b="1" dirty="0">
                <a:solidFill>
                  <a:srgbClr val="1E8E3E"/>
                </a:solidFill>
                <a:latin typeface="Arial" pitchFamily="34" charset="0"/>
                <a:ea typeface="Arial" pitchFamily="34" charset="-122"/>
                <a:cs typeface="Arial" pitchFamily="34" charset="-120"/>
              </a:rPr>
              <a:t>Result:  </a:t>
            </a:r>
            <a:r>
              <a:rPr lang="en-US" sz="1150" dirty="0">
                <a:solidFill>
                  <a:srgbClr val="5F6168"/>
                </a:solidFill>
                <a:latin typeface="Arial" pitchFamily="34" charset="0"/>
                <a:ea typeface="Arial" pitchFamily="34" charset="-122"/>
                <a:cs typeface="Arial" pitchFamily="34" charset="-120"/>
              </a:rPr>
              <a:t>22 logs, a recording of every run, 3 context lengths</a:t>
            </a:r>
            <a:endParaRPr lang="en-US" sz="1150" dirty="0"/>
          </a:p>
        </p:txBody>
      </p:sp>
      <p:sp>
        <p:nvSpPr>
          <p:cNvPr id="32" name="Shape 28"/>
          <p:cNvSpPr/>
          <p:nvPr/>
        </p:nvSpPr>
        <p:spPr>
          <a:xfrm>
            <a:off x="548640" y="5404104"/>
            <a:ext cx="11091672" cy="457200"/>
          </a:xfrm>
          <a:prstGeom prst="roundRect">
            <a:avLst>
              <a:gd name="adj" fmla="val 50000"/>
            </a:avLst>
          </a:prstGeom>
          <a:solidFill>
            <a:srgbClr val="FCE3D2"/>
          </a:solidFill>
          <a:ln w="12700">
            <a:solidFill>
              <a:srgbClr val="FCE3D2"/>
            </a:solidFill>
            <a:prstDash val="solid"/>
          </a:ln>
        </p:spPr>
        <p:txBody>
          <a:bodyPr/>
          <a:lstStyle/>
          <a:p>
            <a:endParaRPr lang="en-US"/>
          </a:p>
        </p:txBody>
      </p:sp>
      <p:sp>
        <p:nvSpPr>
          <p:cNvPr id="33" name="Text 29"/>
          <p:cNvSpPr txBox="1"/>
          <p:nvPr/>
        </p:nvSpPr>
        <p:spPr>
          <a:xfrm>
            <a:off x="822960" y="5404104"/>
            <a:ext cx="10543032" cy="45720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In short: </a:t>
            </a:r>
            <a:r>
              <a:rPr lang="en-US" sz="1300" dirty="0">
                <a:solidFill>
                  <a:srgbClr val="5F6168"/>
                </a:solidFill>
                <a:latin typeface="Arial" pitchFamily="34" charset="0"/>
                <a:ea typeface="Arial" pitchFamily="34" charset="-122"/>
                <a:cs typeface="Arial" pitchFamily="34" charset="-120"/>
              </a:rPr>
              <a:t>last week we showed one prompt can be cached and replayed. This week we measured what that is worth in Onyx, at three prompt lengths, against the same run without aiDAPTIV+.</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SUMMARY</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The week at a glance</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3</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81328"/>
            <a:ext cx="6035040" cy="3401568"/>
          </a:xfrm>
          <a:prstGeom prst="roundRect">
            <a:avLst>
              <a:gd name="adj" fmla="val 2151"/>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481328"/>
            <a:ext cx="6035040" cy="64008"/>
          </a:xfrm>
          <a:prstGeom prst="rect">
            <a:avLst/>
          </a:prstGeom>
          <a:solidFill>
            <a:srgbClr val="F26522"/>
          </a:solidFill>
          <a:ln w="12700">
            <a:solidFill>
              <a:srgbClr val="F26522"/>
            </a:solidFill>
            <a:prstDash val="solid"/>
          </a:ln>
        </p:spPr>
        <p:txBody>
          <a:bodyPr/>
          <a:lstStyle/>
          <a:p>
            <a:endParaRPr lang="en-US"/>
          </a:p>
        </p:txBody>
      </p:sp>
      <p:sp>
        <p:nvSpPr>
          <p:cNvPr id="12" name="Text 8"/>
          <p:cNvSpPr txBox="1"/>
          <p:nvPr/>
        </p:nvSpPr>
        <p:spPr>
          <a:xfrm>
            <a:off x="868680" y="1709928"/>
            <a:ext cx="5394960" cy="274320"/>
          </a:xfrm>
          <a:prstGeom prst="rect">
            <a:avLst/>
          </a:prstGeom>
          <a:noFill/>
          <a:ln/>
        </p:spPr>
        <p:txBody>
          <a:bodyPr wrap="square" lIns="0" tIns="0" rIns="0" bIns="0" rtlCol="0" anchor="ctr"/>
          <a:lstStyle/>
          <a:p>
            <a:pPr marL="0" indent="0">
              <a:buNone/>
            </a:pPr>
            <a:r>
              <a:rPr lang="en-US" sz="1100" b="1" dirty="0">
                <a:solidFill>
                  <a:srgbClr val="F26522"/>
                </a:solidFill>
                <a:latin typeface="Arial" pitchFamily="34" charset="0"/>
                <a:ea typeface="Arial" pitchFamily="34" charset="-122"/>
                <a:cs typeface="Arial" pitchFamily="34" charset="-120"/>
              </a:rPr>
              <a:t>WHAT WE DID</a:t>
            </a:r>
            <a:endParaRPr lang="en-US" sz="1100" dirty="0"/>
          </a:p>
        </p:txBody>
      </p:sp>
      <p:sp>
        <p:nvSpPr>
          <p:cNvPr id="13" name="Shape 9"/>
          <p:cNvSpPr/>
          <p:nvPr/>
        </p:nvSpPr>
        <p:spPr>
          <a:xfrm>
            <a:off x="868680" y="1956816"/>
            <a:ext cx="320040" cy="320040"/>
          </a:xfrm>
          <a:prstGeom prst="ellipse">
            <a:avLst/>
          </a:prstGeom>
          <a:solidFill>
            <a:srgbClr val="FCE3D2"/>
          </a:solidFill>
          <a:ln w="12700">
            <a:solidFill>
              <a:srgbClr val="FCE3D2"/>
            </a:solidFill>
            <a:prstDash val="solid"/>
          </a:ln>
        </p:spPr>
        <p:txBody>
          <a:bodyPr/>
          <a:lstStyle/>
          <a:p>
            <a:endParaRPr lang="en-US"/>
          </a:p>
        </p:txBody>
      </p:sp>
      <p:sp>
        <p:nvSpPr>
          <p:cNvPr id="14" name="Text 10"/>
          <p:cNvSpPr txBox="1"/>
          <p:nvPr/>
        </p:nvSpPr>
        <p:spPr>
          <a:xfrm>
            <a:off x="868680" y="1956816"/>
            <a:ext cx="320040" cy="320040"/>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1</a:t>
            </a:r>
            <a:endParaRPr lang="en-US" sz="1100" dirty="0"/>
          </a:p>
        </p:txBody>
      </p:sp>
      <p:sp>
        <p:nvSpPr>
          <p:cNvPr id="15" name="Text 11"/>
          <p:cNvSpPr txBox="1"/>
          <p:nvPr/>
        </p:nvSpPr>
        <p:spPr>
          <a:xfrm>
            <a:off x="1325880" y="1888236"/>
            <a:ext cx="4937760" cy="457200"/>
          </a:xfrm>
          <a:prstGeom prst="rect">
            <a:avLst/>
          </a:prstGeom>
          <a:noFill/>
          <a:ln/>
        </p:spPr>
        <p:txBody>
          <a:bodyPr wrap="square" lIns="0" tIns="0" rIns="0" bIns="0" rtlCol="0" anchor="ctr"/>
          <a:lstStyle/>
          <a:p>
            <a:pPr marL="0" indent="0">
              <a:lnSpc>
                <a:spcPct val="120000"/>
              </a:lnSpc>
              <a:buNone/>
            </a:pPr>
            <a:r>
              <a:rPr lang="en-US" sz="1150" dirty="0">
                <a:solidFill>
                  <a:srgbClr val="5F6168"/>
                </a:solidFill>
                <a:latin typeface="Arial" pitchFamily="34" charset="0"/>
                <a:ea typeface="Arial" pitchFamily="34" charset="-122"/>
                <a:cs typeface="Arial" pitchFamily="34" charset="-120"/>
              </a:rPr>
              <a:t>Built a </a:t>
            </a:r>
            <a:r>
              <a:rPr lang="en-US" sz="1150" b="1" dirty="0">
                <a:solidFill>
                  <a:srgbClr val="1A1A1C"/>
                </a:solidFill>
                <a:latin typeface="Arial" pitchFamily="34" charset="0"/>
                <a:ea typeface="Arial" pitchFamily="34" charset="-122"/>
                <a:cs typeface="Arial" pitchFamily="34" charset="-120"/>
              </a:rPr>
              <a:t>benchmark document with a hidden identifier</a:t>
            </a:r>
            <a:endParaRPr lang="en-US" sz="1150" dirty="0"/>
          </a:p>
        </p:txBody>
      </p:sp>
      <p:sp>
        <p:nvSpPr>
          <p:cNvPr id="16" name="Shape 12"/>
          <p:cNvSpPr/>
          <p:nvPr/>
        </p:nvSpPr>
        <p:spPr>
          <a:xfrm>
            <a:off x="868680" y="2519172"/>
            <a:ext cx="320040" cy="320040"/>
          </a:xfrm>
          <a:prstGeom prst="ellipse">
            <a:avLst/>
          </a:prstGeom>
          <a:solidFill>
            <a:srgbClr val="FCE3D2"/>
          </a:solidFill>
          <a:ln w="12700">
            <a:solidFill>
              <a:srgbClr val="FCE3D2"/>
            </a:solidFill>
            <a:prstDash val="solid"/>
          </a:ln>
        </p:spPr>
        <p:txBody>
          <a:bodyPr/>
          <a:lstStyle/>
          <a:p>
            <a:endParaRPr lang="en-US"/>
          </a:p>
        </p:txBody>
      </p:sp>
      <p:sp>
        <p:nvSpPr>
          <p:cNvPr id="17" name="Text 13"/>
          <p:cNvSpPr txBox="1"/>
          <p:nvPr/>
        </p:nvSpPr>
        <p:spPr>
          <a:xfrm>
            <a:off x="868680" y="2519172"/>
            <a:ext cx="320040" cy="320040"/>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2</a:t>
            </a:r>
            <a:endParaRPr lang="en-US" sz="1100" dirty="0"/>
          </a:p>
        </p:txBody>
      </p:sp>
      <p:sp>
        <p:nvSpPr>
          <p:cNvPr id="18" name="Text 14"/>
          <p:cNvSpPr txBox="1"/>
          <p:nvPr/>
        </p:nvSpPr>
        <p:spPr>
          <a:xfrm>
            <a:off x="1325880" y="2450592"/>
            <a:ext cx="4937760" cy="457200"/>
          </a:xfrm>
          <a:prstGeom prst="rect">
            <a:avLst/>
          </a:prstGeom>
          <a:noFill/>
          <a:ln/>
        </p:spPr>
        <p:txBody>
          <a:bodyPr wrap="square" lIns="0" tIns="0" rIns="0" bIns="0" rtlCol="0" anchor="ctr"/>
          <a:lstStyle/>
          <a:p>
            <a:pPr marL="0" indent="0">
              <a:lnSpc>
                <a:spcPct val="120000"/>
              </a:lnSpc>
              <a:buNone/>
            </a:pPr>
            <a:r>
              <a:rPr lang="en-US" sz="1150" dirty="0">
                <a:solidFill>
                  <a:srgbClr val="5F6168"/>
                </a:solidFill>
                <a:latin typeface="Arial" pitchFamily="34" charset="0"/>
                <a:ea typeface="Arial" pitchFamily="34" charset="-122"/>
                <a:cs typeface="Arial" pitchFamily="34" charset="-120"/>
              </a:rPr>
              <a:t>Indexed it in Onyx and queried it — </a:t>
            </a:r>
            <a:r>
              <a:rPr lang="en-US" sz="1150" b="1" dirty="0">
                <a:solidFill>
                  <a:srgbClr val="1A1A1C"/>
                </a:solidFill>
                <a:latin typeface="Arial" pitchFamily="34" charset="0"/>
                <a:ea typeface="Arial" pitchFamily="34" charset="-122"/>
                <a:cs typeface="Arial" pitchFamily="34" charset="-120"/>
              </a:rPr>
              <a:t>RAG retrieval end to end</a:t>
            </a:r>
            <a:endParaRPr lang="en-US" sz="1150" dirty="0"/>
          </a:p>
        </p:txBody>
      </p:sp>
      <p:sp>
        <p:nvSpPr>
          <p:cNvPr id="19" name="Shape 15"/>
          <p:cNvSpPr/>
          <p:nvPr/>
        </p:nvSpPr>
        <p:spPr>
          <a:xfrm>
            <a:off x="868680" y="3081528"/>
            <a:ext cx="320040" cy="320040"/>
          </a:xfrm>
          <a:prstGeom prst="ellipse">
            <a:avLst/>
          </a:prstGeom>
          <a:solidFill>
            <a:srgbClr val="FCE3D2"/>
          </a:solidFill>
          <a:ln w="12700">
            <a:solidFill>
              <a:srgbClr val="FCE3D2"/>
            </a:solidFill>
            <a:prstDash val="solid"/>
          </a:ln>
        </p:spPr>
        <p:txBody>
          <a:bodyPr/>
          <a:lstStyle/>
          <a:p>
            <a:endParaRPr lang="en-US"/>
          </a:p>
        </p:txBody>
      </p:sp>
      <p:sp>
        <p:nvSpPr>
          <p:cNvPr id="20" name="Text 16"/>
          <p:cNvSpPr txBox="1"/>
          <p:nvPr/>
        </p:nvSpPr>
        <p:spPr>
          <a:xfrm>
            <a:off x="868680" y="3081528"/>
            <a:ext cx="320040" cy="320040"/>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3</a:t>
            </a:r>
            <a:endParaRPr lang="en-US" sz="1100" dirty="0"/>
          </a:p>
        </p:txBody>
      </p:sp>
      <p:sp>
        <p:nvSpPr>
          <p:cNvPr id="21" name="Text 17"/>
          <p:cNvSpPr txBox="1"/>
          <p:nvPr/>
        </p:nvSpPr>
        <p:spPr>
          <a:xfrm>
            <a:off x="1325880" y="3012948"/>
            <a:ext cx="4937760" cy="457200"/>
          </a:xfrm>
          <a:prstGeom prst="rect">
            <a:avLst/>
          </a:prstGeom>
          <a:noFill/>
          <a:ln/>
        </p:spPr>
        <p:txBody>
          <a:bodyPr wrap="square" lIns="0" tIns="0" rIns="0" bIns="0" rtlCol="0" anchor="ctr"/>
          <a:lstStyle/>
          <a:p>
            <a:pPr marL="0" indent="0">
              <a:lnSpc>
                <a:spcPct val="120000"/>
              </a:lnSpc>
              <a:buNone/>
            </a:pPr>
            <a:r>
              <a:rPr lang="en-US" sz="1150" dirty="0">
                <a:solidFill>
                  <a:srgbClr val="5F6168"/>
                </a:solidFill>
                <a:latin typeface="Arial" pitchFamily="34" charset="0"/>
                <a:ea typeface="Arial" pitchFamily="34" charset="-122"/>
                <a:cs typeface="Arial" pitchFamily="34" charset="-120"/>
              </a:rPr>
              <a:t>Repeated the run at </a:t>
            </a:r>
            <a:r>
              <a:rPr lang="en-US" sz="1150" b="1" dirty="0">
                <a:solidFill>
                  <a:srgbClr val="1A1A1C"/>
                </a:solidFill>
                <a:latin typeface="Arial" pitchFamily="34" charset="0"/>
                <a:ea typeface="Arial" pitchFamily="34" charset="-122"/>
                <a:cs typeface="Arial" pitchFamily="34" charset="-120"/>
              </a:rPr>
              <a:t>8K, 10K and 13K prompt tokens</a:t>
            </a:r>
            <a:endParaRPr lang="en-US" sz="1150" dirty="0"/>
          </a:p>
        </p:txBody>
      </p:sp>
      <p:sp>
        <p:nvSpPr>
          <p:cNvPr id="22" name="Shape 18"/>
          <p:cNvSpPr/>
          <p:nvPr/>
        </p:nvSpPr>
        <p:spPr>
          <a:xfrm>
            <a:off x="868680" y="3643884"/>
            <a:ext cx="320040" cy="320040"/>
          </a:xfrm>
          <a:prstGeom prst="ellipse">
            <a:avLst/>
          </a:prstGeom>
          <a:solidFill>
            <a:srgbClr val="FCE3D2"/>
          </a:solidFill>
          <a:ln w="12700">
            <a:solidFill>
              <a:srgbClr val="FCE3D2"/>
            </a:solidFill>
            <a:prstDash val="solid"/>
          </a:ln>
        </p:spPr>
        <p:txBody>
          <a:bodyPr/>
          <a:lstStyle/>
          <a:p>
            <a:endParaRPr lang="en-US"/>
          </a:p>
        </p:txBody>
      </p:sp>
      <p:sp>
        <p:nvSpPr>
          <p:cNvPr id="23" name="Text 19"/>
          <p:cNvSpPr txBox="1"/>
          <p:nvPr/>
        </p:nvSpPr>
        <p:spPr>
          <a:xfrm>
            <a:off x="868680" y="3643884"/>
            <a:ext cx="320040" cy="320040"/>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4</a:t>
            </a:r>
            <a:endParaRPr lang="en-US" sz="1100" dirty="0"/>
          </a:p>
        </p:txBody>
      </p:sp>
      <p:sp>
        <p:nvSpPr>
          <p:cNvPr id="24" name="Text 20"/>
          <p:cNvSpPr txBox="1"/>
          <p:nvPr/>
        </p:nvSpPr>
        <p:spPr>
          <a:xfrm>
            <a:off x="1325880" y="3575304"/>
            <a:ext cx="4937760" cy="457200"/>
          </a:xfrm>
          <a:prstGeom prst="rect">
            <a:avLst/>
          </a:prstGeom>
          <a:noFill/>
          <a:ln/>
        </p:spPr>
        <p:txBody>
          <a:bodyPr wrap="square" lIns="0" tIns="0" rIns="0" bIns="0" rtlCol="0" anchor="ctr"/>
          <a:lstStyle/>
          <a:p>
            <a:pPr marL="0" indent="0">
              <a:lnSpc>
                <a:spcPct val="120000"/>
              </a:lnSpc>
              <a:buNone/>
            </a:pPr>
            <a:r>
              <a:rPr lang="en-US" sz="1150" dirty="0">
                <a:solidFill>
                  <a:srgbClr val="5F6168"/>
                </a:solidFill>
                <a:latin typeface="Arial" pitchFamily="34" charset="0"/>
                <a:ea typeface="Arial" pitchFamily="34" charset="-122"/>
                <a:cs typeface="Arial" pitchFamily="34" charset="-120"/>
              </a:rPr>
              <a:t>Ran every length </a:t>
            </a:r>
            <a:r>
              <a:rPr lang="en-US" sz="1150" b="1" dirty="0">
                <a:solidFill>
                  <a:srgbClr val="1A1A1C"/>
                </a:solidFill>
                <a:latin typeface="Arial" pitchFamily="34" charset="0"/>
                <a:ea typeface="Arial" pitchFamily="34" charset="-122"/>
                <a:cs typeface="Arial" pitchFamily="34" charset="-120"/>
              </a:rPr>
              <a:t>with and without aiDAPTIV+</a:t>
            </a:r>
            <a:endParaRPr lang="en-US" sz="1150" dirty="0"/>
          </a:p>
        </p:txBody>
      </p:sp>
      <p:sp>
        <p:nvSpPr>
          <p:cNvPr id="25" name="Shape 21"/>
          <p:cNvSpPr/>
          <p:nvPr/>
        </p:nvSpPr>
        <p:spPr>
          <a:xfrm>
            <a:off x="868680" y="4206240"/>
            <a:ext cx="320040" cy="320040"/>
          </a:xfrm>
          <a:prstGeom prst="ellipse">
            <a:avLst/>
          </a:prstGeom>
          <a:solidFill>
            <a:srgbClr val="FCE3D2"/>
          </a:solidFill>
          <a:ln w="12700">
            <a:solidFill>
              <a:srgbClr val="FCE3D2"/>
            </a:solidFill>
            <a:prstDash val="solid"/>
          </a:ln>
        </p:spPr>
        <p:txBody>
          <a:bodyPr/>
          <a:lstStyle/>
          <a:p>
            <a:endParaRPr lang="en-US"/>
          </a:p>
        </p:txBody>
      </p:sp>
      <p:sp>
        <p:nvSpPr>
          <p:cNvPr id="26" name="Text 22"/>
          <p:cNvSpPr txBox="1"/>
          <p:nvPr/>
        </p:nvSpPr>
        <p:spPr>
          <a:xfrm>
            <a:off x="868680" y="4206240"/>
            <a:ext cx="320040" cy="320040"/>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5</a:t>
            </a:r>
            <a:endParaRPr lang="en-US" sz="1100" dirty="0"/>
          </a:p>
        </p:txBody>
      </p:sp>
      <p:sp>
        <p:nvSpPr>
          <p:cNvPr id="27" name="Text 23"/>
          <p:cNvSpPr txBox="1"/>
          <p:nvPr/>
        </p:nvSpPr>
        <p:spPr>
          <a:xfrm>
            <a:off x="1325880" y="4137660"/>
            <a:ext cx="4937760" cy="457200"/>
          </a:xfrm>
          <a:prstGeom prst="rect">
            <a:avLst/>
          </a:prstGeom>
          <a:noFill/>
          <a:ln/>
        </p:spPr>
        <p:txBody>
          <a:bodyPr wrap="square" lIns="0" tIns="0" rIns="0" bIns="0" rtlCol="0" anchor="ctr"/>
          <a:lstStyle/>
          <a:p>
            <a:pPr marL="0" indent="0">
              <a:lnSpc>
                <a:spcPct val="120000"/>
              </a:lnSpc>
              <a:buNone/>
            </a:pPr>
            <a:r>
              <a:rPr lang="en-US" sz="1150" dirty="0">
                <a:solidFill>
                  <a:srgbClr val="5F6168"/>
                </a:solidFill>
                <a:latin typeface="Arial" pitchFamily="34" charset="0"/>
                <a:ea typeface="Arial" pitchFamily="34" charset="-122"/>
                <a:cs typeface="Arial" pitchFamily="34" charset="-120"/>
              </a:rPr>
              <a:t>Wrote the </a:t>
            </a:r>
            <a:r>
              <a:rPr lang="en-US" sz="1150" b="1" dirty="0">
                <a:solidFill>
                  <a:srgbClr val="1A1A1C"/>
                </a:solidFill>
                <a:latin typeface="Arial" pitchFamily="34" charset="0"/>
                <a:ea typeface="Arial" pitchFamily="34" charset="-122"/>
                <a:cs typeface="Arial" pitchFamily="34" charset="-120"/>
              </a:rPr>
              <a:t>user manual and recorded every run</a:t>
            </a:r>
            <a:endParaRPr lang="en-US" sz="1150" dirty="0"/>
          </a:p>
        </p:txBody>
      </p:sp>
      <p:sp>
        <p:nvSpPr>
          <p:cNvPr id="28" name="Shape 24"/>
          <p:cNvSpPr/>
          <p:nvPr/>
        </p:nvSpPr>
        <p:spPr>
          <a:xfrm>
            <a:off x="6858000" y="1481328"/>
            <a:ext cx="2304288" cy="1609344"/>
          </a:xfrm>
          <a:prstGeom prst="roundRect">
            <a:avLst>
              <a:gd name="adj" fmla="val 4545"/>
            </a:avLst>
          </a:prstGeom>
          <a:solidFill>
            <a:srgbClr val="FAF9F6"/>
          </a:solidFill>
          <a:ln w="12700">
            <a:solidFill>
              <a:srgbClr val="E4E1DA"/>
            </a:solidFill>
            <a:prstDash val="solid"/>
          </a:ln>
        </p:spPr>
        <p:txBody>
          <a:bodyPr/>
          <a:lstStyle/>
          <a:p>
            <a:endParaRPr lang="en-US"/>
          </a:p>
        </p:txBody>
      </p:sp>
      <p:sp>
        <p:nvSpPr>
          <p:cNvPr id="29" name="Text 25"/>
          <p:cNvSpPr txBox="1"/>
          <p:nvPr/>
        </p:nvSpPr>
        <p:spPr>
          <a:xfrm>
            <a:off x="7022592" y="1618488"/>
            <a:ext cx="1975104" cy="457200"/>
          </a:xfrm>
          <a:prstGeom prst="rect">
            <a:avLst/>
          </a:prstGeom>
          <a:noFill/>
          <a:ln/>
        </p:spPr>
        <p:txBody>
          <a:bodyPr wrap="square" lIns="0" tIns="0" rIns="0" bIns="0" rtlCol="0" anchor="ctr"/>
          <a:lstStyle/>
          <a:p>
            <a:pPr marL="0" indent="0">
              <a:buNone/>
            </a:pPr>
            <a:r>
              <a:rPr lang="en-US" sz="2600" b="1" dirty="0">
                <a:solidFill>
                  <a:srgbClr val="F26522"/>
                </a:solidFill>
                <a:latin typeface="Arial" pitchFamily="34" charset="0"/>
                <a:ea typeface="Arial" pitchFamily="34" charset="-122"/>
                <a:cs typeface="Arial" pitchFamily="34" charset="-120"/>
              </a:rPr>
              <a:t>216×</a:t>
            </a:r>
            <a:endParaRPr lang="en-US" sz="2600" dirty="0"/>
          </a:p>
        </p:txBody>
      </p:sp>
      <p:sp>
        <p:nvSpPr>
          <p:cNvPr id="30" name="Text 26"/>
          <p:cNvSpPr txBox="1"/>
          <p:nvPr/>
        </p:nvSpPr>
        <p:spPr>
          <a:xfrm>
            <a:off x="7022592" y="2139696"/>
            <a:ext cx="1975104" cy="548640"/>
          </a:xfrm>
          <a:prstGeom prst="rect">
            <a:avLst/>
          </a:prstGeom>
          <a:noFill/>
          <a:ln/>
        </p:spPr>
        <p:txBody>
          <a:bodyPr wrap="square" lIns="0" tIns="0" rIns="0" bIns="0" rtlCol="0" anchor="ctr"/>
          <a:lstStyle/>
          <a:p>
            <a:pPr marL="0" indent="0">
              <a:lnSpc>
                <a:spcPct val="115000"/>
              </a:lnSpc>
              <a:buNone/>
            </a:pPr>
            <a:r>
              <a:rPr lang="en-US" sz="1100" b="1" dirty="0">
                <a:solidFill>
                  <a:srgbClr val="1A1A1C"/>
                </a:solidFill>
                <a:latin typeface="Arial" pitchFamily="34" charset="0"/>
                <a:ea typeface="Arial" pitchFamily="34" charset="-122"/>
                <a:cs typeface="Arial" pitchFamily="34" charset="-120"/>
              </a:rPr>
              <a:t>faster at 13K</a:t>
            </a:r>
            <a:endParaRPr lang="en-US" sz="1100" dirty="0"/>
          </a:p>
          <a:p>
            <a:pPr marL="0" indent="0">
              <a:lnSpc>
                <a:spcPct val="115000"/>
              </a:lnSpc>
              <a:buNone/>
            </a:pPr>
            <a:r>
              <a:rPr lang="en-US" sz="1000" dirty="0">
                <a:solidFill>
                  <a:srgbClr val="9A9CA3"/>
                </a:solidFill>
                <a:latin typeface="Arial" pitchFamily="34" charset="0"/>
                <a:ea typeface="Arial" pitchFamily="34" charset="-122"/>
                <a:cs typeface="Arial" pitchFamily="34" charset="-120"/>
              </a:rPr>
              <a:t>271.9 s → 1.26 s prefill</a:t>
            </a:r>
            <a:endParaRPr lang="en-US" sz="1100" dirty="0"/>
          </a:p>
        </p:txBody>
      </p:sp>
      <p:sp>
        <p:nvSpPr>
          <p:cNvPr id="31" name="Shape 27"/>
          <p:cNvSpPr/>
          <p:nvPr/>
        </p:nvSpPr>
        <p:spPr>
          <a:xfrm>
            <a:off x="9336024" y="1481328"/>
            <a:ext cx="2304288" cy="1609344"/>
          </a:xfrm>
          <a:prstGeom prst="roundRect">
            <a:avLst>
              <a:gd name="adj" fmla="val 4545"/>
            </a:avLst>
          </a:prstGeom>
          <a:solidFill>
            <a:srgbClr val="FAF9F6"/>
          </a:solidFill>
          <a:ln w="12700">
            <a:solidFill>
              <a:srgbClr val="E4E1DA"/>
            </a:solidFill>
            <a:prstDash val="solid"/>
          </a:ln>
        </p:spPr>
        <p:txBody>
          <a:bodyPr/>
          <a:lstStyle/>
          <a:p>
            <a:endParaRPr lang="en-US"/>
          </a:p>
        </p:txBody>
      </p:sp>
      <p:sp>
        <p:nvSpPr>
          <p:cNvPr id="32" name="Text 28"/>
          <p:cNvSpPr txBox="1"/>
          <p:nvPr/>
        </p:nvSpPr>
        <p:spPr>
          <a:xfrm>
            <a:off x="9500616" y="1618488"/>
            <a:ext cx="1975104" cy="457200"/>
          </a:xfrm>
          <a:prstGeom prst="rect">
            <a:avLst/>
          </a:prstGeom>
          <a:noFill/>
          <a:ln/>
        </p:spPr>
        <p:txBody>
          <a:bodyPr wrap="square" lIns="0" tIns="0" rIns="0" bIns="0" rtlCol="0" anchor="ctr"/>
          <a:lstStyle/>
          <a:p>
            <a:pPr marL="0" indent="0">
              <a:buNone/>
            </a:pPr>
            <a:r>
              <a:rPr lang="en-US" sz="2600" b="1" dirty="0">
                <a:solidFill>
                  <a:srgbClr val="F26522"/>
                </a:solidFill>
                <a:latin typeface="Arial" pitchFamily="34" charset="0"/>
                <a:ea typeface="Arial" pitchFamily="34" charset="-122"/>
                <a:cs typeface="Arial" pitchFamily="34" charset="-120"/>
              </a:rPr>
              <a:t>1.3 s</a:t>
            </a:r>
            <a:endParaRPr lang="en-US" sz="2600" dirty="0"/>
          </a:p>
        </p:txBody>
      </p:sp>
      <p:sp>
        <p:nvSpPr>
          <p:cNvPr id="33" name="Text 29"/>
          <p:cNvSpPr txBox="1"/>
          <p:nvPr/>
        </p:nvSpPr>
        <p:spPr>
          <a:xfrm>
            <a:off x="9500616" y="2139696"/>
            <a:ext cx="1975104" cy="548640"/>
          </a:xfrm>
          <a:prstGeom prst="rect">
            <a:avLst/>
          </a:prstGeom>
          <a:noFill/>
          <a:ln/>
        </p:spPr>
        <p:txBody>
          <a:bodyPr wrap="square" lIns="0" tIns="0" rIns="0" bIns="0" rtlCol="0" anchor="ctr"/>
          <a:lstStyle/>
          <a:p>
            <a:pPr marL="0" indent="0">
              <a:lnSpc>
                <a:spcPct val="115000"/>
              </a:lnSpc>
              <a:buNone/>
            </a:pPr>
            <a:r>
              <a:rPr lang="en-US" sz="1100" b="1" dirty="0">
                <a:solidFill>
                  <a:srgbClr val="1A1A1C"/>
                </a:solidFill>
                <a:latin typeface="Arial" pitchFamily="34" charset="0"/>
                <a:ea typeface="Arial" pitchFamily="34" charset="-122"/>
                <a:cs typeface="Arial" pitchFamily="34" charset="-120"/>
              </a:rPr>
              <a:t>to first token</a:t>
            </a:r>
            <a:endParaRPr lang="en-US" sz="1100" dirty="0"/>
          </a:p>
          <a:p>
            <a:pPr marL="0" indent="0">
              <a:lnSpc>
                <a:spcPct val="115000"/>
              </a:lnSpc>
              <a:buNone/>
            </a:pPr>
            <a:r>
              <a:rPr lang="en-US" sz="1000" dirty="0">
                <a:solidFill>
                  <a:srgbClr val="9A9CA3"/>
                </a:solidFill>
                <a:latin typeface="Arial" pitchFamily="34" charset="0"/>
                <a:ea typeface="Arial" pitchFamily="34" charset="-122"/>
                <a:cs typeface="Arial" pitchFamily="34" charset="-120"/>
              </a:rPr>
              <a:t>13K repeat query, cached</a:t>
            </a:r>
            <a:endParaRPr lang="en-US" sz="1100" dirty="0"/>
          </a:p>
        </p:txBody>
      </p:sp>
      <p:sp>
        <p:nvSpPr>
          <p:cNvPr id="34" name="Shape 30"/>
          <p:cNvSpPr/>
          <p:nvPr/>
        </p:nvSpPr>
        <p:spPr>
          <a:xfrm>
            <a:off x="6858000" y="3273552"/>
            <a:ext cx="2304288" cy="1609344"/>
          </a:xfrm>
          <a:prstGeom prst="roundRect">
            <a:avLst>
              <a:gd name="adj" fmla="val 4545"/>
            </a:avLst>
          </a:prstGeom>
          <a:solidFill>
            <a:srgbClr val="FAF9F6"/>
          </a:solidFill>
          <a:ln w="12700">
            <a:solidFill>
              <a:srgbClr val="E4E1DA"/>
            </a:solidFill>
            <a:prstDash val="solid"/>
          </a:ln>
        </p:spPr>
        <p:txBody>
          <a:bodyPr/>
          <a:lstStyle/>
          <a:p>
            <a:endParaRPr lang="en-US"/>
          </a:p>
        </p:txBody>
      </p:sp>
      <p:sp>
        <p:nvSpPr>
          <p:cNvPr id="35" name="Text 31"/>
          <p:cNvSpPr txBox="1"/>
          <p:nvPr/>
        </p:nvSpPr>
        <p:spPr>
          <a:xfrm>
            <a:off x="7022592" y="3410712"/>
            <a:ext cx="1975104" cy="457200"/>
          </a:xfrm>
          <a:prstGeom prst="rect">
            <a:avLst/>
          </a:prstGeom>
          <a:noFill/>
          <a:ln/>
        </p:spPr>
        <p:txBody>
          <a:bodyPr wrap="square" lIns="0" tIns="0" rIns="0" bIns="0" rtlCol="0" anchor="ctr"/>
          <a:lstStyle/>
          <a:p>
            <a:pPr marL="0" indent="0">
              <a:buNone/>
            </a:pPr>
            <a:r>
              <a:rPr lang="en-US" sz="2600" b="1" dirty="0">
                <a:solidFill>
                  <a:srgbClr val="F26522"/>
                </a:solidFill>
                <a:latin typeface="Arial" pitchFamily="34" charset="0"/>
                <a:ea typeface="Arial" pitchFamily="34" charset="-122"/>
                <a:cs typeface="Arial" pitchFamily="34" charset="-120"/>
              </a:rPr>
              <a:t>2.05×</a:t>
            </a:r>
            <a:endParaRPr lang="en-US" sz="2600" dirty="0"/>
          </a:p>
        </p:txBody>
      </p:sp>
      <p:sp>
        <p:nvSpPr>
          <p:cNvPr id="36" name="Text 32"/>
          <p:cNvSpPr txBox="1"/>
          <p:nvPr/>
        </p:nvSpPr>
        <p:spPr>
          <a:xfrm>
            <a:off x="7022592" y="3931920"/>
            <a:ext cx="1975104" cy="548640"/>
          </a:xfrm>
          <a:prstGeom prst="rect">
            <a:avLst/>
          </a:prstGeom>
          <a:noFill/>
          <a:ln/>
        </p:spPr>
        <p:txBody>
          <a:bodyPr wrap="square" lIns="0" tIns="0" rIns="0" bIns="0" rtlCol="0" anchor="ctr"/>
          <a:lstStyle/>
          <a:p>
            <a:pPr marL="0" indent="0">
              <a:lnSpc>
                <a:spcPct val="115000"/>
              </a:lnSpc>
              <a:buNone/>
            </a:pPr>
            <a:r>
              <a:rPr lang="en-US" sz="1100" b="1" dirty="0">
                <a:solidFill>
                  <a:srgbClr val="1A1A1C"/>
                </a:solidFill>
                <a:latin typeface="Arial" pitchFamily="34" charset="0"/>
                <a:ea typeface="Arial" pitchFamily="34" charset="-122"/>
                <a:cs typeface="Arial" pitchFamily="34" charset="-120"/>
              </a:rPr>
              <a:t>faster cold prefill</a:t>
            </a:r>
            <a:endParaRPr lang="en-US" sz="1100" dirty="0"/>
          </a:p>
          <a:p>
            <a:pPr marL="0" indent="0">
              <a:lnSpc>
                <a:spcPct val="115000"/>
              </a:lnSpc>
              <a:buNone/>
            </a:pPr>
            <a:r>
              <a:rPr lang="en-US" sz="1000" dirty="0">
                <a:solidFill>
                  <a:srgbClr val="9A9CA3"/>
                </a:solidFill>
                <a:latin typeface="Arial" pitchFamily="34" charset="0"/>
                <a:ea typeface="Arial" pitchFamily="34" charset="-122"/>
                <a:cs typeface="Arial" pitchFamily="34" charset="-120"/>
              </a:rPr>
              <a:t>8K, even with nothing cached</a:t>
            </a:r>
            <a:endParaRPr lang="en-US" sz="1100" dirty="0"/>
          </a:p>
        </p:txBody>
      </p:sp>
      <p:sp>
        <p:nvSpPr>
          <p:cNvPr id="37" name="Shape 33"/>
          <p:cNvSpPr/>
          <p:nvPr/>
        </p:nvSpPr>
        <p:spPr>
          <a:xfrm>
            <a:off x="9336024" y="3273552"/>
            <a:ext cx="2304288" cy="1609344"/>
          </a:xfrm>
          <a:prstGeom prst="roundRect">
            <a:avLst>
              <a:gd name="adj" fmla="val 4545"/>
            </a:avLst>
          </a:prstGeom>
          <a:solidFill>
            <a:srgbClr val="FAF9F6"/>
          </a:solidFill>
          <a:ln w="12700">
            <a:solidFill>
              <a:srgbClr val="E4E1DA"/>
            </a:solidFill>
            <a:prstDash val="solid"/>
          </a:ln>
        </p:spPr>
        <p:txBody>
          <a:bodyPr/>
          <a:lstStyle/>
          <a:p>
            <a:endParaRPr lang="en-US"/>
          </a:p>
        </p:txBody>
      </p:sp>
      <p:sp>
        <p:nvSpPr>
          <p:cNvPr id="38" name="Text 34"/>
          <p:cNvSpPr txBox="1"/>
          <p:nvPr/>
        </p:nvSpPr>
        <p:spPr>
          <a:xfrm>
            <a:off x="9500616" y="3410712"/>
            <a:ext cx="1975104" cy="457200"/>
          </a:xfrm>
          <a:prstGeom prst="rect">
            <a:avLst/>
          </a:prstGeom>
          <a:noFill/>
          <a:ln/>
        </p:spPr>
        <p:txBody>
          <a:bodyPr wrap="square" lIns="0" tIns="0" rIns="0" bIns="0" rtlCol="0" anchor="ctr"/>
          <a:lstStyle/>
          <a:p>
            <a:pPr marL="0" indent="0">
              <a:buNone/>
            </a:pPr>
            <a:r>
              <a:rPr lang="en-US" sz="2600" b="1" dirty="0">
                <a:solidFill>
                  <a:srgbClr val="F26522"/>
                </a:solidFill>
                <a:latin typeface="Arial" pitchFamily="34" charset="0"/>
                <a:ea typeface="Arial" pitchFamily="34" charset="-122"/>
                <a:cs typeface="Arial" pitchFamily="34" charset="-120"/>
              </a:rPr>
              <a:t>12,776</a:t>
            </a:r>
            <a:endParaRPr lang="en-US" sz="2600" dirty="0"/>
          </a:p>
        </p:txBody>
      </p:sp>
      <p:sp>
        <p:nvSpPr>
          <p:cNvPr id="39" name="Text 35"/>
          <p:cNvSpPr txBox="1"/>
          <p:nvPr/>
        </p:nvSpPr>
        <p:spPr>
          <a:xfrm>
            <a:off x="9500616" y="3931920"/>
            <a:ext cx="1975104" cy="548640"/>
          </a:xfrm>
          <a:prstGeom prst="rect">
            <a:avLst/>
          </a:prstGeom>
          <a:noFill/>
          <a:ln/>
        </p:spPr>
        <p:txBody>
          <a:bodyPr wrap="square" lIns="0" tIns="0" rIns="0" bIns="0" rtlCol="0" anchor="ctr"/>
          <a:lstStyle/>
          <a:p>
            <a:pPr marL="0" indent="0">
              <a:lnSpc>
                <a:spcPct val="115000"/>
              </a:lnSpc>
              <a:buNone/>
            </a:pPr>
            <a:r>
              <a:rPr lang="en-US" sz="1100" b="1" dirty="0">
                <a:solidFill>
                  <a:srgbClr val="1A1A1C"/>
                </a:solidFill>
                <a:latin typeface="Arial" pitchFamily="34" charset="0"/>
                <a:ea typeface="Arial" pitchFamily="34" charset="-122"/>
                <a:cs typeface="Arial" pitchFamily="34" charset="-120"/>
              </a:rPr>
              <a:t>tokens from the SSD</a:t>
            </a:r>
            <a:endParaRPr lang="en-US" sz="1100" dirty="0"/>
          </a:p>
          <a:p>
            <a:pPr marL="0" indent="0">
              <a:lnSpc>
                <a:spcPct val="115000"/>
              </a:lnSpc>
              <a:buNone/>
            </a:pPr>
            <a:r>
              <a:rPr lang="en-US" sz="1000" dirty="0">
                <a:solidFill>
                  <a:srgbClr val="9A9CA3"/>
                </a:solidFill>
                <a:latin typeface="Arial" pitchFamily="34" charset="0"/>
                <a:ea typeface="Arial" pitchFamily="34" charset="-122"/>
                <a:cs typeface="Arial" pitchFamily="34" charset="-120"/>
              </a:rPr>
              <a:t>13K query, GPU + DRAM = 0</a:t>
            </a:r>
            <a:endParaRPr lang="en-US" sz="1100" dirty="0"/>
          </a:p>
        </p:txBody>
      </p:sp>
      <p:sp>
        <p:nvSpPr>
          <p:cNvPr id="40" name="Shape 36"/>
          <p:cNvSpPr/>
          <p:nvPr/>
        </p:nvSpPr>
        <p:spPr>
          <a:xfrm>
            <a:off x="548640" y="5239512"/>
            <a:ext cx="11091672" cy="457200"/>
          </a:xfrm>
          <a:prstGeom prst="roundRect">
            <a:avLst>
              <a:gd name="adj" fmla="val 50000"/>
            </a:avLst>
          </a:prstGeom>
          <a:solidFill>
            <a:srgbClr val="FCE3D2"/>
          </a:solidFill>
          <a:ln w="12700">
            <a:solidFill>
              <a:srgbClr val="FCE3D2"/>
            </a:solidFill>
            <a:prstDash val="solid"/>
          </a:ln>
        </p:spPr>
        <p:txBody>
          <a:bodyPr/>
          <a:lstStyle/>
          <a:p>
            <a:endParaRPr lang="en-US"/>
          </a:p>
        </p:txBody>
      </p:sp>
      <p:sp>
        <p:nvSpPr>
          <p:cNvPr id="41" name="Text 37"/>
          <p:cNvSpPr txBox="1"/>
          <p:nvPr/>
        </p:nvSpPr>
        <p:spPr>
          <a:xfrm>
            <a:off x="822960" y="5239512"/>
            <a:ext cx="10543032" cy="45720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Also this week: </a:t>
            </a:r>
            <a:r>
              <a:rPr lang="en-US" sz="1300" dirty="0">
                <a:solidFill>
                  <a:srgbClr val="5F6168"/>
                </a:solidFill>
                <a:latin typeface="Arial" pitchFamily="34" charset="0"/>
                <a:ea typeface="Arial" pitchFamily="34" charset="-122"/>
                <a:cs typeface="Arial" pitchFamily="34" charset="-120"/>
              </a:rPr>
              <a:t>a user manual covering install, configuration and verification, plus a screen recording of every benchmark run on both stacks.</a:t>
            </a:r>
            <a:endParaRPr lang="en-US" sz="1300" dirty="0"/>
          </a:p>
        </p:txBody>
      </p:sp>
      <p:sp>
        <p:nvSpPr>
          <p:cNvPr id="42" name="Text 38"/>
          <p:cNvSpPr txBox="1"/>
          <p:nvPr/>
        </p:nvSpPr>
        <p:spPr>
          <a:xfrm>
            <a:off x="548640" y="5852160"/>
            <a:ext cx="11091672" cy="182880"/>
          </a:xfrm>
          <a:prstGeom prst="rect">
            <a:avLst/>
          </a:prstGeom>
          <a:noFill/>
          <a:ln/>
        </p:spPr>
        <p:txBody>
          <a:bodyPr wrap="square" lIns="0" tIns="0" rIns="0" bIns="0" rtlCol="0" anchor="ctr"/>
          <a:lstStyle/>
          <a:p>
            <a:pPr marL="0" indent="0">
              <a:buNone/>
            </a:pPr>
            <a:r>
              <a:rPr lang="en-US" sz="950" dirty="0">
                <a:solidFill>
                  <a:srgbClr val="9A9CA3"/>
                </a:solidFill>
                <a:latin typeface="Arial" pitchFamily="34" charset="0"/>
                <a:ea typeface="Arial" pitchFamily="34" charset="-122"/>
                <a:cs typeface="Arial" pitchFamily="34" charset="-120"/>
              </a:rPr>
              <a:t>In this deck:  method  ·  how to read the numbers  ·  results by context length  ·  time to first token  ·  log evidence  ·  manual  demo videos ·  upcoming tasks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SECTION 1</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RAG retrieval, benchmarked across context lengths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4</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563624"/>
            <a:ext cx="11091672" cy="2999232"/>
          </a:xfrm>
          <a:prstGeom prst="roundRect">
            <a:avLst>
              <a:gd name="adj" fmla="val 2439"/>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563624"/>
            <a:ext cx="11091672" cy="64008"/>
          </a:xfrm>
          <a:prstGeom prst="rect">
            <a:avLst/>
          </a:prstGeom>
          <a:solidFill>
            <a:srgbClr val="F26522"/>
          </a:solidFill>
          <a:ln w="12700">
            <a:solidFill>
              <a:srgbClr val="F26522"/>
            </a:solidFill>
            <a:prstDash val="solid"/>
          </a:ln>
        </p:spPr>
        <p:txBody>
          <a:bodyPr/>
          <a:lstStyle/>
          <a:p>
            <a:endParaRPr lang="en-US"/>
          </a:p>
        </p:txBody>
      </p:sp>
      <p:sp>
        <p:nvSpPr>
          <p:cNvPr id="12" name="Text 8"/>
          <p:cNvSpPr txBox="1"/>
          <p:nvPr/>
        </p:nvSpPr>
        <p:spPr>
          <a:xfrm>
            <a:off x="1005840" y="2459736"/>
            <a:ext cx="3803904" cy="704088"/>
          </a:xfrm>
          <a:prstGeom prst="rect">
            <a:avLst/>
          </a:prstGeom>
          <a:noFill/>
          <a:ln/>
        </p:spPr>
        <p:txBody>
          <a:bodyPr wrap="square" lIns="0" tIns="0" rIns="0" bIns="0" rtlCol="0" anchor="ctr"/>
          <a:lstStyle/>
          <a:p>
            <a:pPr marL="0" indent="0">
              <a:buNone/>
            </a:pPr>
            <a:r>
              <a:rPr lang="en-US" sz="4000" b="1" dirty="0">
                <a:solidFill>
                  <a:srgbClr val="F26522"/>
                </a:solidFill>
                <a:latin typeface="Arial" pitchFamily="34" charset="0"/>
                <a:ea typeface="Arial" pitchFamily="34" charset="-122"/>
                <a:cs typeface="Arial" pitchFamily="34" charset="-120"/>
              </a:rPr>
              <a:t>21 – 23 SEP</a:t>
            </a:r>
            <a:endParaRPr lang="en-US" sz="4000" dirty="0"/>
          </a:p>
        </p:txBody>
      </p:sp>
      <p:sp>
        <p:nvSpPr>
          <p:cNvPr id="13" name="Text 9"/>
          <p:cNvSpPr txBox="1"/>
          <p:nvPr/>
        </p:nvSpPr>
        <p:spPr>
          <a:xfrm>
            <a:off x="1005840" y="3191256"/>
            <a:ext cx="3803904" cy="45720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8K · 10K · 13K, with and without</a:t>
            </a:r>
            <a:endParaRPr lang="en-US" sz="1400" dirty="0"/>
          </a:p>
        </p:txBody>
      </p:sp>
      <p:sp>
        <p:nvSpPr>
          <p:cNvPr id="14" name="Shape 10"/>
          <p:cNvSpPr/>
          <p:nvPr/>
        </p:nvSpPr>
        <p:spPr>
          <a:xfrm>
            <a:off x="4901184" y="1956816"/>
            <a:ext cx="9144" cy="2203704"/>
          </a:xfrm>
          <a:prstGeom prst="rect">
            <a:avLst/>
          </a:prstGeom>
          <a:solidFill>
            <a:srgbClr val="E4E1DA"/>
          </a:solidFill>
          <a:ln w="12700">
            <a:solidFill>
              <a:srgbClr val="E4E1DA"/>
            </a:solidFill>
            <a:prstDash val="solid"/>
          </a:ln>
        </p:spPr>
        <p:txBody>
          <a:bodyPr/>
          <a:lstStyle/>
          <a:p>
            <a:endParaRPr lang="en-US"/>
          </a:p>
        </p:txBody>
      </p:sp>
      <p:sp>
        <p:nvSpPr>
          <p:cNvPr id="15" name="Text 11"/>
          <p:cNvSpPr txBox="1"/>
          <p:nvPr/>
        </p:nvSpPr>
        <p:spPr>
          <a:xfrm>
            <a:off x="5303520" y="2075688"/>
            <a:ext cx="5897880" cy="2194560"/>
          </a:xfrm>
          <a:prstGeom prst="rect">
            <a:avLst/>
          </a:prstGeom>
          <a:noFill/>
          <a:ln/>
        </p:spPr>
        <p:txBody>
          <a:bodyPr wrap="square" lIns="0" tIns="0" rIns="0" bIns="0" rtlCol="0" anchor="ctr"/>
          <a:lstStyle/>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A synthetic benchmark document with the context, indexed in Onyx</a:t>
            </a:r>
            <a:endParaRPr lang="en-US" sz="1200" dirty="0"/>
          </a:p>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Queried through Onyx so the whole retrieval path is exercised, not just the model</a:t>
            </a:r>
            <a:endParaRPr lang="en-US" sz="1200" dirty="0"/>
          </a:p>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Three prompt lengths: 8K, 10K and 13K tokens - byte-identical files on both stacks</a:t>
            </a:r>
            <a:endParaRPr lang="en-US" sz="1200" dirty="0"/>
          </a:p>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22 llama-server logs captured; every figure in this deck is read from them</a:t>
            </a:r>
            <a:endParaRPr lang="en-US" sz="1200" dirty="0"/>
          </a:p>
        </p:txBody>
      </p:sp>
      <p:sp>
        <p:nvSpPr>
          <p:cNvPr id="16" name="Shape 12"/>
          <p:cNvSpPr/>
          <p:nvPr/>
        </p:nvSpPr>
        <p:spPr>
          <a:xfrm>
            <a:off x="548640" y="4828032"/>
            <a:ext cx="11091672" cy="548640"/>
          </a:xfrm>
          <a:prstGeom prst="roundRect">
            <a:avLst>
              <a:gd name="adj" fmla="val 41667"/>
            </a:avLst>
          </a:prstGeom>
          <a:solidFill>
            <a:srgbClr val="FCE3D2"/>
          </a:solidFill>
          <a:ln w="12700">
            <a:solidFill>
              <a:srgbClr val="FCE3D2"/>
            </a:solidFill>
            <a:prstDash val="solid"/>
          </a:ln>
        </p:spPr>
        <p:txBody>
          <a:bodyPr/>
          <a:lstStyle/>
          <a:p>
            <a:endParaRPr lang="en-US"/>
          </a:p>
        </p:txBody>
      </p:sp>
      <p:sp>
        <p:nvSpPr>
          <p:cNvPr id="17" name="Text 13"/>
          <p:cNvSpPr txBox="1"/>
          <p:nvPr/>
        </p:nvSpPr>
        <p:spPr>
          <a:xfrm>
            <a:off x="822960" y="4828032"/>
            <a:ext cx="10543032" cy="54864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Outcome: </a:t>
            </a:r>
            <a:r>
              <a:rPr lang="en-US" sz="1300" dirty="0">
                <a:solidFill>
                  <a:srgbClr val="5F6168"/>
                </a:solidFill>
                <a:latin typeface="Arial" pitchFamily="34" charset="0"/>
                <a:ea typeface="Arial" pitchFamily="34" charset="-122"/>
                <a:cs typeface="Arial" pitchFamily="34" charset="-120"/>
              </a:rPr>
              <a:t>the answer is the same on both stacks. What changes is how long the user waits for it - and the gap grows with context length.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METHOD</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How the benchmark was run</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5</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600200"/>
            <a:ext cx="2560320" cy="3840480"/>
          </a:xfrm>
          <a:prstGeom prst="roundRect">
            <a:avLst>
              <a:gd name="adj" fmla="val 2857"/>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600200"/>
            <a:ext cx="2560320" cy="64008"/>
          </a:xfrm>
          <a:prstGeom prst="rect">
            <a:avLst/>
          </a:prstGeom>
          <a:solidFill>
            <a:srgbClr val="F26522"/>
          </a:solidFill>
          <a:ln w="12700">
            <a:solidFill>
              <a:srgbClr val="F26522"/>
            </a:solidFill>
            <a:prstDash val="solid"/>
          </a:ln>
        </p:spPr>
        <p:txBody>
          <a:bodyPr/>
          <a:lstStyle/>
          <a:p>
            <a:endParaRPr lang="en-US"/>
          </a:p>
        </p:txBody>
      </p:sp>
      <p:sp>
        <p:nvSpPr>
          <p:cNvPr id="12" name="Shape 8"/>
          <p:cNvSpPr/>
          <p:nvPr/>
        </p:nvSpPr>
        <p:spPr>
          <a:xfrm>
            <a:off x="822960" y="1920240"/>
            <a:ext cx="502920" cy="502920"/>
          </a:xfrm>
          <a:prstGeom prst="ellipse">
            <a:avLst/>
          </a:prstGeom>
          <a:solidFill>
            <a:srgbClr val="FCE3D2"/>
          </a:solidFill>
          <a:ln w="12700">
            <a:solidFill>
              <a:srgbClr val="FCE3D2"/>
            </a:solidFill>
            <a:prstDash val="solid"/>
          </a:ln>
        </p:spPr>
        <p:txBody>
          <a:bodyPr/>
          <a:lstStyle/>
          <a:p>
            <a:endParaRPr lang="en-US"/>
          </a:p>
        </p:txBody>
      </p:sp>
      <p:sp>
        <p:nvSpPr>
          <p:cNvPr id="13" name="Text 9"/>
          <p:cNvSpPr txBox="1"/>
          <p:nvPr/>
        </p:nvSpPr>
        <p:spPr>
          <a:xfrm>
            <a:off x="822960" y="1920240"/>
            <a:ext cx="502920" cy="50292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1</a:t>
            </a:r>
            <a:endParaRPr lang="en-US" sz="1400" dirty="0"/>
          </a:p>
        </p:txBody>
      </p:sp>
      <p:sp>
        <p:nvSpPr>
          <p:cNvPr id="14" name="Text 10"/>
          <p:cNvSpPr txBox="1"/>
          <p:nvPr/>
        </p:nvSpPr>
        <p:spPr>
          <a:xfrm>
            <a:off x="822960" y="2523744"/>
            <a:ext cx="2011680" cy="502920"/>
          </a:xfrm>
          <a:prstGeom prst="rect">
            <a:avLst/>
          </a:prstGeom>
          <a:noFill/>
          <a:ln/>
        </p:spPr>
        <p:txBody>
          <a:bodyPr wrap="square" lIns="0" tIns="0" rIns="0" bIns="0" rtlCol="0" anchor="ctr"/>
          <a:lstStyle/>
          <a:p>
            <a:pPr marL="0" indent="0">
              <a:lnSpc>
                <a:spcPct val="115000"/>
              </a:lnSpc>
              <a:buNone/>
            </a:pPr>
            <a:r>
              <a:rPr lang="en-US" sz="1300" b="1" dirty="0">
                <a:solidFill>
                  <a:srgbClr val="1A1A1C"/>
                </a:solidFill>
                <a:latin typeface="Arial" pitchFamily="34" charset="0"/>
                <a:ea typeface="Arial" pitchFamily="34" charset="-122"/>
                <a:cs typeface="Arial" pitchFamily="34" charset="-120"/>
              </a:rPr>
              <a:t>Build the document</a:t>
            </a:r>
            <a:endParaRPr lang="en-US" sz="1300" dirty="0"/>
          </a:p>
        </p:txBody>
      </p:sp>
      <p:sp>
        <p:nvSpPr>
          <p:cNvPr id="15" name="Text 11"/>
          <p:cNvSpPr txBox="1"/>
          <p:nvPr/>
        </p:nvSpPr>
        <p:spPr>
          <a:xfrm>
            <a:off x="822960" y="3054096"/>
            <a:ext cx="2011680" cy="1783080"/>
          </a:xfrm>
          <a:prstGeom prst="rect">
            <a:avLst/>
          </a:prstGeom>
          <a:noFill/>
          <a:ln/>
        </p:spPr>
        <p:txBody>
          <a:bodyPr wrap="square" lIns="0" tIns="0" rIns="0" bIns="0" rtlCol="0" anchor="ctr"/>
          <a:lstStyle/>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Synthetic record set with a hidden BENCHMARK_IDENTIFIER</a:t>
            </a:r>
            <a:endParaRPr lang="en-US" sz="1000" dirty="0"/>
          </a:p>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Three sizes: 8K, 10K and 13K prompt tokens</a:t>
            </a:r>
            <a:endParaRPr lang="en-US" sz="1000" dirty="0"/>
          </a:p>
        </p:txBody>
      </p:sp>
      <p:sp>
        <p:nvSpPr>
          <p:cNvPr id="16" name="Shape 12"/>
          <p:cNvSpPr/>
          <p:nvPr/>
        </p:nvSpPr>
        <p:spPr>
          <a:xfrm>
            <a:off x="822960" y="4965192"/>
            <a:ext cx="123444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17" name="Text 13"/>
          <p:cNvSpPr txBox="1"/>
          <p:nvPr/>
        </p:nvSpPr>
        <p:spPr>
          <a:xfrm>
            <a:off x="822960" y="4965192"/>
            <a:ext cx="123444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DONE</a:t>
            </a:r>
            <a:endParaRPr lang="en-US" sz="900" dirty="0"/>
          </a:p>
        </p:txBody>
      </p:sp>
      <p:sp>
        <p:nvSpPr>
          <p:cNvPr id="18" name="Shape 14"/>
          <p:cNvSpPr/>
          <p:nvPr/>
        </p:nvSpPr>
        <p:spPr>
          <a:xfrm>
            <a:off x="3191256" y="3401568"/>
            <a:ext cx="201168" cy="237744"/>
          </a:xfrm>
          <a:prstGeom prst="rightArrow">
            <a:avLst/>
          </a:prstGeom>
          <a:solidFill>
            <a:srgbClr val="C9CAD0"/>
          </a:solidFill>
          <a:ln w="12700">
            <a:solidFill>
              <a:srgbClr val="C9CAD0"/>
            </a:solidFill>
            <a:prstDash val="solid"/>
          </a:ln>
        </p:spPr>
        <p:txBody>
          <a:bodyPr/>
          <a:lstStyle/>
          <a:p>
            <a:endParaRPr lang="en-US"/>
          </a:p>
        </p:txBody>
      </p:sp>
      <p:sp>
        <p:nvSpPr>
          <p:cNvPr id="19" name="Shape 15"/>
          <p:cNvSpPr/>
          <p:nvPr/>
        </p:nvSpPr>
        <p:spPr>
          <a:xfrm>
            <a:off x="3392424" y="1600200"/>
            <a:ext cx="2560320" cy="3840480"/>
          </a:xfrm>
          <a:prstGeom prst="roundRect">
            <a:avLst>
              <a:gd name="adj" fmla="val 2857"/>
            </a:avLst>
          </a:prstGeom>
          <a:solidFill>
            <a:srgbClr val="FAF9F6"/>
          </a:solidFill>
          <a:ln w="12700">
            <a:solidFill>
              <a:srgbClr val="E4E1DA"/>
            </a:solidFill>
            <a:prstDash val="solid"/>
          </a:ln>
        </p:spPr>
        <p:txBody>
          <a:bodyPr/>
          <a:lstStyle/>
          <a:p>
            <a:endParaRPr lang="en-US"/>
          </a:p>
        </p:txBody>
      </p:sp>
      <p:sp>
        <p:nvSpPr>
          <p:cNvPr id="20" name="Shape 16"/>
          <p:cNvSpPr/>
          <p:nvPr/>
        </p:nvSpPr>
        <p:spPr>
          <a:xfrm>
            <a:off x="3392424" y="1600200"/>
            <a:ext cx="2560320" cy="64008"/>
          </a:xfrm>
          <a:prstGeom prst="rect">
            <a:avLst/>
          </a:prstGeom>
          <a:solidFill>
            <a:srgbClr val="F26522"/>
          </a:solidFill>
          <a:ln w="12700">
            <a:solidFill>
              <a:srgbClr val="F26522"/>
            </a:solidFill>
            <a:prstDash val="solid"/>
          </a:ln>
        </p:spPr>
        <p:txBody>
          <a:bodyPr/>
          <a:lstStyle/>
          <a:p>
            <a:endParaRPr lang="en-US"/>
          </a:p>
        </p:txBody>
      </p:sp>
      <p:sp>
        <p:nvSpPr>
          <p:cNvPr id="21" name="Shape 17"/>
          <p:cNvSpPr/>
          <p:nvPr/>
        </p:nvSpPr>
        <p:spPr>
          <a:xfrm>
            <a:off x="3666744" y="1920240"/>
            <a:ext cx="502920" cy="502920"/>
          </a:xfrm>
          <a:prstGeom prst="ellipse">
            <a:avLst/>
          </a:prstGeom>
          <a:solidFill>
            <a:srgbClr val="FCE3D2"/>
          </a:solidFill>
          <a:ln w="12700">
            <a:solidFill>
              <a:srgbClr val="FCE3D2"/>
            </a:solidFill>
            <a:prstDash val="solid"/>
          </a:ln>
        </p:spPr>
        <p:txBody>
          <a:bodyPr/>
          <a:lstStyle/>
          <a:p>
            <a:endParaRPr lang="en-US"/>
          </a:p>
        </p:txBody>
      </p:sp>
      <p:sp>
        <p:nvSpPr>
          <p:cNvPr id="22" name="Text 18"/>
          <p:cNvSpPr txBox="1"/>
          <p:nvPr/>
        </p:nvSpPr>
        <p:spPr>
          <a:xfrm>
            <a:off x="3666744" y="1920240"/>
            <a:ext cx="502920" cy="50292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2</a:t>
            </a:r>
            <a:endParaRPr lang="en-US" sz="1400" dirty="0"/>
          </a:p>
        </p:txBody>
      </p:sp>
      <p:sp>
        <p:nvSpPr>
          <p:cNvPr id="23" name="Text 19"/>
          <p:cNvSpPr txBox="1"/>
          <p:nvPr/>
        </p:nvSpPr>
        <p:spPr>
          <a:xfrm>
            <a:off x="3666744" y="2523744"/>
            <a:ext cx="2011680" cy="502920"/>
          </a:xfrm>
          <a:prstGeom prst="rect">
            <a:avLst/>
          </a:prstGeom>
          <a:noFill/>
          <a:ln/>
        </p:spPr>
        <p:txBody>
          <a:bodyPr wrap="square" lIns="0" tIns="0" rIns="0" bIns="0" rtlCol="0" anchor="ctr"/>
          <a:lstStyle/>
          <a:p>
            <a:pPr marL="0" indent="0">
              <a:lnSpc>
                <a:spcPct val="115000"/>
              </a:lnSpc>
              <a:buNone/>
            </a:pPr>
            <a:r>
              <a:rPr lang="en-US" sz="1300" b="1" dirty="0">
                <a:solidFill>
                  <a:srgbClr val="1A1A1C"/>
                </a:solidFill>
                <a:latin typeface="Arial" pitchFamily="34" charset="0"/>
                <a:ea typeface="Arial" pitchFamily="34" charset="-122"/>
                <a:cs typeface="Arial" pitchFamily="34" charset="-120"/>
              </a:rPr>
              <a:t>Query through Onyx</a:t>
            </a:r>
            <a:endParaRPr lang="en-US" sz="1300" dirty="0"/>
          </a:p>
        </p:txBody>
      </p:sp>
      <p:sp>
        <p:nvSpPr>
          <p:cNvPr id="24" name="Text 20"/>
          <p:cNvSpPr txBox="1"/>
          <p:nvPr/>
        </p:nvSpPr>
        <p:spPr>
          <a:xfrm>
            <a:off x="3666744" y="3054096"/>
            <a:ext cx="2011680" cy="1783080"/>
          </a:xfrm>
          <a:prstGeom prst="rect">
            <a:avLst/>
          </a:prstGeom>
          <a:noFill/>
          <a:ln/>
        </p:spPr>
        <p:txBody>
          <a:bodyPr wrap="square" lIns="0" tIns="0" rIns="0" bIns="0" rtlCol="0" anchor="ctr"/>
          <a:lstStyle/>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Document indexed in Onyx, then queried from the UI</a:t>
            </a:r>
            <a:endParaRPr lang="en-US" sz="1000" dirty="0"/>
          </a:p>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Retrieved context assembled into the prompt sent to the model</a:t>
            </a:r>
            <a:endParaRPr lang="en-US" sz="1000" dirty="0"/>
          </a:p>
        </p:txBody>
      </p:sp>
      <p:sp>
        <p:nvSpPr>
          <p:cNvPr id="25" name="Shape 21"/>
          <p:cNvSpPr/>
          <p:nvPr/>
        </p:nvSpPr>
        <p:spPr>
          <a:xfrm>
            <a:off x="3666744" y="4965192"/>
            <a:ext cx="123444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26" name="Text 22"/>
          <p:cNvSpPr txBox="1"/>
          <p:nvPr/>
        </p:nvSpPr>
        <p:spPr>
          <a:xfrm>
            <a:off x="3666744" y="4965192"/>
            <a:ext cx="123444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DONE</a:t>
            </a:r>
            <a:endParaRPr lang="en-US" sz="900" dirty="0"/>
          </a:p>
        </p:txBody>
      </p:sp>
      <p:sp>
        <p:nvSpPr>
          <p:cNvPr id="27" name="Shape 23"/>
          <p:cNvSpPr/>
          <p:nvPr/>
        </p:nvSpPr>
        <p:spPr>
          <a:xfrm>
            <a:off x="6035040" y="3401568"/>
            <a:ext cx="201168" cy="237744"/>
          </a:xfrm>
          <a:prstGeom prst="rightArrow">
            <a:avLst/>
          </a:prstGeom>
          <a:solidFill>
            <a:srgbClr val="C9CAD0"/>
          </a:solidFill>
          <a:ln w="12700">
            <a:solidFill>
              <a:srgbClr val="C9CAD0"/>
            </a:solidFill>
            <a:prstDash val="solid"/>
          </a:ln>
        </p:spPr>
        <p:txBody>
          <a:bodyPr/>
          <a:lstStyle/>
          <a:p>
            <a:endParaRPr lang="en-US"/>
          </a:p>
        </p:txBody>
      </p:sp>
      <p:sp>
        <p:nvSpPr>
          <p:cNvPr id="28" name="Shape 24"/>
          <p:cNvSpPr/>
          <p:nvPr/>
        </p:nvSpPr>
        <p:spPr>
          <a:xfrm>
            <a:off x="6236208" y="1600200"/>
            <a:ext cx="2560320" cy="3840480"/>
          </a:xfrm>
          <a:prstGeom prst="roundRect">
            <a:avLst>
              <a:gd name="adj" fmla="val 2857"/>
            </a:avLst>
          </a:prstGeom>
          <a:solidFill>
            <a:srgbClr val="FAF9F6"/>
          </a:solidFill>
          <a:ln w="12700">
            <a:solidFill>
              <a:srgbClr val="E4E1DA"/>
            </a:solidFill>
            <a:prstDash val="solid"/>
          </a:ln>
        </p:spPr>
        <p:txBody>
          <a:bodyPr/>
          <a:lstStyle/>
          <a:p>
            <a:endParaRPr lang="en-US"/>
          </a:p>
        </p:txBody>
      </p:sp>
      <p:sp>
        <p:nvSpPr>
          <p:cNvPr id="29" name="Shape 25"/>
          <p:cNvSpPr/>
          <p:nvPr/>
        </p:nvSpPr>
        <p:spPr>
          <a:xfrm>
            <a:off x="6236208" y="1600200"/>
            <a:ext cx="2560320" cy="64008"/>
          </a:xfrm>
          <a:prstGeom prst="rect">
            <a:avLst/>
          </a:prstGeom>
          <a:solidFill>
            <a:srgbClr val="F26522"/>
          </a:solidFill>
          <a:ln w="12700">
            <a:solidFill>
              <a:srgbClr val="F26522"/>
            </a:solidFill>
            <a:prstDash val="solid"/>
          </a:ln>
        </p:spPr>
        <p:txBody>
          <a:bodyPr/>
          <a:lstStyle/>
          <a:p>
            <a:endParaRPr lang="en-US"/>
          </a:p>
        </p:txBody>
      </p:sp>
      <p:sp>
        <p:nvSpPr>
          <p:cNvPr id="30" name="Shape 26"/>
          <p:cNvSpPr/>
          <p:nvPr/>
        </p:nvSpPr>
        <p:spPr>
          <a:xfrm>
            <a:off x="6510528" y="1920240"/>
            <a:ext cx="502920" cy="502920"/>
          </a:xfrm>
          <a:prstGeom prst="ellipse">
            <a:avLst/>
          </a:prstGeom>
          <a:solidFill>
            <a:srgbClr val="FCE3D2"/>
          </a:solidFill>
          <a:ln w="12700">
            <a:solidFill>
              <a:srgbClr val="FCE3D2"/>
            </a:solidFill>
            <a:prstDash val="solid"/>
          </a:ln>
        </p:spPr>
        <p:txBody>
          <a:bodyPr/>
          <a:lstStyle/>
          <a:p>
            <a:endParaRPr lang="en-US"/>
          </a:p>
        </p:txBody>
      </p:sp>
      <p:sp>
        <p:nvSpPr>
          <p:cNvPr id="31" name="Text 27"/>
          <p:cNvSpPr txBox="1"/>
          <p:nvPr/>
        </p:nvSpPr>
        <p:spPr>
          <a:xfrm>
            <a:off x="6510528" y="1920240"/>
            <a:ext cx="502920" cy="50292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3</a:t>
            </a:r>
            <a:endParaRPr lang="en-US" sz="1400" dirty="0"/>
          </a:p>
        </p:txBody>
      </p:sp>
      <p:sp>
        <p:nvSpPr>
          <p:cNvPr id="32" name="Text 28"/>
          <p:cNvSpPr txBox="1"/>
          <p:nvPr/>
        </p:nvSpPr>
        <p:spPr>
          <a:xfrm>
            <a:off x="6510528" y="2523744"/>
            <a:ext cx="2011680" cy="502920"/>
          </a:xfrm>
          <a:prstGeom prst="rect">
            <a:avLst/>
          </a:prstGeom>
          <a:noFill/>
          <a:ln/>
        </p:spPr>
        <p:txBody>
          <a:bodyPr wrap="square" lIns="0" tIns="0" rIns="0" bIns="0" rtlCol="0" anchor="ctr"/>
          <a:lstStyle/>
          <a:p>
            <a:pPr marL="0" indent="0">
              <a:lnSpc>
                <a:spcPct val="115000"/>
              </a:lnSpc>
              <a:buNone/>
            </a:pPr>
            <a:r>
              <a:rPr lang="en-US" sz="1300" b="1" dirty="0">
                <a:solidFill>
                  <a:srgbClr val="1A1A1C"/>
                </a:solidFill>
                <a:latin typeface="Arial" pitchFamily="34" charset="0"/>
                <a:ea typeface="Arial" pitchFamily="34" charset="-122"/>
                <a:cs typeface="Arial" pitchFamily="34" charset="-120"/>
              </a:rPr>
              <a:t>Check the answer</a:t>
            </a:r>
            <a:endParaRPr lang="en-US" sz="1300" dirty="0"/>
          </a:p>
        </p:txBody>
      </p:sp>
      <p:sp>
        <p:nvSpPr>
          <p:cNvPr id="33" name="Text 29"/>
          <p:cNvSpPr txBox="1"/>
          <p:nvPr/>
        </p:nvSpPr>
        <p:spPr>
          <a:xfrm>
            <a:off x="6510528" y="3054096"/>
            <a:ext cx="2011680" cy="1783080"/>
          </a:xfrm>
          <a:prstGeom prst="rect">
            <a:avLst/>
          </a:prstGeom>
          <a:noFill/>
          <a:ln/>
        </p:spPr>
        <p:txBody>
          <a:bodyPr wrap="square" lIns="0" tIns="0" rIns="0" bIns="0" rtlCol="0" anchor="ctr"/>
          <a:lstStyle/>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Model must return the hidden identifier</a:t>
            </a:r>
            <a:endParaRPr lang="en-US" sz="1000" dirty="0"/>
          </a:p>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Confirms retrieval brought back the right passage</a:t>
            </a:r>
            <a:endParaRPr lang="en-US" sz="1000" dirty="0"/>
          </a:p>
        </p:txBody>
      </p:sp>
      <p:sp>
        <p:nvSpPr>
          <p:cNvPr id="34" name="Shape 30"/>
          <p:cNvSpPr/>
          <p:nvPr/>
        </p:nvSpPr>
        <p:spPr>
          <a:xfrm>
            <a:off x="6510528" y="4965192"/>
            <a:ext cx="123444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35" name="Text 31"/>
          <p:cNvSpPr txBox="1"/>
          <p:nvPr/>
        </p:nvSpPr>
        <p:spPr>
          <a:xfrm>
            <a:off x="6510528" y="4965192"/>
            <a:ext cx="123444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DONE</a:t>
            </a:r>
            <a:endParaRPr lang="en-US" sz="900" dirty="0"/>
          </a:p>
        </p:txBody>
      </p:sp>
      <p:sp>
        <p:nvSpPr>
          <p:cNvPr id="36" name="Shape 32"/>
          <p:cNvSpPr/>
          <p:nvPr/>
        </p:nvSpPr>
        <p:spPr>
          <a:xfrm>
            <a:off x="8878824" y="3401568"/>
            <a:ext cx="201168" cy="237744"/>
          </a:xfrm>
          <a:prstGeom prst="rightArrow">
            <a:avLst/>
          </a:prstGeom>
          <a:solidFill>
            <a:srgbClr val="C9CAD0"/>
          </a:solidFill>
          <a:ln w="12700">
            <a:solidFill>
              <a:srgbClr val="C9CAD0"/>
            </a:solidFill>
            <a:prstDash val="solid"/>
          </a:ln>
        </p:spPr>
        <p:txBody>
          <a:bodyPr/>
          <a:lstStyle/>
          <a:p>
            <a:endParaRPr lang="en-US"/>
          </a:p>
        </p:txBody>
      </p:sp>
      <p:sp>
        <p:nvSpPr>
          <p:cNvPr id="37" name="Shape 33"/>
          <p:cNvSpPr/>
          <p:nvPr/>
        </p:nvSpPr>
        <p:spPr>
          <a:xfrm>
            <a:off x="9079992" y="1600200"/>
            <a:ext cx="2560320" cy="3840480"/>
          </a:xfrm>
          <a:prstGeom prst="roundRect">
            <a:avLst>
              <a:gd name="adj" fmla="val 2857"/>
            </a:avLst>
          </a:prstGeom>
          <a:solidFill>
            <a:srgbClr val="FAF9F6"/>
          </a:solidFill>
          <a:ln w="12700">
            <a:solidFill>
              <a:srgbClr val="E4E1DA"/>
            </a:solidFill>
            <a:prstDash val="solid"/>
          </a:ln>
        </p:spPr>
        <p:txBody>
          <a:bodyPr/>
          <a:lstStyle/>
          <a:p>
            <a:endParaRPr lang="en-US"/>
          </a:p>
        </p:txBody>
      </p:sp>
      <p:sp>
        <p:nvSpPr>
          <p:cNvPr id="38" name="Shape 34"/>
          <p:cNvSpPr/>
          <p:nvPr/>
        </p:nvSpPr>
        <p:spPr>
          <a:xfrm>
            <a:off x="9079992" y="1600200"/>
            <a:ext cx="2560320" cy="64008"/>
          </a:xfrm>
          <a:prstGeom prst="rect">
            <a:avLst/>
          </a:prstGeom>
          <a:solidFill>
            <a:srgbClr val="F26522"/>
          </a:solidFill>
          <a:ln w="12700">
            <a:solidFill>
              <a:srgbClr val="F26522"/>
            </a:solidFill>
            <a:prstDash val="solid"/>
          </a:ln>
        </p:spPr>
        <p:txBody>
          <a:bodyPr/>
          <a:lstStyle/>
          <a:p>
            <a:endParaRPr lang="en-US"/>
          </a:p>
        </p:txBody>
      </p:sp>
      <p:sp>
        <p:nvSpPr>
          <p:cNvPr id="39" name="Shape 35"/>
          <p:cNvSpPr/>
          <p:nvPr/>
        </p:nvSpPr>
        <p:spPr>
          <a:xfrm>
            <a:off x="9354312" y="1920240"/>
            <a:ext cx="502920" cy="502920"/>
          </a:xfrm>
          <a:prstGeom prst="ellipse">
            <a:avLst/>
          </a:prstGeom>
          <a:solidFill>
            <a:srgbClr val="FCE3D2"/>
          </a:solidFill>
          <a:ln w="12700">
            <a:solidFill>
              <a:srgbClr val="FCE3D2"/>
            </a:solidFill>
            <a:prstDash val="solid"/>
          </a:ln>
        </p:spPr>
        <p:txBody>
          <a:bodyPr/>
          <a:lstStyle/>
          <a:p>
            <a:endParaRPr lang="en-US"/>
          </a:p>
        </p:txBody>
      </p:sp>
      <p:sp>
        <p:nvSpPr>
          <p:cNvPr id="40" name="Text 36"/>
          <p:cNvSpPr txBox="1"/>
          <p:nvPr/>
        </p:nvSpPr>
        <p:spPr>
          <a:xfrm>
            <a:off x="9354312" y="1920240"/>
            <a:ext cx="502920" cy="50292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4</a:t>
            </a:r>
            <a:endParaRPr lang="en-US" sz="1400" dirty="0"/>
          </a:p>
        </p:txBody>
      </p:sp>
      <p:sp>
        <p:nvSpPr>
          <p:cNvPr id="41" name="Text 37"/>
          <p:cNvSpPr txBox="1"/>
          <p:nvPr/>
        </p:nvSpPr>
        <p:spPr>
          <a:xfrm>
            <a:off x="9354312" y="2523744"/>
            <a:ext cx="2011680" cy="502920"/>
          </a:xfrm>
          <a:prstGeom prst="rect">
            <a:avLst/>
          </a:prstGeom>
          <a:noFill/>
          <a:ln/>
        </p:spPr>
        <p:txBody>
          <a:bodyPr wrap="square" lIns="0" tIns="0" rIns="0" bIns="0" rtlCol="0" anchor="ctr"/>
          <a:lstStyle/>
          <a:p>
            <a:pPr marL="0" indent="0">
              <a:lnSpc>
                <a:spcPct val="115000"/>
              </a:lnSpc>
              <a:buNone/>
            </a:pPr>
            <a:r>
              <a:rPr lang="en-US" sz="1300" b="1" dirty="0">
                <a:solidFill>
                  <a:srgbClr val="1A1A1C"/>
                </a:solidFill>
                <a:latin typeface="Arial" pitchFamily="34" charset="0"/>
                <a:ea typeface="Arial" pitchFamily="34" charset="-122"/>
                <a:cs typeface="Arial" pitchFamily="34" charset="-120"/>
              </a:rPr>
              <a:t>Repeat on both stacks</a:t>
            </a:r>
            <a:endParaRPr lang="en-US" sz="1300" dirty="0"/>
          </a:p>
        </p:txBody>
      </p:sp>
      <p:sp>
        <p:nvSpPr>
          <p:cNvPr id="42" name="Text 38"/>
          <p:cNvSpPr txBox="1"/>
          <p:nvPr/>
        </p:nvSpPr>
        <p:spPr>
          <a:xfrm>
            <a:off x="9354312" y="3054096"/>
            <a:ext cx="2011680" cy="1783080"/>
          </a:xfrm>
          <a:prstGeom prst="rect">
            <a:avLst/>
          </a:prstGeom>
          <a:noFill/>
          <a:ln/>
        </p:spPr>
        <p:txBody>
          <a:bodyPr wrap="square" lIns="0" tIns="0" rIns="0" bIns="0" rtlCol="0" anchor="ctr"/>
          <a:lstStyle/>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Same prompt file with and without aiDAPTIV+</a:t>
            </a:r>
            <a:endParaRPr lang="en-US" sz="1000" dirty="0"/>
          </a:p>
          <a:p>
            <a:pPr marL="0" indent="0">
              <a:lnSpc>
                <a:spcPct val="130000"/>
              </a:lnSpc>
              <a:spcAft>
                <a:spcPts val="600"/>
              </a:spcAft>
              <a:buNone/>
            </a:pPr>
            <a:r>
              <a:rPr lang="en-US" sz="1000" dirty="0">
                <a:solidFill>
                  <a:srgbClr val="5F6168"/>
                </a:solidFill>
                <a:latin typeface="Arial" pitchFamily="34" charset="0"/>
                <a:ea typeface="Arial" pitchFamily="34" charset="-122"/>
                <a:cs typeface="Arial" pitchFamily="34" charset="-120"/>
              </a:rPr>
              <a:t>•  Log and screen recording captured for every run</a:t>
            </a:r>
            <a:endParaRPr lang="en-US" sz="1000" dirty="0"/>
          </a:p>
        </p:txBody>
      </p:sp>
      <p:sp>
        <p:nvSpPr>
          <p:cNvPr id="43" name="Shape 39"/>
          <p:cNvSpPr/>
          <p:nvPr/>
        </p:nvSpPr>
        <p:spPr>
          <a:xfrm>
            <a:off x="9354312" y="4965192"/>
            <a:ext cx="123444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44" name="Text 40"/>
          <p:cNvSpPr txBox="1"/>
          <p:nvPr/>
        </p:nvSpPr>
        <p:spPr>
          <a:xfrm>
            <a:off x="9354312" y="4965192"/>
            <a:ext cx="123444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DONE</a:t>
            </a:r>
            <a:endParaRPr lang="en-US" sz="900" dirty="0"/>
          </a:p>
        </p:txBody>
      </p:sp>
      <p:sp>
        <p:nvSpPr>
          <p:cNvPr id="45" name="Shape 41"/>
          <p:cNvSpPr/>
          <p:nvPr/>
        </p:nvSpPr>
        <p:spPr>
          <a:xfrm>
            <a:off x="548640" y="5550408"/>
            <a:ext cx="11091672" cy="704088"/>
          </a:xfrm>
          <a:prstGeom prst="roundRect">
            <a:avLst>
              <a:gd name="adj" fmla="val 32468"/>
            </a:avLst>
          </a:prstGeom>
          <a:solidFill>
            <a:srgbClr val="FCE3D2"/>
          </a:solidFill>
          <a:ln w="12700">
            <a:solidFill>
              <a:srgbClr val="FCE3D2"/>
            </a:solidFill>
            <a:prstDash val="solid"/>
          </a:ln>
        </p:spPr>
        <p:txBody>
          <a:bodyPr/>
          <a:lstStyle/>
          <a:p>
            <a:endParaRPr lang="en-US"/>
          </a:p>
        </p:txBody>
      </p:sp>
      <p:sp>
        <p:nvSpPr>
          <p:cNvPr id="46" name="Text 42"/>
          <p:cNvSpPr txBox="1"/>
          <p:nvPr/>
        </p:nvSpPr>
        <p:spPr>
          <a:xfrm>
            <a:off x="822960" y="5550408"/>
            <a:ext cx="10543032" cy="704088"/>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Controls: </a:t>
            </a:r>
            <a:r>
              <a:rPr lang="en-US" sz="1300" dirty="0">
                <a:solidFill>
                  <a:srgbClr val="5F6168"/>
                </a:solidFill>
                <a:latin typeface="Arial" pitchFamily="34" charset="0"/>
                <a:ea typeface="Arial" pitchFamily="34" charset="-122"/>
                <a:cs typeface="Arial" pitchFamily="34" charset="-120"/>
              </a:rPr>
              <a:t>same model, same 32,000-token server context, byte-identical prompt files - the only variable between a pair of runs is aiDAPTIV+.</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HOW TO READ IT</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Three states of the same query</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6</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81328"/>
            <a:ext cx="3575304" cy="361188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481328"/>
            <a:ext cx="3575304" cy="64008"/>
          </a:xfrm>
          <a:prstGeom prst="rect">
            <a:avLst/>
          </a:prstGeom>
          <a:solidFill>
            <a:srgbClr val="C9CAD0"/>
          </a:solidFill>
          <a:ln w="12700">
            <a:solidFill>
              <a:srgbClr val="C9CAD0"/>
            </a:solidFill>
            <a:prstDash val="solid"/>
          </a:ln>
        </p:spPr>
        <p:txBody>
          <a:bodyPr/>
          <a:lstStyle/>
          <a:p>
            <a:endParaRPr lang="en-US"/>
          </a:p>
        </p:txBody>
      </p:sp>
      <p:sp>
        <p:nvSpPr>
          <p:cNvPr id="12" name="Text 8"/>
          <p:cNvSpPr txBox="1"/>
          <p:nvPr/>
        </p:nvSpPr>
        <p:spPr>
          <a:xfrm>
            <a:off x="822960" y="1719072"/>
            <a:ext cx="3026664" cy="237744"/>
          </a:xfrm>
          <a:prstGeom prst="rect">
            <a:avLst/>
          </a:prstGeom>
          <a:noFill/>
          <a:ln/>
        </p:spPr>
        <p:txBody>
          <a:bodyPr wrap="square" lIns="0" tIns="0" rIns="0" bIns="0" rtlCol="0" anchor="ctr"/>
          <a:lstStyle/>
          <a:p>
            <a:pPr marL="0" indent="0">
              <a:buNone/>
            </a:pPr>
            <a:r>
              <a:rPr lang="en-US" sz="1000" b="1" dirty="0">
                <a:solidFill>
                  <a:srgbClr val="9A9CA3"/>
                </a:solidFill>
                <a:latin typeface="Arial" pitchFamily="34" charset="0"/>
                <a:ea typeface="Arial" pitchFamily="34" charset="-122"/>
                <a:cs typeface="Arial" pitchFamily="34" charset="-120"/>
              </a:rPr>
              <a:t>WITHOUT aiDAPTIV+</a:t>
            </a:r>
            <a:endParaRPr lang="en-US" sz="1000" dirty="0"/>
          </a:p>
        </p:txBody>
      </p:sp>
      <p:sp>
        <p:nvSpPr>
          <p:cNvPr id="13" name="Text 9"/>
          <p:cNvSpPr txBox="1"/>
          <p:nvPr/>
        </p:nvSpPr>
        <p:spPr>
          <a:xfrm>
            <a:off x="822960" y="1975104"/>
            <a:ext cx="1828800" cy="411480"/>
          </a:xfrm>
          <a:prstGeom prst="rect">
            <a:avLst/>
          </a:prstGeom>
          <a:noFill/>
          <a:ln/>
        </p:spPr>
        <p:txBody>
          <a:bodyPr wrap="square" lIns="0" tIns="0" rIns="0" bIns="0" rtlCol="0" anchor="ctr"/>
          <a:lstStyle/>
          <a:p>
            <a:pPr marL="0" indent="0">
              <a:buNone/>
            </a:pPr>
            <a:r>
              <a:rPr lang="en-US" sz="2400" b="1" dirty="0">
                <a:solidFill>
                  <a:srgbClr val="1A1A1C"/>
                </a:solidFill>
                <a:latin typeface="Arial" pitchFamily="34" charset="0"/>
                <a:ea typeface="Arial" pitchFamily="34" charset="-122"/>
                <a:cs typeface="Arial" pitchFamily="34" charset="-120"/>
              </a:rPr>
              <a:t>271.9 s</a:t>
            </a:r>
            <a:endParaRPr lang="en-US" sz="2400" dirty="0"/>
          </a:p>
        </p:txBody>
      </p:sp>
      <p:sp>
        <p:nvSpPr>
          <p:cNvPr id="14" name="Text 10"/>
          <p:cNvSpPr txBox="1"/>
          <p:nvPr/>
        </p:nvSpPr>
        <p:spPr>
          <a:xfrm>
            <a:off x="822960" y="2414016"/>
            <a:ext cx="3026664" cy="219456"/>
          </a:xfrm>
          <a:prstGeom prst="rect">
            <a:avLst/>
          </a:prstGeom>
          <a:noFill/>
          <a:ln/>
        </p:spPr>
        <p:txBody>
          <a:bodyPr wrap="square" lIns="0" tIns="0" rIns="0" bIns="0" rtlCol="0" anchor="ctr"/>
          <a:lstStyle/>
          <a:p>
            <a:pPr marL="0" indent="0">
              <a:buNone/>
            </a:pPr>
            <a:r>
              <a:rPr lang="en-US" sz="950" dirty="0">
                <a:solidFill>
                  <a:srgbClr val="9A9CA3"/>
                </a:solidFill>
                <a:latin typeface="Arial" pitchFamily="34" charset="0"/>
                <a:ea typeface="Arial" pitchFamily="34" charset="-122"/>
                <a:cs typeface="Arial" pitchFamily="34" charset="-120"/>
              </a:rPr>
              <a:t>13K query, every time</a:t>
            </a:r>
            <a:endParaRPr lang="en-US" sz="950" dirty="0"/>
          </a:p>
        </p:txBody>
      </p:sp>
      <p:sp>
        <p:nvSpPr>
          <p:cNvPr id="15" name="Shape 11"/>
          <p:cNvSpPr/>
          <p:nvPr/>
        </p:nvSpPr>
        <p:spPr>
          <a:xfrm>
            <a:off x="822960" y="2724912"/>
            <a:ext cx="3026664" cy="9144"/>
          </a:xfrm>
          <a:prstGeom prst="rect">
            <a:avLst/>
          </a:prstGeom>
          <a:solidFill>
            <a:srgbClr val="E4E1DA"/>
          </a:solidFill>
          <a:ln w="12700">
            <a:solidFill>
              <a:srgbClr val="E4E1DA"/>
            </a:solidFill>
            <a:prstDash val="solid"/>
          </a:ln>
        </p:spPr>
        <p:txBody>
          <a:bodyPr/>
          <a:lstStyle/>
          <a:p>
            <a:endParaRPr lang="en-US"/>
          </a:p>
        </p:txBody>
      </p:sp>
      <p:sp>
        <p:nvSpPr>
          <p:cNvPr id="16" name="Text 12"/>
          <p:cNvSpPr txBox="1"/>
          <p:nvPr/>
        </p:nvSpPr>
        <p:spPr>
          <a:xfrm>
            <a:off x="822960" y="2834640"/>
            <a:ext cx="3026664" cy="1051560"/>
          </a:xfrm>
          <a:prstGeom prst="rect">
            <a:avLst/>
          </a:prstGeom>
          <a:noFill/>
          <a:ln/>
        </p:spPr>
        <p:txBody>
          <a:bodyPr wrap="square" lIns="0" tIns="0" rIns="0" bIns="0" rtlCol="0" anchor="t"/>
          <a:lstStyle/>
          <a:p>
            <a:pPr marL="0" indent="0">
              <a:lnSpc>
                <a:spcPct val="125000"/>
              </a:lnSpc>
              <a:buNone/>
            </a:pPr>
            <a:r>
              <a:rPr lang="en-US" sz="1050" dirty="0">
                <a:solidFill>
                  <a:srgbClr val="5F6168"/>
                </a:solidFill>
                <a:latin typeface="Arial" pitchFamily="34" charset="0"/>
                <a:ea typeface="Arial" pitchFamily="34" charset="-122"/>
                <a:cs typeface="Arial" pitchFamily="34" charset="-120"/>
              </a:rPr>
              <a:t>Middleware off, so there is no cache anywhere. Every question re-reads the whole document from scratch and the second question costs the same as the first.</a:t>
            </a:r>
            <a:endParaRPr lang="en-US" sz="1050" dirty="0"/>
          </a:p>
        </p:txBody>
      </p:sp>
      <p:sp>
        <p:nvSpPr>
          <p:cNvPr id="17" name="Shape 13"/>
          <p:cNvSpPr/>
          <p:nvPr/>
        </p:nvSpPr>
        <p:spPr>
          <a:xfrm>
            <a:off x="822960" y="3977640"/>
            <a:ext cx="3026664" cy="868680"/>
          </a:xfrm>
          <a:prstGeom prst="roundRect">
            <a:avLst>
              <a:gd name="adj" fmla="val 5263"/>
            </a:avLst>
          </a:prstGeom>
          <a:solidFill>
            <a:srgbClr val="F0EFEC"/>
          </a:solidFill>
          <a:ln w="12700">
            <a:solidFill>
              <a:srgbClr val="E4E1DA"/>
            </a:solidFill>
            <a:prstDash val="solid"/>
          </a:ln>
        </p:spPr>
        <p:txBody>
          <a:bodyPr/>
          <a:lstStyle/>
          <a:p>
            <a:endParaRPr lang="en-US"/>
          </a:p>
        </p:txBody>
      </p:sp>
      <p:sp>
        <p:nvSpPr>
          <p:cNvPr id="18" name="Text 14"/>
          <p:cNvSpPr txBox="1"/>
          <p:nvPr/>
        </p:nvSpPr>
        <p:spPr>
          <a:xfrm>
            <a:off x="960120" y="4069080"/>
            <a:ext cx="2752344" cy="685800"/>
          </a:xfrm>
          <a:prstGeom prst="rect">
            <a:avLst/>
          </a:prstGeom>
          <a:noFill/>
          <a:ln/>
        </p:spPr>
        <p:txBody>
          <a:bodyPr wrap="square" lIns="0" tIns="0" rIns="0" bIns="0" rtlCol="0" anchor="ctr"/>
          <a:lstStyle/>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prompt eval time = 271859.39 ms</a:t>
            </a:r>
            <a:endParaRPr lang="en-US" sz="750" dirty="0"/>
          </a:p>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  / 12778 tokens</a:t>
            </a:r>
            <a:endParaRPr lang="en-US" sz="750" dirty="0"/>
          </a:p>
        </p:txBody>
      </p:sp>
      <p:sp>
        <p:nvSpPr>
          <p:cNvPr id="19" name="Shape 15"/>
          <p:cNvSpPr/>
          <p:nvPr/>
        </p:nvSpPr>
        <p:spPr>
          <a:xfrm>
            <a:off x="4306824" y="1481328"/>
            <a:ext cx="3575304" cy="361188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20" name="Shape 16"/>
          <p:cNvSpPr/>
          <p:nvPr/>
        </p:nvSpPr>
        <p:spPr>
          <a:xfrm>
            <a:off x="4306824" y="1481328"/>
            <a:ext cx="3575304" cy="64008"/>
          </a:xfrm>
          <a:prstGeom prst="rect">
            <a:avLst/>
          </a:prstGeom>
          <a:solidFill>
            <a:srgbClr val="F9A11B"/>
          </a:solidFill>
          <a:ln w="12700">
            <a:solidFill>
              <a:srgbClr val="F9A11B"/>
            </a:solidFill>
            <a:prstDash val="solid"/>
          </a:ln>
        </p:spPr>
        <p:txBody>
          <a:bodyPr/>
          <a:lstStyle/>
          <a:p>
            <a:endParaRPr lang="en-US"/>
          </a:p>
        </p:txBody>
      </p:sp>
      <p:sp>
        <p:nvSpPr>
          <p:cNvPr id="21" name="Text 17"/>
          <p:cNvSpPr txBox="1"/>
          <p:nvPr/>
        </p:nvSpPr>
        <p:spPr>
          <a:xfrm>
            <a:off x="4581144" y="1719072"/>
            <a:ext cx="3026664" cy="237744"/>
          </a:xfrm>
          <a:prstGeom prst="rect">
            <a:avLst/>
          </a:prstGeom>
          <a:noFill/>
          <a:ln/>
        </p:spPr>
        <p:txBody>
          <a:bodyPr wrap="square" lIns="0" tIns="0" rIns="0" bIns="0" rtlCol="0" anchor="ctr"/>
          <a:lstStyle/>
          <a:p>
            <a:pPr marL="0" indent="0">
              <a:buNone/>
            </a:pPr>
            <a:r>
              <a:rPr lang="en-US" sz="1000" b="1" dirty="0">
                <a:solidFill>
                  <a:srgbClr val="F26522"/>
                </a:solidFill>
                <a:latin typeface="Arial" pitchFamily="34" charset="0"/>
                <a:ea typeface="Arial" pitchFamily="34" charset="-122"/>
                <a:cs typeface="Arial" pitchFamily="34" charset="-120"/>
              </a:rPr>
              <a:t>WITH — FIRST RUN (COLD)</a:t>
            </a:r>
            <a:endParaRPr lang="en-US" sz="1000" dirty="0"/>
          </a:p>
        </p:txBody>
      </p:sp>
      <p:sp>
        <p:nvSpPr>
          <p:cNvPr id="22" name="Text 18"/>
          <p:cNvSpPr txBox="1"/>
          <p:nvPr/>
        </p:nvSpPr>
        <p:spPr>
          <a:xfrm>
            <a:off x="4581144" y="1975104"/>
            <a:ext cx="1828800" cy="411480"/>
          </a:xfrm>
          <a:prstGeom prst="rect">
            <a:avLst/>
          </a:prstGeom>
          <a:noFill/>
          <a:ln/>
        </p:spPr>
        <p:txBody>
          <a:bodyPr wrap="square" lIns="0" tIns="0" rIns="0" bIns="0" rtlCol="0" anchor="ctr"/>
          <a:lstStyle/>
          <a:p>
            <a:pPr marL="0" indent="0">
              <a:buNone/>
            </a:pPr>
            <a:r>
              <a:rPr lang="en-US" sz="2400" b="1" dirty="0">
                <a:solidFill>
                  <a:srgbClr val="1A1A1C"/>
                </a:solidFill>
                <a:latin typeface="Arial" pitchFamily="34" charset="0"/>
                <a:ea typeface="Arial" pitchFamily="34" charset="-122"/>
                <a:cs typeface="Arial" pitchFamily="34" charset="-120"/>
              </a:rPr>
              <a:t>152.9 s</a:t>
            </a:r>
            <a:endParaRPr lang="en-US" sz="2400" dirty="0"/>
          </a:p>
        </p:txBody>
      </p:sp>
      <p:sp>
        <p:nvSpPr>
          <p:cNvPr id="23" name="Text 19"/>
          <p:cNvSpPr txBox="1"/>
          <p:nvPr/>
        </p:nvSpPr>
        <p:spPr>
          <a:xfrm>
            <a:off x="4581144" y="2414016"/>
            <a:ext cx="3026664" cy="219456"/>
          </a:xfrm>
          <a:prstGeom prst="rect">
            <a:avLst/>
          </a:prstGeom>
          <a:noFill/>
          <a:ln/>
        </p:spPr>
        <p:txBody>
          <a:bodyPr wrap="square" lIns="0" tIns="0" rIns="0" bIns="0" rtlCol="0" anchor="ctr"/>
          <a:lstStyle/>
          <a:p>
            <a:pPr marL="0" indent="0">
              <a:buNone/>
            </a:pPr>
            <a:r>
              <a:rPr lang="en-US" sz="950" dirty="0">
                <a:solidFill>
                  <a:srgbClr val="9A9CA3"/>
                </a:solidFill>
                <a:latin typeface="Arial" pitchFamily="34" charset="0"/>
                <a:ea typeface="Arial" pitchFamily="34" charset="-122"/>
                <a:cs typeface="Arial" pitchFamily="34" charset="-120"/>
              </a:rPr>
              <a:t>13K query, first time only</a:t>
            </a:r>
            <a:endParaRPr lang="en-US" sz="950" dirty="0"/>
          </a:p>
        </p:txBody>
      </p:sp>
      <p:sp>
        <p:nvSpPr>
          <p:cNvPr id="24" name="Shape 20"/>
          <p:cNvSpPr/>
          <p:nvPr/>
        </p:nvSpPr>
        <p:spPr>
          <a:xfrm>
            <a:off x="4581144" y="2724912"/>
            <a:ext cx="3026664" cy="9144"/>
          </a:xfrm>
          <a:prstGeom prst="rect">
            <a:avLst/>
          </a:prstGeom>
          <a:solidFill>
            <a:srgbClr val="E4E1DA"/>
          </a:solidFill>
          <a:ln w="12700">
            <a:solidFill>
              <a:srgbClr val="E4E1DA"/>
            </a:solidFill>
            <a:prstDash val="solid"/>
          </a:ln>
        </p:spPr>
        <p:txBody>
          <a:bodyPr/>
          <a:lstStyle/>
          <a:p>
            <a:endParaRPr lang="en-US"/>
          </a:p>
        </p:txBody>
      </p:sp>
      <p:sp>
        <p:nvSpPr>
          <p:cNvPr id="25" name="Text 21"/>
          <p:cNvSpPr txBox="1"/>
          <p:nvPr/>
        </p:nvSpPr>
        <p:spPr>
          <a:xfrm>
            <a:off x="4581144" y="2834640"/>
            <a:ext cx="3026664" cy="1051560"/>
          </a:xfrm>
          <a:prstGeom prst="rect">
            <a:avLst/>
          </a:prstGeom>
          <a:noFill/>
          <a:ln/>
        </p:spPr>
        <p:txBody>
          <a:bodyPr wrap="square" lIns="0" tIns="0" rIns="0" bIns="0" rtlCol="0" anchor="t"/>
          <a:lstStyle/>
          <a:p>
            <a:pPr marL="0" indent="0">
              <a:lnSpc>
                <a:spcPct val="125000"/>
              </a:lnSpc>
              <a:buNone/>
            </a:pPr>
            <a:r>
              <a:rPr lang="en-US" sz="1050" dirty="0">
                <a:solidFill>
                  <a:srgbClr val="5F6168"/>
                </a:solidFill>
                <a:latin typeface="Arial" pitchFamily="34" charset="0"/>
                <a:ea typeface="Arial" pitchFamily="34" charset="-122"/>
                <a:cs typeface="Arial" pitchFamily="34" charset="-120"/>
              </a:rPr>
              <a:t>Middleware on, but this document has never been seen. It still reads everything and it is 1.8× faster, from MoE expert offload , then writes the </a:t>
            </a:r>
            <a:r>
              <a:rPr lang="en-US" sz="1050" dirty="0" err="1">
                <a:solidFill>
                  <a:srgbClr val="5F6168"/>
                </a:solidFill>
                <a:latin typeface="Arial" pitchFamily="34" charset="0"/>
                <a:ea typeface="Arial" pitchFamily="34" charset="-122"/>
                <a:cs typeface="Arial" pitchFamily="34" charset="-120"/>
              </a:rPr>
              <a:t>KVCache</a:t>
            </a:r>
            <a:r>
              <a:rPr lang="en-US" sz="1050" dirty="0">
                <a:solidFill>
                  <a:srgbClr val="5F6168"/>
                </a:solidFill>
                <a:latin typeface="Arial" pitchFamily="34" charset="0"/>
                <a:ea typeface="Arial" pitchFamily="34" charset="-122"/>
                <a:cs typeface="Arial" pitchFamily="34" charset="-120"/>
              </a:rPr>
              <a:t> to the AI SSD.</a:t>
            </a:r>
            <a:endParaRPr lang="en-US" sz="1050" dirty="0"/>
          </a:p>
        </p:txBody>
      </p:sp>
      <p:sp>
        <p:nvSpPr>
          <p:cNvPr id="26" name="Shape 22"/>
          <p:cNvSpPr/>
          <p:nvPr/>
        </p:nvSpPr>
        <p:spPr>
          <a:xfrm>
            <a:off x="4581144" y="3977640"/>
            <a:ext cx="3026664" cy="868680"/>
          </a:xfrm>
          <a:prstGeom prst="roundRect">
            <a:avLst>
              <a:gd name="adj" fmla="val 5263"/>
            </a:avLst>
          </a:prstGeom>
          <a:solidFill>
            <a:srgbClr val="F0EFEC"/>
          </a:solidFill>
          <a:ln w="12700">
            <a:solidFill>
              <a:srgbClr val="E4E1DA"/>
            </a:solidFill>
            <a:prstDash val="solid"/>
          </a:ln>
        </p:spPr>
        <p:txBody>
          <a:bodyPr/>
          <a:lstStyle/>
          <a:p>
            <a:endParaRPr lang="en-US"/>
          </a:p>
        </p:txBody>
      </p:sp>
      <p:sp>
        <p:nvSpPr>
          <p:cNvPr id="27" name="Text 23"/>
          <p:cNvSpPr txBox="1"/>
          <p:nvPr/>
        </p:nvSpPr>
        <p:spPr>
          <a:xfrm>
            <a:off x="4718304" y="4069080"/>
            <a:ext cx="2752344" cy="685800"/>
          </a:xfrm>
          <a:prstGeom prst="rect">
            <a:avLst/>
          </a:prstGeom>
          <a:noFill/>
          <a:ln/>
        </p:spPr>
        <p:txBody>
          <a:bodyPr wrap="square" lIns="0" tIns="0" rIns="0" bIns="0" rtlCol="0" anchor="ctr"/>
          <a:lstStyle/>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Hit token cnt (CACHE): 0</a:t>
            </a:r>
            <a:endParaRPr lang="en-US" sz="750" dirty="0"/>
          </a:p>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saved checkpoint to Cache</a:t>
            </a:r>
            <a:endParaRPr lang="en-US" sz="750" dirty="0"/>
          </a:p>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  Storage (n_tokens = 12752)</a:t>
            </a:r>
            <a:endParaRPr lang="en-US" sz="750" dirty="0"/>
          </a:p>
        </p:txBody>
      </p:sp>
      <p:sp>
        <p:nvSpPr>
          <p:cNvPr id="28" name="Shape 24"/>
          <p:cNvSpPr/>
          <p:nvPr/>
        </p:nvSpPr>
        <p:spPr>
          <a:xfrm>
            <a:off x="8065008" y="1481328"/>
            <a:ext cx="3575304" cy="361188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29" name="Shape 25"/>
          <p:cNvSpPr/>
          <p:nvPr/>
        </p:nvSpPr>
        <p:spPr>
          <a:xfrm>
            <a:off x="8065008" y="1481328"/>
            <a:ext cx="3575304" cy="64008"/>
          </a:xfrm>
          <a:prstGeom prst="rect">
            <a:avLst/>
          </a:prstGeom>
          <a:solidFill>
            <a:srgbClr val="F26522"/>
          </a:solidFill>
          <a:ln w="12700">
            <a:solidFill>
              <a:srgbClr val="F26522"/>
            </a:solidFill>
            <a:prstDash val="solid"/>
          </a:ln>
        </p:spPr>
        <p:txBody>
          <a:bodyPr/>
          <a:lstStyle/>
          <a:p>
            <a:endParaRPr lang="en-US"/>
          </a:p>
        </p:txBody>
      </p:sp>
      <p:sp>
        <p:nvSpPr>
          <p:cNvPr id="30" name="Text 26"/>
          <p:cNvSpPr txBox="1"/>
          <p:nvPr/>
        </p:nvSpPr>
        <p:spPr>
          <a:xfrm>
            <a:off x="8339328" y="1719072"/>
            <a:ext cx="3026664" cy="237744"/>
          </a:xfrm>
          <a:prstGeom prst="rect">
            <a:avLst/>
          </a:prstGeom>
          <a:noFill/>
          <a:ln/>
        </p:spPr>
        <p:txBody>
          <a:bodyPr wrap="square" lIns="0" tIns="0" rIns="0" bIns="0" rtlCol="0" anchor="ctr"/>
          <a:lstStyle/>
          <a:p>
            <a:pPr marL="0" indent="0">
              <a:buNone/>
            </a:pPr>
            <a:r>
              <a:rPr lang="en-US" sz="1000" b="1" dirty="0">
                <a:solidFill>
                  <a:srgbClr val="F26522"/>
                </a:solidFill>
                <a:latin typeface="Arial" pitchFamily="34" charset="0"/>
                <a:ea typeface="Arial" pitchFamily="34" charset="-122"/>
                <a:cs typeface="Arial" pitchFamily="34" charset="-120"/>
              </a:rPr>
              <a:t>WITH — REPEAT</a:t>
            </a:r>
            <a:endParaRPr lang="en-US" sz="1000" dirty="0"/>
          </a:p>
        </p:txBody>
      </p:sp>
      <p:sp>
        <p:nvSpPr>
          <p:cNvPr id="31" name="Text 27"/>
          <p:cNvSpPr txBox="1"/>
          <p:nvPr/>
        </p:nvSpPr>
        <p:spPr>
          <a:xfrm>
            <a:off x="8339328" y="1975104"/>
            <a:ext cx="1828800" cy="411480"/>
          </a:xfrm>
          <a:prstGeom prst="rect">
            <a:avLst/>
          </a:prstGeom>
          <a:noFill/>
          <a:ln/>
        </p:spPr>
        <p:txBody>
          <a:bodyPr wrap="square" lIns="0" tIns="0" rIns="0" bIns="0" rtlCol="0" anchor="ctr"/>
          <a:lstStyle/>
          <a:p>
            <a:pPr marL="0" indent="0">
              <a:buNone/>
            </a:pPr>
            <a:r>
              <a:rPr lang="en-US" sz="2400" b="1" dirty="0">
                <a:solidFill>
                  <a:srgbClr val="F26522"/>
                </a:solidFill>
                <a:latin typeface="Arial" pitchFamily="34" charset="0"/>
                <a:ea typeface="Arial" pitchFamily="34" charset="-122"/>
                <a:cs typeface="Arial" pitchFamily="34" charset="-120"/>
              </a:rPr>
              <a:t>1.26 s</a:t>
            </a:r>
            <a:endParaRPr lang="en-US" sz="2400" dirty="0"/>
          </a:p>
        </p:txBody>
      </p:sp>
      <p:sp>
        <p:nvSpPr>
          <p:cNvPr id="32" name="Text 28"/>
          <p:cNvSpPr txBox="1"/>
          <p:nvPr/>
        </p:nvSpPr>
        <p:spPr>
          <a:xfrm>
            <a:off x="8339328" y="2414016"/>
            <a:ext cx="3026664" cy="219456"/>
          </a:xfrm>
          <a:prstGeom prst="rect">
            <a:avLst/>
          </a:prstGeom>
          <a:noFill/>
          <a:ln/>
        </p:spPr>
        <p:txBody>
          <a:bodyPr wrap="square" lIns="0" tIns="0" rIns="0" bIns="0" rtlCol="0" anchor="ctr"/>
          <a:lstStyle/>
          <a:p>
            <a:pPr marL="0" indent="0">
              <a:buNone/>
            </a:pPr>
            <a:r>
              <a:rPr lang="en-US" sz="950" dirty="0">
                <a:solidFill>
                  <a:srgbClr val="9A9CA3"/>
                </a:solidFill>
                <a:latin typeface="Arial" pitchFamily="34" charset="0"/>
                <a:ea typeface="Arial" pitchFamily="34" charset="-122"/>
                <a:cs typeface="Arial" pitchFamily="34" charset="-120"/>
              </a:rPr>
              <a:t>13K query, second onward</a:t>
            </a:r>
            <a:endParaRPr lang="en-US" sz="950" dirty="0"/>
          </a:p>
        </p:txBody>
      </p:sp>
      <p:sp>
        <p:nvSpPr>
          <p:cNvPr id="33" name="Shape 29"/>
          <p:cNvSpPr/>
          <p:nvPr/>
        </p:nvSpPr>
        <p:spPr>
          <a:xfrm>
            <a:off x="8339328" y="2724912"/>
            <a:ext cx="3026664" cy="9144"/>
          </a:xfrm>
          <a:prstGeom prst="rect">
            <a:avLst/>
          </a:prstGeom>
          <a:solidFill>
            <a:srgbClr val="E4E1DA"/>
          </a:solidFill>
          <a:ln w="12700">
            <a:solidFill>
              <a:srgbClr val="E4E1DA"/>
            </a:solidFill>
            <a:prstDash val="solid"/>
          </a:ln>
        </p:spPr>
        <p:txBody>
          <a:bodyPr/>
          <a:lstStyle/>
          <a:p>
            <a:endParaRPr lang="en-US"/>
          </a:p>
        </p:txBody>
      </p:sp>
      <p:sp>
        <p:nvSpPr>
          <p:cNvPr id="34" name="Text 30"/>
          <p:cNvSpPr txBox="1"/>
          <p:nvPr/>
        </p:nvSpPr>
        <p:spPr>
          <a:xfrm>
            <a:off x="8339328" y="2834640"/>
            <a:ext cx="3026664" cy="1051560"/>
          </a:xfrm>
          <a:prstGeom prst="rect">
            <a:avLst/>
          </a:prstGeom>
          <a:noFill/>
          <a:ln/>
        </p:spPr>
        <p:txBody>
          <a:bodyPr wrap="square" lIns="0" tIns="0" rIns="0" bIns="0" rtlCol="0" anchor="t"/>
          <a:lstStyle/>
          <a:p>
            <a:pPr marL="0" indent="0">
              <a:lnSpc>
                <a:spcPct val="125000"/>
              </a:lnSpc>
              <a:buNone/>
            </a:pPr>
            <a:r>
              <a:rPr lang="en-US" sz="1050" dirty="0">
                <a:solidFill>
                  <a:srgbClr val="5F6168"/>
                </a:solidFill>
                <a:latin typeface="Arial" pitchFamily="34" charset="0"/>
                <a:ea typeface="Arial" pitchFamily="34" charset="-122"/>
                <a:cs typeface="Arial" pitchFamily="34" charset="-120"/>
              </a:rPr>
              <a:t>A later question on the same document. The stored state is read back from the SSD instead of recomputed, so only the new question tokens are processed.</a:t>
            </a:r>
            <a:endParaRPr lang="en-US" sz="1050" dirty="0"/>
          </a:p>
        </p:txBody>
      </p:sp>
      <p:sp>
        <p:nvSpPr>
          <p:cNvPr id="35" name="Shape 31"/>
          <p:cNvSpPr/>
          <p:nvPr/>
        </p:nvSpPr>
        <p:spPr>
          <a:xfrm>
            <a:off x="8339328" y="3977640"/>
            <a:ext cx="3026664" cy="868680"/>
          </a:xfrm>
          <a:prstGeom prst="roundRect">
            <a:avLst>
              <a:gd name="adj" fmla="val 5263"/>
            </a:avLst>
          </a:prstGeom>
          <a:solidFill>
            <a:srgbClr val="F0EFEC"/>
          </a:solidFill>
          <a:ln w="12700">
            <a:solidFill>
              <a:srgbClr val="E4E1DA"/>
            </a:solidFill>
            <a:prstDash val="solid"/>
          </a:ln>
        </p:spPr>
        <p:txBody>
          <a:bodyPr/>
          <a:lstStyle/>
          <a:p>
            <a:endParaRPr lang="en-US"/>
          </a:p>
        </p:txBody>
      </p:sp>
      <p:sp>
        <p:nvSpPr>
          <p:cNvPr id="36" name="Text 32"/>
          <p:cNvSpPr txBox="1"/>
          <p:nvPr/>
        </p:nvSpPr>
        <p:spPr>
          <a:xfrm>
            <a:off x="8476488" y="4069080"/>
            <a:ext cx="2752344" cy="685800"/>
          </a:xfrm>
          <a:prstGeom prst="rect">
            <a:avLst/>
          </a:prstGeom>
          <a:noFill/>
          <a:ln/>
        </p:spPr>
        <p:txBody>
          <a:bodyPr wrap="square" lIns="0" tIns="0" rIns="0" bIns="0" rtlCol="0" anchor="ctr"/>
          <a:lstStyle/>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Hit token cnt (CACHE): 12776</a:t>
            </a:r>
            <a:endParaRPr lang="en-US" sz="750" dirty="0"/>
          </a:p>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prompt eval time = 1260.52 ms</a:t>
            </a:r>
            <a:endParaRPr lang="en-US" sz="750" dirty="0"/>
          </a:p>
          <a:p>
            <a:pPr marL="0" indent="0">
              <a:lnSpc>
                <a:spcPct val="125000"/>
              </a:lnSpc>
              <a:buNone/>
            </a:pPr>
            <a:r>
              <a:rPr lang="en-US" sz="750" dirty="0">
                <a:solidFill>
                  <a:srgbClr val="5F6168"/>
                </a:solidFill>
                <a:latin typeface="Consolas" pitchFamily="34" charset="0"/>
                <a:ea typeface="Consolas" pitchFamily="34" charset="-122"/>
                <a:cs typeface="Consolas" pitchFamily="34" charset="-120"/>
              </a:rPr>
              <a:t>  / 6 tokens</a:t>
            </a:r>
            <a:endParaRPr lang="en-US" sz="750" dirty="0"/>
          </a:p>
        </p:txBody>
      </p:sp>
      <p:sp>
        <p:nvSpPr>
          <p:cNvPr id="37" name="Shape 33"/>
          <p:cNvSpPr/>
          <p:nvPr/>
        </p:nvSpPr>
        <p:spPr>
          <a:xfrm>
            <a:off x="548640" y="5230368"/>
            <a:ext cx="11091672" cy="658368"/>
          </a:xfrm>
          <a:prstGeom prst="roundRect">
            <a:avLst>
              <a:gd name="adj" fmla="val 34722"/>
            </a:avLst>
          </a:prstGeom>
          <a:solidFill>
            <a:srgbClr val="FCE3D2"/>
          </a:solidFill>
          <a:ln w="12700">
            <a:solidFill>
              <a:srgbClr val="FCE3D2"/>
            </a:solidFill>
            <a:prstDash val="solid"/>
          </a:ln>
        </p:spPr>
        <p:txBody>
          <a:bodyPr/>
          <a:lstStyle/>
          <a:p>
            <a:endParaRPr lang="en-US"/>
          </a:p>
        </p:txBody>
      </p:sp>
      <p:sp>
        <p:nvSpPr>
          <p:cNvPr id="38" name="Text 34"/>
          <p:cNvSpPr txBox="1"/>
          <p:nvPr/>
        </p:nvSpPr>
        <p:spPr>
          <a:xfrm>
            <a:off x="822960" y="5230368"/>
            <a:ext cx="10543032" cy="658368"/>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The cache is durable: </a:t>
            </a:r>
            <a:r>
              <a:rPr lang="en-US" sz="1300" dirty="0">
                <a:solidFill>
                  <a:srgbClr val="5F6168"/>
                </a:solidFill>
                <a:latin typeface="Arial" pitchFamily="34" charset="0"/>
                <a:ea typeface="Arial" pitchFamily="34" charset="-122"/>
                <a:cs typeface="Arial" pitchFamily="34" charset="-120"/>
              </a:rPr>
              <a:t>at 8K the cold run was on 21 Sep and four of the five questions ran the next afternoon — still answered from CACHE, 8,432–8,456 tokens, with the server restarted in between.</a:t>
            </a:r>
            <a:endParaRPr lang="en-US" sz="1300" dirty="0"/>
          </a:p>
        </p:txBody>
      </p:sp>
      <p:sp>
        <p:nvSpPr>
          <p:cNvPr id="39" name="Text 35"/>
          <p:cNvSpPr txBox="1"/>
          <p:nvPr/>
        </p:nvSpPr>
        <p:spPr>
          <a:xfrm>
            <a:off x="548640" y="6053328"/>
            <a:ext cx="11091672" cy="201168"/>
          </a:xfrm>
          <a:prstGeom prst="rect">
            <a:avLst/>
          </a:prstGeom>
          <a:noFill/>
          <a:ln/>
        </p:spPr>
        <p:txBody>
          <a:bodyPr wrap="square" lIns="0" tIns="0" rIns="0" bIns="0" rtlCol="0" anchor="ctr"/>
          <a:lstStyle/>
          <a:p>
            <a:pPr marL="0" indent="0">
              <a:buNone/>
            </a:pPr>
            <a:r>
              <a:rPr lang="en-US" sz="900" dirty="0">
                <a:solidFill>
                  <a:srgbClr val="9A9CA3"/>
                </a:solidFill>
                <a:latin typeface="Arial" pitchFamily="34" charset="0"/>
                <a:ea typeface="Arial" pitchFamily="34" charset="-122"/>
                <a:cs typeface="Arial" pitchFamily="34" charset="-120"/>
              </a:rPr>
              <a:t>Both "with" figures are in this deck on purpose - the cold run is the cost of asking for the very first time, the repeat is what a user gets from question two onward.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RESULTS</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Measured at each context length</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7</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81328"/>
            <a:ext cx="3575304" cy="420624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481328"/>
            <a:ext cx="3575304" cy="64008"/>
          </a:xfrm>
          <a:prstGeom prst="rect">
            <a:avLst/>
          </a:prstGeom>
          <a:solidFill>
            <a:srgbClr val="F26522"/>
          </a:solidFill>
          <a:ln w="12700">
            <a:solidFill>
              <a:srgbClr val="F26522"/>
            </a:solidFill>
            <a:prstDash val="solid"/>
          </a:ln>
        </p:spPr>
        <p:txBody>
          <a:bodyPr/>
          <a:lstStyle/>
          <a:p>
            <a:endParaRPr lang="en-US"/>
          </a:p>
        </p:txBody>
      </p:sp>
      <p:sp>
        <p:nvSpPr>
          <p:cNvPr id="12" name="Text 8"/>
          <p:cNvSpPr txBox="1"/>
          <p:nvPr/>
        </p:nvSpPr>
        <p:spPr>
          <a:xfrm>
            <a:off x="822960" y="1737360"/>
            <a:ext cx="1828800" cy="502920"/>
          </a:xfrm>
          <a:prstGeom prst="rect">
            <a:avLst/>
          </a:prstGeom>
          <a:noFill/>
          <a:ln/>
        </p:spPr>
        <p:txBody>
          <a:bodyPr wrap="square" lIns="0" tIns="0" rIns="0" bIns="0" rtlCol="0" anchor="ctr"/>
          <a:lstStyle/>
          <a:p>
            <a:pPr marL="0" indent="0">
              <a:buNone/>
            </a:pPr>
            <a:r>
              <a:rPr lang="en-US" sz="3000" b="1" dirty="0">
                <a:solidFill>
                  <a:srgbClr val="F26522"/>
                </a:solidFill>
                <a:latin typeface="Arial" pitchFamily="34" charset="0"/>
                <a:ea typeface="Arial" pitchFamily="34" charset="-122"/>
                <a:cs typeface="Arial" pitchFamily="34" charset="-120"/>
              </a:rPr>
              <a:t>8K</a:t>
            </a:r>
            <a:endParaRPr lang="en-US" sz="3000" dirty="0"/>
          </a:p>
        </p:txBody>
      </p:sp>
      <p:sp>
        <p:nvSpPr>
          <p:cNvPr id="13" name="Text 9"/>
          <p:cNvSpPr txBox="1"/>
          <p:nvPr/>
        </p:nvSpPr>
        <p:spPr>
          <a:xfrm>
            <a:off x="1965960" y="1874520"/>
            <a:ext cx="1883664" cy="274320"/>
          </a:xfrm>
          <a:prstGeom prst="rect">
            <a:avLst/>
          </a:prstGeom>
          <a:noFill/>
          <a:ln/>
        </p:spPr>
        <p:txBody>
          <a:bodyPr wrap="square" lIns="0" tIns="0" rIns="0" bIns="0" rtlCol="0" anchor="ctr"/>
          <a:lstStyle/>
          <a:p>
            <a:pPr marL="0" indent="0" algn="r">
              <a:buNone/>
            </a:pPr>
            <a:r>
              <a:rPr lang="en-US" sz="1050" dirty="0">
                <a:solidFill>
                  <a:srgbClr val="9A9CA3"/>
                </a:solidFill>
                <a:latin typeface="Arial" pitchFamily="34" charset="0"/>
                <a:ea typeface="Arial" pitchFamily="34" charset="-122"/>
                <a:cs typeface="Arial" pitchFamily="34" charset="-120"/>
              </a:rPr>
              <a:t>8,440 prompt tokens</a:t>
            </a:r>
            <a:endParaRPr lang="en-US" sz="1050" dirty="0"/>
          </a:p>
        </p:txBody>
      </p:sp>
      <p:sp>
        <p:nvSpPr>
          <p:cNvPr id="14" name="Shape 10"/>
          <p:cNvSpPr/>
          <p:nvPr/>
        </p:nvSpPr>
        <p:spPr>
          <a:xfrm>
            <a:off x="822960" y="2304288"/>
            <a:ext cx="3026664" cy="9144"/>
          </a:xfrm>
          <a:prstGeom prst="rect">
            <a:avLst/>
          </a:prstGeom>
          <a:solidFill>
            <a:srgbClr val="E4E1DA"/>
          </a:solidFill>
          <a:ln w="12700">
            <a:solidFill>
              <a:srgbClr val="E4E1DA"/>
            </a:solidFill>
            <a:prstDash val="solid"/>
          </a:ln>
        </p:spPr>
        <p:txBody>
          <a:bodyPr/>
          <a:lstStyle/>
          <a:p>
            <a:endParaRPr lang="en-US"/>
          </a:p>
        </p:txBody>
      </p:sp>
      <p:sp>
        <p:nvSpPr>
          <p:cNvPr id="15" name="Text 11"/>
          <p:cNvSpPr txBox="1"/>
          <p:nvPr/>
        </p:nvSpPr>
        <p:spPr>
          <a:xfrm>
            <a:off x="822960" y="239572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without aiDAPTIV+</a:t>
            </a:r>
            <a:endParaRPr lang="en-US" sz="1000" dirty="0"/>
          </a:p>
        </p:txBody>
      </p:sp>
      <p:sp>
        <p:nvSpPr>
          <p:cNvPr id="16" name="Text 12"/>
          <p:cNvSpPr txBox="1"/>
          <p:nvPr/>
        </p:nvSpPr>
        <p:spPr>
          <a:xfrm>
            <a:off x="2514600" y="2395728"/>
            <a:ext cx="1335024" cy="256032"/>
          </a:xfrm>
          <a:prstGeom prst="rect">
            <a:avLst/>
          </a:prstGeom>
          <a:noFill/>
          <a:ln/>
        </p:spPr>
        <p:txBody>
          <a:bodyPr wrap="square" lIns="0" tIns="0" rIns="0" bIns="0" rtlCol="0" anchor="ctr"/>
          <a:lstStyle/>
          <a:p>
            <a:pPr marL="0" indent="0" algn="r">
              <a:buNone/>
            </a:pPr>
            <a:r>
              <a:rPr lang="en-US" sz="1000" b="1" dirty="0">
                <a:solidFill>
                  <a:srgbClr val="9A9CA3"/>
                </a:solidFill>
                <a:latin typeface="Arial" pitchFamily="34" charset="0"/>
                <a:ea typeface="Arial" pitchFamily="34" charset="-122"/>
                <a:cs typeface="Arial" pitchFamily="34" charset="-120"/>
              </a:rPr>
              <a:t>184.0 s</a:t>
            </a:r>
            <a:endParaRPr lang="en-US" sz="1000" dirty="0"/>
          </a:p>
        </p:txBody>
      </p:sp>
      <p:sp>
        <p:nvSpPr>
          <p:cNvPr id="17" name="Shape 13"/>
          <p:cNvSpPr/>
          <p:nvPr/>
        </p:nvSpPr>
        <p:spPr>
          <a:xfrm>
            <a:off x="822960" y="2724912"/>
            <a:ext cx="3026664" cy="5486"/>
          </a:xfrm>
          <a:prstGeom prst="rect">
            <a:avLst/>
          </a:prstGeom>
          <a:solidFill>
            <a:srgbClr val="E4E1DA"/>
          </a:solidFill>
          <a:ln w="12700">
            <a:solidFill>
              <a:srgbClr val="E4E1DA"/>
            </a:solidFill>
            <a:prstDash val="solid"/>
          </a:ln>
        </p:spPr>
        <p:txBody>
          <a:bodyPr/>
          <a:lstStyle/>
          <a:p>
            <a:endParaRPr lang="en-US"/>
          </a:p>
        </p:txBody>
      </p:sp>
      <p:sp>
        <p:nvSpPr>
          <p:cNvPr id="18" name="Text 14"/>
          <p:cNvSpPr txBox="1"/>
          <p:nvPr/>
        </p:nvSpPr>
        <p:spPr>
          <a:xfrm>
            <a:off x="822960" y="2798064"/>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first run</a:t>
            </a:r>
            <a:endParaRPr lang="en-US" sz="1000" dirty="0"/>
          </a:p>
        </p:txBody>
      </p:sp>
      <p:sp>
        <p:nvSpPr>
          <p:cNvPr id="19" name="Text 15"/>
          <p:cNvSpPr txBox="1"/>
          <p:nvPr/>
        </p:nvSpPr>
        <p:spPr>
          <a:xfrm>
            <a:off x="2514600" y="2798064"/>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89.7 s</a:t>
            </a:r>
            <a:endParaRPr lang="en-US" sz="1000" dirty="0"/>
          </a:p>
        </p:txBody>
      </p:sp>
      <p:sp>
        <p:nvSpPr>
          <p:cNvPr id="20" name="Shape 16"/>
          <p:cNvSpPr/>
          <p:nvPr/>
        </p:nvSpPr>
        <p:spPr>
          <a:xfrm>
            <a:off x="822960" y="3127248"/>
            <a:ext cx="3026664" cy="5486"/>
          </a:xfrm>
          <a:prstGeom prst="rect">
            <a:avLst/>
          </a:prstGeom>
          <a:solidFill>
            <a:srgbClr val="E4E1DA"/>
          </a:solidFill>
          <a:ln w="12700">
            <a:solidFill>
              <a:srgbClr val="E4E1DA"/>
            </a:solidFill>
            <a:prstDash val="solid"/>
          </a:ln>
        </p:spPr>
        <p:txBody>
          <a:bodyPr/>
          <a:lstStyle/>
          <a:p>
            <a:endParaRPr lang="en-US"/>
          </a:p>
        </p:txBody>
      </p:sp>
      <p:sp>
        <p:nvSpPr>
          <p:cNvPr id="21" name="Text 17"/>
          <p:cNvSpPr txBox="1"/>
          <p:nvPr/>
        </p:nvSpPr>
        <p:spPr>
          <a:xfrm>
            <a:off x="822960" y="3200400"/>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repeat run</a:t>
            </a:r>
            <a:endParaRPr lang="en-US" sz="1000" dirty="0"/>
          </a:p>
        </p:txBody>
      </p:sp>
      <p:sp>
        <p:nvSpPr>
          <p:cNvPr id="22" name="Text 18"/>
          <p:cNvSpPr txBox="1"/>
          <p:nvPr/>
        </p:nvSpPr>
        <p:spPr>
          <a:xfrm>
            <a:off x="2514600" y="3200400"/>
            <a:ext cx="1335024" cy="256032"/>
          </a:xfrm>
          <a:prstGeom prst="rect">
            <a:avLst/>
          </a:prstGeom>
          <a:noFill/>
          <a:ln/>
        </p:spPr>
        <p:txBody>
          <a:bodyPr wrap="square" lIns="0" tIns="0" rIns="0" bIns="0" rtlCol="0" anchor="ctr"/>
          <a:lstStyle/>
          <a:p>
            <a:pPr marL="0" indent="0" algn="r">
              <a:buNone/>
            </a:pPr>
            <a:r>
              <a:rPr lang="en-US" sz="1000" b="1" dirty="0">
                <a:solidFill>
                  <a:srgbClr val="F26522"/>
                </a:solidFill>
                <a:latin typeface="Arial" pitchFamily="34" charset="0"/>
                <a:ea typeface="Arial" pitchFamily="34" charset="-122"/>
                <a:cs typeface="Arial" pitchFamily="34" charset="-120"/>
              </a:rPr>
              <a:t>0.88 s</a:t>
            </a:r>
            <a:r>
              <a:rPr lang="en-US" sz="850" dirty="0">
                <a:solidFill>
                  <a:srgbClr val="9A9CA3"/>
                </a:solidFill>
                <a:latin typeface="Arial" pitchFamily="34" charset="0"/>
                <a:ea typeface="Arial" pitchFamily="34" charset="-122"/>
                <a:cs typeface="Arial" pitchFamily="34" charset="-120"/>
              </a:rPr>
              <a:t>  ·  4 new tok</a:t>
            </a:r>
            <a:endParaRPr lang="en-US" sz="1000" dirty="0"/>
          </a:p>
        </p:txBody>
      </p:sp>
      <p:sp>
        <p:nvSpPr>
          <p:cNvPr id="23" name="Shape 19"/>
          <p:cNvSpPr/>
          <p:nvPr/>
        </p:nvSpPr>
        <p:spPr>
          <a:xfrm>
            <a:off x="822960" y="3529584"/>
            <a:ext cx="3026664" cy="5486"/>
          </a:xfrm>
          <a:prstGeom prst="rect">
            <a:avLst/>
          </a:prstGeom>
          <a:solidFill>
            <a:srgbClr val="E4E1DA"/>
          </a:solidFill>
          <a:ln w="12700">
            <a:solidFill>
              <a:srgbClr val="E4E1DA"/>
            </a:solidFill>
            <a:prstDash val="solid"/>
          </a:ln>
        </p:spPr>
        <p:txBody>
          <a:bodyPr/>
          <a:lstStyle/>
          <a:p>
            <a:endParaRPr lang="en-US"/>
          </a:p>
        </p:txBody>
      </p:sp>
      <p:sp>
        <p:nvSpPr>
          <p:cNvPr id="24" name="Text 20"/>
          <p:cNvSpPr txBox="1"/>
          <p:nvPr/>
        </p:nvSpPr>
        <p:spPr>
          <a:xfrm>
            <a:off x="822960" y="3602736"/>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Tokens served from CACHE</a:t>
            </a:r>
            <a:endParaRPr lang="en-US" sz="1000" dirty="0"/>
          </a:p>
        </p:txBody>
      </p:sp>
      <p:sp>
        <p:nvSpPr>
          <p:cNvPr id="25" name="Text 21"/>
          <p:cNvSpPr txBox="1"/>
          <p:nvPr/>
        </p:nvSpPr>
        <p:spPr>
          <a:xfrm>
            <a:off x="2514600" y="3602736"/>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8,456</a:t>
            </a:r>
            <a:endParaRPr lang="en-US" sz="1000" dirty="0"/>
          </a:p>
        </p:txBody>
      </p:sp>
      <p:sp>
        <p:nvSpPr>
          <p:cNvPr id="26" name="Shape 22"/>
          <p:cNvSpPr/>
          <p:nvPr/>
        </p:nvSpPr>
        <p:spPr>
          <a:xfrm>
            <a:off x="822960" y="3931920"/>
            <a:ext cx="3026664" cy="5486"/>
          </a:xfrm>
          <a:prstGeom prst="rect">
            <a:avLst/>
          </a:prstGeom>
          <a:solidFill>
            <a:srgbClr val="E4E1DA"/>
          </a:solidFill>
          <a:ln w="12700">
            <a:solidFill>
              <a:srgbClr val="E4E1DA"/>
            </a:solidFill>
            <a:prstDash val="solid"/>
          </a:ln>
        </p:spPr>
        <p:txBody>
          <a:bodyPr/>
          <a:lstStyle/>
          <a:p>
            <a:endParaRPr lang="en-US"/>
          </a:p>
        </p:txBody>
      </p:sp>
      <p:sp>
        <p:nvSpPr>
          <p:cNvPr id="27" name="Text 23"/>
          <p:cNvSpPr txBox="1"/>
          <p:nvPr/>
        </p:nvSpPr>
        <p:spPr>
          <a:xfrm>
            <a:off x="822960" y="4005072"/>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rate — without / with</a:t>
            </a:r>
            <a:endParaRPr lang="en-US" sz="1000" dirty="0"/>
          </a:p>
        </p:txBody>
      </p:sp>
      <p:sp>
        <p:nvSpPr>
          <p:cNvPr id="28" name="Text 24"/>
          <p:cNvSpPr txBox="1"/>
          <p:nvPr/>
        </p:nvSpPr>
        <p:spPr>
          <a:xfrm>
            <a:off x="2514600" y="4005072"/>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45.9 / 94.1 t/s</a:t>
            </a:r>
            <a:endParaRPr lang="en-US" sz="1000" dirty="0"/>
          </a:p>
        </p:txBody>
      </p:sp>
      <p:sp>
        <p:nvSpPr>
          <p:cNvPr id="29" name="Shape 25"/>
          <p:cNvSpPr/>
          <p:nvPr/>
        </p:nvSpPr>
        <p:spPr>
          <a:xfrm>
            <a:off x="822960" y="4334256"/>
            <a:ext cx="3026664" cy="5486"/>
          </a:xfrm>
          <a:prstGeom prst="rect">
            <a:avLst/>
          </a:prstGeom>
          <a:solidFill>
            <a:srgbClr val="E4E1DA"/>
          </a:solidFill>
          <a:ln w="12700">
            <a:solidFill>
              <a:srgbClr val="E4E1DA"/>
            </a:solidFill>
            <a:prstDash val="solid"/>
          </a:ln>
        </p:spPr>
        <p:txBody>
          <a:bodyPr/>
          <a:lstStyle/>
          <a:p>
            <a:endParaRPr lang="en-US"/>
          </a:p>
        </p:txBody>
      </p:sp>
      <p:sp>
        <p:nvSpPr>
          <p:cNvPr id="30" name="Text 26"/>
          <p:cNvSpPr txBox="1"/>
          <p:nvPr/>
        </p:nvSpPr>
        <p:spPr>
          <a:xfrm>
            <a:off x="822960" y="440740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Generation — without / with</a:t>
            </a:r>
            <a:endParaRPr lang="en-US" sz="1000" dirty="0"/>
          </a:p>
        </p:txBody>
      </p:sp>
      <p:sp>
        <p:nvSpPr>
          <p:cNvPr id="31" name="Text 27"/>
          <p:cNvSpPr txBox="1"/>
          <p:nvPr/>
        </p:nvSpPr>
        <p:spPr>
          <a:xfrm>
            <a:off x="2514600" y="4407408"/>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7.28 / 8.62 t/s</a:t>
            </a:r>
            <a:endParaRPr lang="en-US" sz="1000" dirty="0"/>
          </a:p>
        </p:txBody>
      </p:sp>
      <p:sp>
        <p:nvSpPr>
          <p:cNvPr id="32" name="Text 28"/>
          <p:cNvSpPr txBox="1"/>
          <p:nvPr/>
        </p:nvSpPr>
        <p:spPr>
          <a:xfrm>
            <a:off x="822960" y="5193792"/>
            <a:ext cx="3026664" cy="411480"/>
          </a:xfrm>
          <a:prstGeom prst="rect">
            <a:avLst/>
          </a:prstGeom>
          <a:noFill/>
          <a:ln/>
        </p:spPr>
        <p:txBody>
          <a:bodyPr wrap="square" lIns="0" tIns="0" rIns="0" bIns="0" rtlCol="0" anchor="ctr"/>
          <a:lstStyle/>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without:  </a:t>
            </a:r>
            <a:r>
              <a:rPr lang="en-US" sz="650" dirty="0">
                <a:solidFill>
                  <a:srgbClr val="5F6168"/>
                </a:solidFill>
                <a:latin typeface="Consolas" pitchFamily="34" charset="0"/>
                <a:ea typeface="Consolas" pitchFamily="34" charset="-122"/>
                <a:cs typeface="Consolas" pitchFamily="34" charset="-120"/>
              </a:rPr>
              <a:t>llama_server_Benchmark_8K-1q.log</a:t>
            </a:r>
            <a:endParaRPr lang="en-US" sz="650" dirty="0"/>
          </a:p>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  </a:t>
            </a:r>
            <a:r>
              <a:rPr lang="en-US" sz="650" dirty="0">
                <a:solidFill>
                  <a:srgbClr val="5F6168"/>
                </a:solidFill>
                <a:latin typeface="Consolas" pitchFamily="34" charset="0"/>
                <a:ea typeface="Consolas" pitchFamily="34" charset="-122"/>
                <a:cs typeface="Consolas" pitchFamily="34" charset="-120"/>
              </a:rPr>
              <a:t>with_aiDAPITV-First_Questions.log</a:t>
            </a:r>
            <a:endParaRPr lang="en-US" sz="650" dirty="0"/>
          </a:p>
        </p:txBody>
      </p:sp>
      <p:sp>
        <p:nvSpPr>
          <p:cNvPr id="33" name="Shape 29"/>
          <p:cNvSpPr/>
          <p:nvPr/>
        </p:nvSpPr>
        <p:spPr>
          <a:xfrm>
            <a:off x="822960" y="4773168"/>
            <a:ext cx="3026664" cy="329184"/>
          </a:xfrm>
          <a:prstGeom prst="roundRect">
            <a:avLst>
              <a:gd name="adj" fmla="val 69444"/>
            </a:avLst>
          </a:prstGeom>
          <a:solidFill>
            <a:srgbClr val="FCE3D2"/>
          </a:solidFill>
          <a:ln w="12700">
            <a:solidFill>
              <a:srgbClr val="FCE3D2"/>
            </a:solidFill>
            <a:prstDash val="solid"/>
          </a:ln>
        </p:spPr>
        <p:txBody>
          <a:bodyPr/>
          <a:lstStyle/>
          <a:p>
            <a:endParaRPr lang="en-US"/>
          </a:p>
        </p:txBody>
      </p:sp>
      <p:sp>
        <p:nvSpPr>
          <p:cNvPr id="34" name="Text 30"/>
          <p:cNvSpPr txBox="1"/>
          <p:nvPr/>
        </p:nvSpPr>
        <p:spPr>
          <a:xfrm>
            <a:off x="960120" y="4773168"/>
            <a:ext cx="2743200" cy="329184"/>
          </a:xfrm>
          <a:prstGeom prst="rect">
            <a:avLst/>
          </a:prstGeom>
          <a:noFill/>
          <a:ln/>
        </p:spPr>
        <p:txBody>
          <a:bodyPr wrap="square" lIns="0" tIns="0" rIns="0" bIns="0" rtlCol="0" anchor="ctr"/>
          <a:lstStyle/>
          <a:p>
            <a:pPr marL="0" indent="0">
              <a:buNone/>
            </a:pPr>
            <a:r>
              <a:rPr lang="en-US" sz="1200" b="1" dirty="0">
                <a:solidFill>
                  <a:srgbClr val="D9501A"/>
                </a:solidFill>
                <a:latin typeface="Arial" pitchFamily="34" charset="0"/>
                <a:ea typeface="Arial" pitchFamily="34" charset="-122"/>
                <a:cs typeface="Arial" pitchFamily="34" charset="-120"/>
              </a:rPr>
              <a:t>209× </a:t>
            </a:r>
            <a:r>
              <a:rPr lang="en-US" sz="1000" dirty="0">
                <a:solidFill>
                  <a:srgbClr val="D9501A"/>
                </a:solidFill>
                <a:latin typeface="Arial" pitchFamily="34" charset="0"/>
                <a:ea typeface="Arial" pitchFamily="34" charset="-122"/>
                <a:cs typeface="Arial" pitchFamily="34" charset="-120"/>
              </a:rPr>
              <a:t>faster on a repeat query</a:t>
            </a:r>
            <a:endParaRPr lang="en-US" sz="1200" dirty="0"/>
          </a:p>
        </p:txBody>
      </p:sp>
      <p:sp>
        <p:nvSpPr>
          <p:cNvPr id="35" name="Shape 31"/>
          <p:cNvSpPr/>
          <p:nvPr/>
        </p:nvSpPr>
        <p:spPr>
          <a:xfrm>
            <a:off x="4306824" y="1481328"/>
            <a:ext cx="3575304" cy="420624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36" name="Shape 32"/>
          <p:cNvSpPr/>
          <p:nvPr/>
        </p:nvSpPr>
        <p:spPr>
          <a:xfrm>
            <a:off x="4306824" y="1481328"/>
            <a:ext cx="3575304" cy="64008"/>
          </a:xfrm>
          <a:prstGeom prst="rect">
            <a:avLst/>
          </a:prstGeom>
          <a:solidFill>
            <a:srgbClr val="F26522"/>
          </a:solidFill>
          <a:ln w="12700">
            <a:solidFill>
              <a:srgbClr val="F26522"/>
            </a:solidFill>
            <a:prstDash val="solid"/>
          </a:ln>
        </p:spPr>
        <p:txBody>
          <a:bodyPr/>
          <a:lstStyle/>
          <a:p>
            <a:endParaRPr lang="en-US"/>
          </a:p>
        </p:txBody>
      </p:sp>
      <p:sp>
        <p:nvSpPr>
          <p:cNvPr id="37" name="Text 33"/>
          <p:cNvSpPr txBox="1"/>
          <p:nvPr/>
        </p:nvSpPr>
        <p:spPr>
          <a:xfrm>
            <a:off x="4581144" y="1737360"/>
            <a:ext cx="1828800" cy="502920"/>
          </a:xfrm>
          <a:prstGeom prst="rect">
            <a:avLst/>
          </a:prstGeom>
          <a:noFill/>
          <a:ln/>
        </p:spPr>
        <p:txBody>
          <a:bodyPr wrap="square" lIns="0" tIns="0" rIns="0" bIns="0" rtlCol="0" anchor="ctr"/>
          <a:lstStyle/>
          <a:p>
            <a:pPr marL="0" indent="0">
              <a:buNone/>
            </a:pPr>
            <a:r>
              <a:rPr lang="en-US" sz="3000" b="1" dirty="0">
                <a:solidFill>
                  <a:srgbClr val="F26522"/>
                </a:solidFill>
                <a:latin typeface="Arial" pitchFamily="34" charset="0"/>
                <a:ea typeface="Arial" pitchFamily="34" charset="-122"/>
                <a:cs typeface="Arial" pitchFamily="34" charset="-120"/>
              </a:rPr>
              <a:t>10K</a:t>
            </a:r>
            <a:endParaRPr lang="en-US" sz="3000" dirty="0"/>
          </a:p>
        </p:txBody>
      </p:sp>
      <p:sp>
        <p:nvSpPr>
          <p:cNvPr id="38" name="Text 34"/>
          <p:cNvSpPr txBox="1"/>
          <p:nvPr/>
        </p:nvSpPr>
        <p:spPr>
          <a:xfrm>
            <a:off x="5724144" y="1874520"/>
            <a:ext cx="1883664" cy="274320"/>
          </a:xfrm>
          <a:prstGeom prst="rect">
            <a:avLst/>
          </a:prstGeom>
          <a:noFill/>
          <a:ln/>
        </p:spPr>
        <p:txBody>
          <a:bodyPr wrap="square" lIns="0" tIns="0" rIns="0" bIns="0" rtlCol="0" anchor="ctr"/>
          <a:lstStyle/>
          <a:p>
            <a:pPr marL="0" indent="0" algn="r">
              <a:buNone/>
            </a:pPr>
            <a:r>
              <a:rPr lang="en-US" sz="1050" dirty="0">
                <a:solidFill>
                  <a:srgbClr val="9A9CA3"/>
                </a:solidFill>
                <a:latin typeface="Arial" pitchFamily="34" charset="0"/>
                <a:ea typeface="Arial" pitchFamily="34" charset="-122"/>
                <a:cs typeface="Arial" pitchFamily="34" charset="-120"/>
              </a:rPr>
              <a:t>10,846 prompt tokens</a:t>
            </a:r>
            <a:endParaRPr lang="en-US" sz="1050" dirty="0"/>
          </a:p>
        </p:txBody>
      </p:sp>
      <p:sp>
        <p:nvSpPr>
          <p:cNvPr id="39" name="Shape 35"/>
          <p:cNvSpPr/>
          <p:nvPr/>
        </p:nvSpPr>
        <p:spPr>
          <a:xfrm>
            <a:off x="4581144" y="2304288"/>
            <a:ext cx="3026664" cy="9144"/>
          </a:xfrm>
          <a:prstGeom prst="rect">
            <a:avLst/>
          </a:prstGeom>
          <a:solidFill>
            <a:srgbClr val="E4E1DA"/>
          </a:solidFill>
          <a:ln w="12700">
            <a:solidFill>
              <a:srgbClr val="E4E1DA"/>
            </a:solidFill>
            <a:prstDash val="solid"/>
          </a:ln>
        </p:spPr>
        <p:txBody>
          <a:bodyPr/>
          <a:lstStyle/>
          <a:p>
            <a:endParaRPr lang="en-US"/>
          </a:p>
        </p:txBody>
      </p:sp>
      <p:sp>
        <p:nvSpPr>
          <p:cNvPr id="40" name="Text 36"/>
          <p:cNvSpPr txBox="1"/>
          <p:nvPr/>
        </p:nvSpPr>
        <p:spPr>
          <a:xfrm>
            <a:off x="4581144" y="239572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without aiDAPTIV+</a:t>
            </a:r>
            <a:endParaRPr lang="en-US" sz="1000" dirty="0"/>
          </a:p>
        </p:txBody>
      </p:sp>
      <p:sp>
        <p:nvSpPr>
          <p:cNvPr id="41" name="Text 37"/>
          <p:cNvSpPr txBox="1"/>
          <p:nvPr/>
        </p:nvSpPr>
        <p:spPr>
          <a:xfrm>
            <a:off x="6272784" y="2395728"/>
            <a:ext cx="1335024" cy="256032"/>
          </a:xfrm>
          <a:prstGeom prst="rect">
            <a:avLst/>
          </a:prstGeom>
          <a:noFill/>
          <a:ln/>
        </p:spPr>
        <p:txBody>
          <a:bodyPr wrap="square" lIns="0" tIns="0" rIns="0" bIns="0" rtlCol="0" anchor="ctr"/>
          <a:lstStyle/>
          <a:p>
            <a:pPr marL="0" indent="0" algn="r">
              <a:buNone/>
            </a:pPr>
            <a:r>
              <a:rPr lang="en-US" sz="1000" b="1" dirty="0">
                <a:solidFill>
                  <a:srgbClr val="9A9CA3"/>
                </a:solidFill>
                <a:latin typeface="Arial" pitchFamily="34" charset="0"/>
                <a:ea typeface="Arial" pitchFamily="34" charset="-122"/>
                <a:cs typeface="Arial" pitchFamily="34" charset="-120"/>
              </a:rPr>
              <a:t>232.7 s</a:t>
            </a:r>
            <a:endParaRPr lang="en-US" sz="1000" dirty="0"/>
          </a:p>
        </p:txBody>
      </p:sp>
      <p:sp>
        <p:nvSpPr>
          <p:cNvPr id="42" name="Shape 38"/>
          <p:cNvSpPr/>
          <p:nvPr/>
        </p:nvSpPr>
        <p:spPr>
          <a:xfrm>
            <a:off x="4581144" y="2724912"/>
            <a:ext cx="3026664" cy="5486"/>
          </a:xfrm>
          <a:prstGeom prst="rect">
            <a:avLst/>
          </a:prstGeom>
          <a:solidFill>
            <a:srgbClr val="E4E1DA"/>
          </a:solidFill>
          <a:ln w="12700">
            <a:solidFill>
              <a:srgbClr val="E4E1DA"/>
            </a:solidFill>
            <a:prstDash val="solid"/>
          </a:ln>
        </p:spPr>
        <p:txBody>
          <a:bodyPr/>
          <a:lstStyle/>
          <a:p>
            <a:endParaRPr lang="en-US"/>
          </a:p>
        </p:txBody>
      </p:sp>
      <p:sp>
        <p:nvSpPr>
          <p:cNvPr id="43" name="Text 39"/>
          <p:cNvSpPr txBox="1"/>
          <p:nvPr/>
        </p:nvSpPr>
        <p:spPr>
          <a:xfrm>
            <a:off x="4581144" y="2798064"/>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first run</a:t>
            </a:r>
            <a:endParaRPr lang="en-US" sz="1000" dirty="0"/>
          </a:p>
        </p:txBody>
      </p:sp>
      <p:sp>
        <p:nvSpPr>
          <p:cNvPr id="44" name="Text 40"/>
          <p:cNvSpPr txBox="1"/>
          <p:nvPr/>
        </p:nvSpPr>
        <p:spPr>
          <a:xfrm>
            <a:off x="6272784" y="2798064"/>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125.9 s</a:t>
            </a:r>
            <a:endParaRPr lang="en-US" sz="1000" dirty="0"/>
          </a:p>
        </p:txBody>
      </p:sp>
      <p:sp>
        <p:nvSpPr>
          <p:cNvPr id="45" name="Shape 41"/>
          <p:cNvSpPr/>
          <p:nvPr/>
        </p:nvSpPr>
        <p:spPr>
          <a:xfrm>
            <a:off x="4581144" y="3127248"/>
            <a:ext cx="3026664" cy="5486"/>
          </a:xfrm>
          <a:prstGeom prst="rect">
            <a:avLst/>
          </a:prstGeom>
          <a:solidFill>
            <a:srgbClr val="E4E1DA"/>
          </a:solidFill>
          <a:ln w="12700">
            <a:solidFill>
              <a:srgbClr val="E4E1DA"/>
            </a:solidFill>
            <a:prstDash val="solid"/>
          </a:ln>
        </p:spPr>
        <p:txBody>
          <a:bodyPr/>
          <a:lstStyle/>
          <a:p>
            <a:endParaRPr lang="en-US"/>
          </a:p>
        </p:txBody>
      </p:sp>
      <p:sp>
        <p:nvSpPr>
          <p:cNvPr id="46" name="Text 42"/>
          <p:cNvSpPr txBox="1"/>
          <p:nvPr/>
        </p:nvSpPr>
        <p:spPr>
          <a:xfrm>
            <a:off x="4581144" y="3200400"/>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repeat run</a:t>
            </a:r>
            <a:endParaRPr lang="en-US" sz="1000" dirty="0"/>
          </a:p>
        </p:txBody>
      </p:sp>
      <p:sp>
        <p:nvSpPr>
          <p:cNvPr id="47" name="Text 43"/>
          <p:cNvSpPr txBox="1"/>
          <p:nvPr/>
        </p:nvSpPr>
        <p:spPr>
          <a:xfrm>
            <a:off x="6272784" y="3200400"/>
            <a:ext cx="1335024" cy="256032"/>
          </a:xfrm>
          <a:prstGeom prst="rect">
            <a:avLst/>
          </a:prstGeom>
          <a:noFill/>
          <a:ln/>
        </p:spPr>
        <p:txBody>
          <a:bodyPr wrap="square" lIns="0" tIns="0" rIns="0" bIns="0" rtlCol="0" anchor="ctr"/>
          <a:lstStyle/>
          <a:p>
            <a:pPr marL="0" indent="0" algn="r">
              <a:buNone/>
            </a:pPr>
            <a:r>
              <a:rPr lang="en-US" sz="1000" b="1" dirty="0">
                <a:solidFill>
                  <a:srgbClr val="F26522"/>
                </a:solidFill>
                <a:latin typeface="Arial" pitchFamily="34" charset="0"/>
                <a:ea typeface="Arial" pitchFamily="34" charset="-122"/>
                <a:cs typeface="Arial" pitchFamily="34" charset="-120"/>
              </a:rPr>
              <a:t>1.97 s</a:t>
            </a:r>
            <a:r>
              <a:rPr lang="en-US" sz="850" dirty="0">
                <a:solidFill>
                  <a:srgbClr val="9A9CA3"/>
                </a:solidFill>
                <a:latin typeface="Arial" pitchFamily="34" charset="0"/>
                <a:ea typeface="Arial" pitchFamily="34" charset="-122"/>
                <a:cs typeface="Arial" pitchFamily="34" charset="-120"/>
              </a:rPr>
              <a:t>  ·  18 new tok</a:t>
            </a:r>
            <a:endParaRPr lang="en-US" sz="1000" dirty="0"/>
          </a:p>
        </p:txBody>
      </p:sp>
      <p:sp>
        <p:nvSpPr>
          <p:cNvPr id="48" name="Shape 44"/>
          <p:cNvSpPr/>
          <p:nvPr/>
        </p:nvSpPr>
        <p:spPr>
          <a:xfrm>
            <a:off x="4581144" y="3529584"/>
            <a:ext cx="3026664" cy="5486"/>
          </a:xfrm>
          <a:prstGeom prst="rect">
            <a:avLst/>
          </a:prstGeom>
          <a:solidFill>
            <a:srgbClr val="E4E1DA"/>
          </a:solidFill>
          <a:ln w="12700">
            <a:solidFill>
              <a:srgbClr val="E4E1DA"/>
            </a:solidFill>
            <a:prstDash val="solid"/>
          </a:ln>
        </p:spPr>
        <p:txBody>
          <a:bodyPr/>
          <a:lstStyle/>
          <a:p>
            <a:endParaRPr lang="en-US"/>
          </a:p>
        </p:txBody>
      </p:sp>
      <p:sp>
        <p:nvSpPr>
          <p:cNvPr id="49" name="Text 45"/>
          <p:cNvSpPr txBox="1"/>
          <p:nvPr/>
        </p:nvSpPr>
        <p:spPr>
          <a:xfrm>
            <a:off x="4581144" y="3602736"/>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Tokens served from CACHE</a:t>
            </a:r>
            <a:endParaRPr lang="en-US" sz="1000" dirty="0"/>
          </a:p>
        </p:txBody>
      </p:sp>
      <p:sp>
        <p:nvSpPr>
          <p:cNvPr id="50" name="Text 46"/>
          <p:cNvSpPr txBox="1"/>
          <p:nvPr/>
        </p:nvSpPr>
        <p:spPr>
          <a:xfrm>
            <a:off x="6272784" y="3602736"/>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10,832</a:t>
            </a:r>
            <a:endParaRPr lang="en-US" sz="1000" dirty="0"/>
          </a:p>
        </p:txBody>
      </p:sp>
      <p:sp>
        <p:nvSpPr>
          <p:cNvPr id="51" name="Shape 47"/>
          <p:cNvSpPr/>
          <p:nvPr/>
        </p:nvSpPr>
        <p:spPr>
          <a:xfrm>
            <a:off x="4581144" y="3931920"/>
            <a:ext cx="3026664" cy="5486"/>
          </a:xfrm>
          <a:prstGeom prst="rect">
            <a:avLst/>
          </a:prstGeom>
          <a:solidFill>
            <a:srgbClr val="E4E1DA"/>
          </a:solidFill>
          <a:ln w="12700">
            <a:solidFill>
              <a:srgbClr val="E4E1DA"/>
            </a:solidFill>
            <a:prstDash val="solid"/>
          </a:ln>
        </p:spPr>
        <p:txBody>
          <a:bodyPr/>
          <a:lstStyle/>
          <a:p>
            <a:endParaRPr lang="en-US"/>
          </a:p>
        </p:txBody>
      </p:sp>
      <p:sp>
        <p:nvSpPr>
          <p:cNvPr id="52" name="Text 48"/>
          <p:cNvSpPr txBox="1"/>
          <p:nvPr/>
        </p:nvSpPr>
        <p:spPr>
          <a:xfrm>
            <a:off x="4581144" y="4005072"/>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rate — without / with</a:t>
            </a:r>
            <a:endParaRPr lang="en-US" sz="1000" dirty="0"/>
          </a:p>
        </p:txBody>
      </p:sp>
      <p:sp>
        <p:nvSpPr>
          <p:cNvPr id="53" name="Text 49"/>
          <p:cNvSpPr txBox="1"/>
          <p:nvPr/>
        </p:nvSpPr>
        <p:spPr>
          <a:xfrm>
            <a:off x="6272784" y="4005072"/>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46.6 / 86.2 t/s</a:t>
            </a:r>
            <a:endParaRPr lang="en-US" sz="1000" dirty="0"/>
          </a:p>
        </p:txBody>
      </p:sp>
      <p:sp>
        <p:nvSpPr>
          <p:cNvPr id="54" name="Shape 50"/>
          <p:cNvSpPr/>
          <p:nvPr/>
        </p:nvSpPr>
        <p:spPr>
          <a:xfrm>
            <a:off x="4581144" y="4334256"/>
            <a:ext cx="3026664" cy="5486"/>
          </a:xfrm>
          <a:prstGeom prst="rect">
            <a:avLst/>
          </a:prstGeom>
          <a:solidFill>
            <a:srgbClr val="E4E1DA"/>
          </a:solidFill>
          <a:ln w="12700">
            <a:solidFill>
              <a:srgbClr val="E4E1DA"/>
            </a:solidFill>
            <a:prstDash val="solid"/>
          </a:ln>
        </p:spPr>
        <p:txBody>
          <a:bodyPr/>
          <a:lstStyle/>
          <a:p>
            <a:endParaRPr lang="en-US"/>
          </a:p>
        </p:txBody>
      </p:sp>
      <p:sp>
        <p:nvSpPr>
          <p:cNvPr id="55" name="Text 51"/>
          <p:cNvSpPr txBox="1"/>
          <p:nvPr/>
        </p:nvSpPr>
        <p:spPr>
          <a:xfrm>
            <a:off x="4581144" y="440740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Generation — without / with</a:t>
            </a:r>
            <a:endParaRPr lang="en-US" sz="1000" dirty="0"/>
          </a:p>
        </p:txBody>
      </p:sp>
      <p:sp>
        <p:nvSpPr>
          <p:cNvPr id="56" name="Text 52"/>
          <p:cNvSpPr txBox="1"/>
          <p:nvPr/>
        </p:nvSpPr>
        <p:spPr>
          <a:xfrm>
            <a:off x="6272784" y="4407408"/>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6.76 / 8.85 t/s</a:t>
            </a:r>
            <a:endParaRPr lang="en-US" sz="1000" dirty="0"/>
          </a:p>
        </p:txBody>
      </p:sp>
      <p:sp>
        <p:nvSpPr>
          <p:cNvPr id="57" name="Text 53"/>
          <p:cNvSpPr txBox="1"/>
          <p:nvPr/>
        </p:nvSpPr>
        <p:spPr>
          <a:xfrm>
            <a:off x="4581144" y="5193792"/>
            <a:ext cx="3026664" cy="411480"/>
          </a:xfrm>
          <a:prstGeom prst="rect">
            <a:avLst/>
          </a:prstGeom>
          <a:noFill/>
          <a:ln/>
        </p:spPr>
        <p:txBody>
          <a:bodyPr wrap="square" lIns="0" tIns="0" rIns="0" bIns="0" rtlCol="0" anchor="ctr"/>
          <a:lstStyle/>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without:  </a:t>
            </a:r>
            <a:r>
              <a:rPr lang="en-US" sz="650" dirty="0">
                <a:solidFill>
                  <a:srgbClr val="5F6168"/>
                </a:solidFill>
                <a:latin typeface="Consolas" pitchFamily="34" charset="0"/>
                <a:ea typeface="Consolas" pitchFamily="34" charset="-122"/>
                <a:cs typeface="Consolas" pitchFamily="34" charset="-120"/>
              </a:rPr>
              <a:t>llama_server_Benchmark_10K-1q.log</a:t>
            </a:r>
            <a:endParaRPr lang="en-US" sz="650" dirty="0"/>
          </a:p>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  </a:t>
            </a:r>
            <a:r>
              <a:rPr lang="en-US" sz="650" dirty="0">
                <a:solidFill>
                  <a:srgbClr val="5F6168"/>
                </a:solidFill>
                <a:latin typeface="Consolas" pitchFamily="34" charset="0"/>
                <a:ea typeface="Consolas" pitchFamily="34" charset="-122"/>
                <a:cs typeface="Consolas" pitchFamily="34" charset="-120"/>
              </a:rPr>
              <a:t>Onyx__Benchmark_10K_Second_Running_First_Question.log</a:t>
            </a:r>
            <a:endParaRPr lang="en-US" sz="650" dirty="0"/>
          </a:p>
        </p:txBody>
      </p:sp>
      <p:sp>
        <p:nvSpPr>
          <p:cNvPr id="58" name="Shape 54"/>
          <p:cNvSpPr/>
          <p:nvPr/>
        </p:nvSpPr>
        <p:spPr>
          <a:xfrm>
            <a:off x="4581144" y="4773168"/>
            <a:ext cx="3026664" cy="329184"/>
          </a:xfrm>
          <a:prstGeom prst="roundRect">
            <a:avLst>
              <a:gd name="adj" fmla="val 69444"/>
            </a:avLst>
          </a:prstGeom>
          <a:solidFill>
            <a:srgbClr val="FCE3D2"/>
          </a:solidFill>
          <a:ln w="12700">
            <a:solidFill>
              <a:srgbClr val="FCE3D2"/>
            </a:solidFill>
            <a:prstDash val="solid"/>
          </a:ln>
        </p:spPr>
        <p:txBody>
          <a:bodyPr/>
          <a:lstStyle/>
          <a:p>
            <a:endParaRPr lang="en-US"/>
          </a:p>
        </p:txBody>
      </p:sp>
      <p:sp>
        <p:nvSpPr>
          <p:cNvPr id="59" name="Text 55"/>
          <p:cNvSpPr txBox="1"/>
          <p:nvPr/>
        </p:nvSpPr>
        <p:spPr>
          <a:xfrm>
            <a:off x="4718304" y="4773168"/>
            <a:ext cx="2743200" cy="329184"/>
          </a:xfrm>
          <a:prstGeom prst="rect">
            <a:avLst/>
          </a:prstGeom>
          <a:noFill/>
          <a:ln/>
        </p:spPr>
        <p:txBody>
          <a:bodyPr wrap="square" lIns="0" tIns="0" rIns="0" bIns="0" rtlCol="0" anchor="ctr"/>
          <a:lstStyle/>
          <a:p>
            <a:pPr marL="0" indent="0">
              <a:buNone/>
            </a:pPr>
            <a:r>
              <a:rPr lang="en-US" sz="1200" b="1" dirty="0">
                <a:solidFill>
                  <a:srgbClr val="D9501A"/>
                </a:solidFill>
                <a:latin typeface="Arial" pitchFamily="34" charset="0"/>
                <a:ea typeface="Arial" pitchFamily="34" charset="-122"/>
                <a:cs typeface="Arial" pitchFamily="34" charset="-120"/>
              </a:rPr>
              <a:t>118× </a:t>
            </a:r>
            <a:r>
              <a:rPr lang="en-US" sz="1000" dirty="0">
                <a:solidFill>
                  <a:srgbClr val="D9501A"/>
                </a:solidFill>
                <a:latin typeface="Arial" pitchFamily="34" charset="0"/>
                <a:ea typeface="Arial" pitchFamily="34" charset="-122"/>
                <a:cs typeface="Arial" pitchFamily="34" charset="-120"/>
              </a:rPr>
              <a:t>faster on a repeat query</a:t>
            </a:r>
            <a:endParaRPr lang="en-US" sz="1200" dirty="0"/>
          </a:p>
        </p:txBody>
      </p:sp>
      <p:sp>
        <p:nvSpPr>
          <p:cNvPr id="60" name="Shape 56"/>
          <p:cNvSpPr/>
          <p:nvPr/>
        </p:nvSpPr>
        <p:spPr>
          <a:xfrm>
            <a:off x="8065008" y="1481328"/>
            <a:ext cx="3575304" cy="4206240"/>
          </a:xfrm>
          <a:prstGeom prst="roundRect">
            <a:avLst>
              <a:gd name="adj" fmla="val 2046"/>
            </a:avLst>
          </a:prstGeom>
          <a:solidFill>
            <a:srgbClr val="FAF9F6"/>
          </a:solidFill>
          <a:ln w="12700">
            <a:solidFill>
              <a:srgbClr val="E4E1DA"/>
            </a:solidFill>
            <a:prstDash val="solid"/>
          </a:ln>
        </p:spPr>
        <p:txBody>
          <a:bodyPr/>
          <a:lstStyle/>
          <a:p>
            <a:endParaRPr lang="en-US"/>
          </a:p>
        </p:txBody>
      </p:sp>
      <p:sp>
        <p:nvSpPr>
          <p:cNvPr id="61" name="Shape 57"/>
          <p:cNvSpPr/>
          <p:nvPr/>
        </p:nvSpPr>
        <p:spPr>
          <a:xfrm>
            <a:off x="8065008" y="1481328"/>
            <a:ext cx="3575304" cy="64008"/>
          </a:xfrm>
          <a:prstGeom prst="rect">
            <a:avLst/>
          </a:prstGeom>
          <a:solidFill>
            <a:srgbClr val="F26522"/>
          </a:solidFill>
          <a:ln w="12700">
            <a:solidFill>
              <a:srgbClr val="F26522"/>
            </a:solidFill>
            <a:prstDash val="solid"/>
          </a:ln>
        </p:spPr>
        <p:txBody>
          <a:bodyPr/>
          <a:lstStyle/>
          <a:p>
            <a:endParaRPr lang="en-US"/>
          </a:p>
        </p:txBody>
      </p:sp>
      <p:sp>
        <p:nvSpPr>
          <p:cNvPr id="62" name="Text 58"/>
          <p:cNvSpPr txBox="1"/>
          <p:nvPr/>
        </p:nvSpPr>
        <p:spPr>
          <a:xfrm>
            <a:off x="8339328" y="1737360"/>
            <a:ext cx="1828800" cy="502920"/>
          </a:xfrm>
          <a:prstGeom prst="rect">
            <a:avLst/>
          </a:prstGeom>
          <a:noFill/>
          <a:ln/>
        </p:spPr>
        <p:txBody>
          <a:bodyPr wrap="square" lIns="0" tIns="0" rIns="0" bIns="0" rtlCol="0" anchor="ctr"/>
          <a:lstStyle/>
          <a:p>
            <a:pPr marL="0" indent="0">
              <a:buNone/>
            </a:pPr>
            <a:r>
              <a:rPr lang="en-US" sz="3000" b="1" dirty="0">
                <a:solidFill>
                  <a:srgbClr val="F26522"/>
                </a:solidFill>
                <a:latin typeface="Arial" pitchFamily="34" charset="0"/>
                <a:ea typeface="Arial" pitchFamily="34" charset="-122"/>
                <a:cs typeface="Arial" pitchFamily="34" charset="-120"/>
              </a:rPr>
              <a:t>13K</a:t>
            </a:r>
            <a:endParaRPr lang="en-US" sz="3000" dirty="0"/>
          </a:p>
        </p:txBody>
      </p:sp>
      <p:sp>
        <p:nvSpPr>
          <p:cNvPr id="63" name="Text 59"/>
          <p:cNvSpPr txBox="1"/>
          <p:nvPr/>
        </p:nvSpPr>
        <p:spPr>
          <a:xfrm>
            <a:off x="9482328" y="1874520"/>
            <a:ext cx="1883664" cy="274320"/>
          </a:xfrm>
          <a:prstGeom prst="rect">
            <a:avLst/>
          </a:prstGeom>
          <a:noFill/>
          <a:ln/>
        </p:spPr>
        <p:txBody>
          <a:bodyPr wrap="square" lIns="0" tIns="0" rIns="0" bIns="0" rtlCol="0" anchor="ctr"/>
          <a:lstStyle/>
          <a:p>
            <a:pPr marL="0" indent="0" algn="r">
              <a:buNone/>
            </a:pPr>
            <a:r>
              <a:rPr lang="en-US" sz="1050" dirty="0">
                <a:solidFill>
                  <a:srgbClr val="9A9CA3"/>
                </a:solidFill>
                <a:latin typeface="Arial" pitchFamily="34" charset="0"/>
                <a:ea typeface="Arial" pitchFamily="34" charset="-122"/>
                <a:cs typeface="Arial" pitchFamily="34" charset="-120"/>
              </a:rPr>
              <a:t>12,778 prompt tokens</a:t>
            </a:r>
            <a:endParaRPr lang="en-US" sz="1050" dirty="0"/>
          </a:p>
        </p:txBody>
      </p:sp>
      <p:sp>
        <p:nvSpPr>
          <p:cNvPr id="64" name="Shape 60"/>
          <p:cNvSpPr/>
          <p:nvPr/>
        </p:nvSpPr>
        <p:spPr>
          <a:xfrm>
            <a:off x="8339328" y="2304288"/>
            <a:ext cx="3026664" cy="9144"/>
          </a:xfrm>
          <a:prstGeom prst="rect">
            <a:avLst/>
          </a:prstGeom>
          <a:solidFill>
            <a:srgbClr val="E4E1DA"/>
          </a:solidFill>
          <a:ln w="12700">
            <a:solidFill>
              <a:srgbClr val="E4E1DA"/>
            </a:solidFill>
            <a:prstDash val="solid"/>
          </a:ln>
        </p:spPr>
        <p:txBody>
          <a:bodyPr/>
          <a:lstStyle/>
          <a:p>
            <a:endParaRPr lang="en-US"/>
          </a:p>
        </p:txBody>
      </p:sp>
      <p:sp>
        <p:nvSpPr>
          <p:cNvPr id="65" name="Text 61"/>
          <p:cNvSpPr txBox="1"/>
          <p:nvPr/>
        </p:nvSpPr>
        <p:spPr>
          <a:xfrm>
            <a:off x="8339328" y="239572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without aiDAPTIV+</a:t>
            </a:r>
            <a:endParaRPr lang="en-US" sz="1000" dirty="0"/>
          </a:p>
        </p:txBody>
      </p:sp>
      <p:sp>
        <p:nvSpPr>
          <p:cNvPr id="66" name="Text 62"/>
          <p:cNvSpPr txBox="1"/>
          <p:nvPr/>
        </p:nvSpPr>
        <p:spPr>
          <a:xfrm>
            <a:off x="10030968" y="2395728"/>
            <a:ext cx="1335024" cy="256032"/>
          </a:xfrm>
          <a:prstGeom prst="rect">
            <a:avLst/>
          </a:prstGeom>
          <a:noFill/>
          <a:ln/>
        </p:spPr>
        <p:txBody>
          <a:bodyPr wrap="square" lIns="0" tIns="0" rIns="0" bIns="0" rtlCol="0" anchor="ctr"/>
          <a:lstStyle/>
          <a:p>
            <a:pPr marL="0" indent="0" algn="r">
              <a:buNone/>
            </a:pPr>
            <a:r>
              <a:rPr lang="en-US" sz="1000" b="1" dirty="0">
                <a:solidFill>
                  <a:srgbClr val="9A9CA3"/>
                </a:solidFill>
                <a:latin typeface="Arial" pitchFamily="34" charset="0"/>
                <a:ea typeface="Arial" pitchFamily="34" charset="-122"/>
                <a:cs typeface="Arial" pitchFamily="34" charset="-120"/>
              </a:rPr>
              <a:t>271.9 s</a:t>
            </a:r>
            <a:endParaRPr lang="en-US" sz="1000" dirty="0"/>
          </a:p>
        </p:txBody>
      </p:sp>
      <p:sp>
        <p:nvSpPr>
          <p:cNvPr id="67" name="Shape 63"/>
          <p:cNvSpPr/>
          <p:nvPr/>
        </p:nvSpPr>
        <p:spPr>
          <a:xfrm>
            <a:off x="8339328" y="2724912"/>
            <a:ext cx="3026664" cy="5486"/>
          </a:xfrm>
          <a:prstGeom prst="rect">
            <a:avLst/>
          </a:prstGeom>
          <a:solidFill>
            <a:srgbClr val="E4E1DA"/>
          </a:solidFill>
          <a:ln w="12700">
            <a:solidFill>
              <a:srgbClr val="E4E1DA"/>
            </a:solidFill>
            <a:prstDash val="solid"/>
          </a:ln>
        </p:spPr>
        <p:txBody>
          <a:bodyPr/>
          <a:lstStyle/>
          <a:p>
            <a:endParaRPr lang="en-US"/>
          </a:p>
        </p:txBody>
      </p:sp>
      <p:sp>
        <p:nvSpPr>
          <p:cNvPr id="68" name="Text 64"/>
          <p:cNvSpPr txBox="1"/>
          <p:nvPr/>
        </p:nvSpPr>
        <p:spPr>
          <a:xfrm>
            <a:off x="8339328" y="2798064"/>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first run</a:t>
            </a:r>
            <a:endParaRPr lang="en-US" sz="1000" dirty="0"/>
          </a:p>
        </p:txBody>
      </p:sp>
      <p:sp>
        <p:nvSpPr>
          <p:cNvPr id="69" name="Text 65"/>
          <p:cNvSpPr txBox="1"/>
          <p:nvPr/>
        </p:nvSpPr>
        <p:spPr>
          <a:xfrm>
            <a:off x="10030968" y="2798064"/>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152.8 s</a:t>
            </a:r>
            <a:endParaRPr lang="en-US" sz="1000" dirty="0"/>
          </a:p>
        </p:txBody>
      </p:sp>
      <p:sp>
        <p:nvSpPr>
          <p:cNvPr id="70" name="Shape 66"/>
          <p:cNvSpPr/>
          <p:nvPr/>
        </p:nvSpPr>
        <p:spPr>
          <a:xfrm>
            <a:off x="8339328" y="3127248"/>
            <a:ext cx="3026664" cy="5486"/>
          </a:xfrm>
          <a:prstGeom prst="rect">
            <a:avLst/>
          </a:prstGeom>
          <a:solidFill>
            <a:srgbClr val="E4E1DA"/>
          </a:solidFill>
          <a:ln w="12700">
            <a:solidFill>
              <a:srgbClr val="E4E1DA"/>
            </a:solidFill>
            <a:prstDash val="solid"/>
          </a:ln>
        </p:spPr>
        <p:txBody>
          <a:bodyPr/>
          <a:lstStyle/>
          <a:p>
            <a:endParaRPr lang="en-US"/>
          </a:p>
        </p:txBody>
      </p:sp>
      <p:sp>
        <p:nvSpPr>
          <p:cNvPr id="71" name="Text 67"/>
          <p:cNvSpPr txBox="1"/>
          <p:nvPr/>
        </p:nvSpPr>
        <p:spPr>
          <a:xfrm>
            <a:off x="8339328" y="3200400"/>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 with, repeat run</a:t>
            </a:r>
            <a:endParaRPr lang="en-US" sz="1000" dirty="0"/>
          </a:p>
        </p:txBody>
      </p:sp>
      <p:sp>
        <p:nvSpPr>
          <p:cNvPr id="72" name="Text 68"/>
          <p:cNvSpPr txBox="1"/>
          <p:nvPr/>
        </p:nvSpPr>
        <p:spPr>
          <a:xfrm>
            <a:off x="10030968" y="3200400"/>
            <a:ext cx="1335024" cy="256032"/>
          </a:xfrm>
          <a:prstGeom prst="rect">
            <a:avLst/>
          </a:prstGeom>
          <a:noFill/>
          <a:ln/>
        </p:spPr>
        <p:txBody>
          <a:bodyPr wrap="square" lIns="0" tIns="0" rIns="0" bIns="0" rtlCol="0" anchor="ctr"/>
          <a:lstStyle/>
          <a:p>
            <a:pPr marL="0" indent="0" algn="r">
              <a:buNone/>
            </a:pPr>
            <a:r>
              <a:rPr lang="en-US" sz="1000" b="1" dirty="0">
                <a:solidFill>
                  <a:srgbClr val="F26522"/>
                </a:solidFill>
                <a:latin typeface="Arial" pitchFamily="34" charset="0"/>
                <a:ea typeface="Arial" pitchFamily="34" charset="-122"/>
                <a:cs typeface="Arial" pitchFamily="34" charset="-120"/>
              </a:rPr>
              <a:t>1.26 s</a:t>
            </a:r>
            <a:r>
              <a:rPr lang="en-US" sz="850" dirty="0">
                <a:solidFill>
                  <a:srgbClr val="9A9CA3"/>
                </a:solidFill>
                <a:latin typeface="Arial" pitchFamily="34" charset="0"/>
                <a:ea typeface="Arial" pitchFamily="34" charset="-122"/>
                <a:cs typeface="Arial" pitchFamily="34" charset="-120"/>
              </a:rPr>
              <a:t>  ·  6 new tok</a:t>
            </a:r>
            <a:endParaRPr lang="en-US" sz="1000" dirty="0"/>
          </a:p>
        </p:txBody>
      </p:sp>
      <p:sp>
        <p:nvSpPr>
          <p:cNvPr id="73" name="Shape 69"/>
          <p:cNvSpPr/>
          <p:nvPr/>
        </p:nvSpPr>
        <p:spPr>
          <a:xfrm>
            <a:off x="8339328" y="3529584"/>
            <a:ext cx="3026664" cy="5486"/>
          </a:xfrm>
          <a:prstGeom prst="rect">
            <a:avLst/>
          </a:prstGeom>
          <a:solidFill>
            <a:srgbClr val="E4E1DA"/>
          </a:solidFill>
          <a:ln w="12700">
            <a:solidFill>
              <a:srgbClr val="E4E1DA"/>
            </a:solidFill>
            <a:prstDash val="solid"/>
          </a:ln>
        </p:spPr>
        <p:txBody>
          <a:bodyPr/>
          <a:lstStyle/>
          <a:p>
            <a:endParaRPr lang="en-US"/>
          </a:p>
        </p:txBody>
      </p:sp>
      <p:sp>
        <p:nvSpPr>
          <p:cNvPr id="74" name="Text 70"/>
          <p:cNvSpPr txBox="1"/>
          <p:nvPr/>
        </p:nvSpPr>
        <p:spPr>
          <a:xfrm>
            <a:off x="8339328" y="3602736"/>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Tokens served from CACHE</a:t>
            </a:r>
            <a:endParaRPr lang="en-US" sz="1000" dirty="0"/>
          </a:p>
        </p:txBody>
      </p:sp>
      <p:sp>
        <p:nvSpPr>
          <p:cNvPr id="75" name="Text 71"/>
          <p:cNvSpPr txBox="1"/>
          <p:nvPr/>
        </p:nvSpPr>
        <p:spPr>
          <a:xfrm>
            <a:off x="10030968" y="3602736"/>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12,776</a:t>
            </a:r>
            <a:endParaRPr lang="en-US" sz="1000" dirty="0"/>
          </a:p>
        </p:txBody>
      </p:sp>
      <p:sp>
        <p:nvSpPr>
          <p:cNvPr id="76" name="Shape 72"/>
          <p:cNvSpPr/>
          <p:nvPr/>
        </p:nvSpPr>
        <p:spPr>
          <a:xfrm>
            <a:off x="8339328" y="3931920"/>
            <a:ext cx="3026664" cy="5486"/>
          </a:xfrm>
          <a:prstGeom prst="rect">
            <a:avLst/>
          </a:prstGeom>
          <a:solidFill>
            <a:srgbClr val="E4E1DA"/>
          </a:solidFill>
          <a:ln w="12700">
            <a:solidFill>
              <a:srgbClr val="E4E1DA"/>
            </a:solidFill>
            <a:prstDash val="solid"/>
          </a:ln>
        </p:spPr>
        <p:txBody>
          <a:bodyPr/>
          <a:lstStyle/>
          <a:p>
            <a:endParaRPr lang="en-US"/>
          </a:p>
        </p:txBody>
      </p:sp>
      <p:sp>
        <p:nvSpPr>
          <p:cNvPr id="77" name="Text 73"/>
          <p:cNvSpPr txBox="1"/>
          <p:nvPr/>
        </p:nvSpPr>
        <p:spPr>
          <a:xfrm>
            <a:off x="8339328" y="4005072"/>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Prefill rate — without / with</a:t>
            </a:r>
            <a:endParaRPr lang="en-US" sz="1000" dirty="0"/>
          </a:p>
        </p:txBody>
      </p:sp>
      <p:sp>
        <p:nvSpPr>
          <p:cNvPr id="78" name="Text 74"/>
          <p:cNvSpPr txBox="1"/>
          <p:nvPr/>
        </p:nvSpPr>
        <p:spPr>
          <a:xfrm>
            <a:off x="10030968" y="4005072"/>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47.0 / 83.6 t/s</a:t>
            </a:r>
            <a:endParaRPr lang="en-US" sz="1000" dirty="0"/>
          </a:p>
        </p:txBody>
      </p:sp>
      <p:sp>
        <p:nvSpPr>
          <p:cNvPr id="79" name="Shape 75"/>
          <p:cNvSpPr/>
          <p:nvPr/>
        </p:nvSpPr>
        <p:spPr>
          <a:xfrm>
            <a:off x="8339328" y="4334256"/>
            <a:ext cx="3026664" cy="5486"/>
          </a:xfrm>
          <a:prstGeom prst="rect">
            <a:avLst/>
          </a:prstGeom>
          <a:solidFill>
            <a:srgbClr val="E4E1DA"/>
          </a:solidFill>
          <a:ln w="12700">
            <a:solidFill>
              <a:srgbClr val="E4E1DA"/>
            </a:solidFill>
            <a:prstDash val="solid"/>
          </a:ln>
        </p:spPr>
        <p:txBody>
          <a:bodyPr/>
          <a:lstStyle/>
          <a:p>
            <a:endParaRPr lang="en-US"/>
          </a:p>
        </p:txBody>
      </p:sp>
      <p:sp>
        <p:nvSpPr>
          <p:cNvPr id="80" name="Text 76"/>
          <p:cNvSpPr txBox="1"/>
          <p:nvPr/>
        </p:nvSpPr>
        <p:spPr>
          <a:xfrm>
            <a:off x="8339328" y="4407408"/>
            <a:ext cx="1691640" cy="256032"/>
          </a:xfrm>
          <a:prstGeom prst="rect">
            <a:avLst/>
          </a:prstGeom>
          <a:noFill/>
          <a:ln/>
        </p:spPr>
        <p:txBody>
          <a:bodyPr wrap="square" lIns="0" tIns="0" rIns="0" bIns="0" rtlCol="0" anchor="ctr"/>
          <a:lstStyle/>
          <a:p>
            <a:pPr marL="0" indent="0">
              <a:buNone/>
            </a:pPr>
            <a:r>
              <a:rPr lang="en-US" sz="1000" dirty="0">
                <a:solidFill>
                  <a:srgbClr val="5F6168"/>
                </a:solidFill>
                <a:latin typeface="Arial" pitchFamily="34" charset="0"/>
                <a:ea typeface="Arial" pitchFamily="34" charset="-122"/>
                <a:cs typeface="Arial" pitchFamily="34" charset="-120"/>
              </a:rPr>
              <a:t>Generation — without / with</a:t>
            </a:r>
            <a:endParaRPr lang="en-US" sz="1000" dirty="0"/>
          </a:p>
        </p:txBody>
      </p:sp>
      <p:sp>
        <p:nvSpPr>
          <p:cNvPr id="81" name="Text 77"/>
          <p:cNvSpPr txBox="1"/>
          <p:nvPr/>
        </p:nvSpPr>
        <p:spPr>
          <a:xfrm>
            <a:off x="10030968" y="4407408"/>
            <a:ext cx="1335024" cy="256032"/>
          </a:xfrm>
          <a:prstGeom prst="rect">
            <a:avLst/>
          </a:prstGeom>
          <a:noFill/>
          <a:ln/>
        </p:spPr>
        <p:txBody>
          <a:bodyPr wrap="square" lIns="0" tIns="0" rIns="0" bIns="0" rtlCol="0" anchor="ctr"/>
          <a:lstStyle/>
          <a:p>
            <a:pPr marL="0" indent="0" algn="r">
              <a:buNone/>
            </a:pPr>
            <a:r>
              <a:rPr lang="en-US" sz="1000" b="1" dirty="0">
                <a:solidFill>
                  <a:srgbClr val="1A1A1C"/>
                </a:solidFill>
                <a:latin typeface="Arial" pitchFamily="34" charset="0"/>
                <a:ea typeface="Arial" pitchFamily="34" charset="-122"/>
                <a:cs typeface="Arial" pitchFamily="34" charset="-120"/>
              </a:rPr>
              <a:t>6.48 / 8.55 t/s</a:t>
            </a:r>
            <a:endParaRPr lang="en-US" sz="1000" dirty="0"/>
          </a:p>
        </p:txBody>
      </p:sp>
      <p:sp>
        <p:nvSpPr>
          <p:cNvPr id="82" name="Text 78"/>
          <p:cNvSpPr txBox="1"/>
          <p:nvPr/>
        </p:nvSpPr>
        <p:spPr>
          <a:xfrm>
            <a:off x="8339328" y="5193792"/>
            <a:ext cx="3026664" cy="411480"/>
          </a:xfrm>
          <a:prstGeom prst="rect">
            <a:avLst/>
          </a:prstGeom>
          <a:noFill/>
          <a:ln/>
        </p:spPr>
        <p:txBody>
          <a:bodyPr wrap="square" lIns="0" tIns="0" rIns="0" bIns="0" rtlCol="0" anchor="ctr"/>
          <a:lstStyle/>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without:  </a:t>
            </a:r>
            <a:r>
              <a:rPr lang="en-US" sz="650" dirty="0">
                <a:solidFill>
                  <a:srgbClr val="5F6168"/>
                </a:solidFill>
                <a:latin typeface="Consolas" pitchFamily="34" charset="0"/>
                <a:ea typeface="Consolas" pitchFamily="34" charset="-122"/>
                <a:cs typeface="Consolas" pitchFamily="34" charset="-120"/>
              </a:rPr>
              <a:t>llama_server_Benchmark_13K-1.log</a:t>
            </a:r>
            <a:endParaRPr lang="en-US" sz="650" dirty="0"/>
          </a:p>
          <a:p>
            <a:pPr marL="0" indent="0">
              <a:lnSpc>
                <a:spcPct val="120000"/>
              </a:lnSpc>
              <a:buNone/>
            </a:pPr>
            <a:r>
              <a:rPr lang="en-US" sz="650" b="1" dirty="0">
                <a:solidFill>
                  <a:srgbClr val="9A9CA3"/>
                </a:solidFill>
                <a:latin typeface="Consolas" pitchFamily="34" charset="0"/>
                <a:ea typeface="Consolas" pitchFamily="34" charset="-122"/>
                <a:cs typeface="Consolas" pitchFamily="34" charset="-120"/>
              </a:rPr>
              <a:t>with:  </a:t>
            </a:r>
            <a:r>
              <a:rPr lang="en-US" sz="650" dirty="0">
                <a:solidFill>
                  <a:srgbClr val="5F6168"/>
                </a:solidFill>
                <a:latin typeface="Consolas" pitchFamily="34" charset="0"/>
                <a:ea typeface="Consolas" pitchFamily="34" charset="-122"/>
                <a:cs typeface="Consolas" pitchFamily="34" charset="-120"/>
              </a:rPr>
              <a:t>Onyx_Benchmark_13K-Second_Running-1q.log</a:t>
            </a:r>
            <a:endParaRPr lang="en-US" sz="650" dirty="0"/>
          </a:p>
        </p:txBody>
      </p:sp>
      <p:sp>
        <p:nvSpPr>
          <p:cNvPr id="83" name="Shape 79"/>
          <p:cNvSpPr/>
          <p:nvPr/>
        </p:nvSpPr>
        <p:spPr>
          <a:xfrm>
            <a:off x="8339328" y="4773168"/>
            <a:ext cx="3026664" cy="329184"/>
          </a:xfrm>
          <a:prstGeom prst="roundRect">
            <a:avLst>
              <a:gd name="adj" fmla="val 69444"/>
            </a:avLst>
          </a:prstGeom>
          <a:solidFill>
            <a:srgbClr val="FCE3D2"/>
          </a:solidFill>
          <a:ln w="12700">
            <a:solidFill>
              <a:srgbClr val="FCE3D2"/>
            </a:solidFill>
            <a:prstDash val="solid"/>
          </a:ln>
        </p:spPr>
        <p:txBody>
          <a:bodyPr/>
          <a:lstStyle/>
          <a:p>
            <a:endParaRPr lang="en-US"/>
          </a:p>
        </p:txBody>
      </p:sp>
      <p:sp>
        <p:nvSpPr>
          <p:cNvPr id="84" name="Text 80"/>
          <p:cNvSpPr txBox="1"/>
          <p:nvPr/>
        </p:nvSpPr>
        <p:spPr>
          <a:xfrm>
            <a:off x="8476488" y="4773168"/>
            <a:ext cx="2743200" cy="329184"/>
          </a:xfrm>
          <a:prstGeom prst="rect">
            <a:avLst/>
          </a:prstGeom>
          <a:noFill/>
          <a:ln/>
        </p:spPr>
        <p:txBody>
          <a:bodyPr wrap="square" lIns="0" tIns="0" rIns="0" bIns="0" rtlCol="0" anchor="ctr"/>
          <a:lstStyle/>
          <a:p>
            <a:pPr marL="0" indent="0">
              <a:buNone/>
            </a:pPr>
            <a:r>
              <a:rPr lang="en-US" sz="1200" b="1" dirty="0">
                <a:solidFill>
                  <a:srgbClr val="D9501A"/>
                </a:solidFill>
                <a:latin typeface="Arial" pitchFamily="34" charset="0"/>
                <a:ea typeface="Arial" pitchFamily="34" charset="-122"/>
                <a:cs typeface="Arial" pitchFamily="34" charset="-120"/>
              </a:rPr>
              <a:t>216× </a:t>
            </a:r>
            <a:r>
              <a:rPr lang="en-US" sz="1000" dirty="0">
                <a:solidFill>
                  <a:srgbClr val="D9501A"/>
                </a:solidFill>
                <a:latin typeface="Arial" pitchFamily="34" charset="0"/>
                <a:ea typeface="Arial" pitchFamily="34" charset="-122"/>
                <a:cs typeface="Arial" pitchFamily="34" charset="-120"/>
              </a:rPr>
              <a:t>faster on a repeat query</a:t>
            </a:r>
            <a:endParaRPr lang="en-US" sz="1200" dirty="0"/>
          </a:p>
        </p:txBody>
      </p:sp>
      <p:sp>
        <p:nvSpPr>
          <p:cNvPr id="85" name="Shape 81"/>
          <p:cNvSpPr/>
          <p:nvPr/>
        </p:nvSpPr>
        <p:spPr>
          <a:xfrm>
            <a:off x="548640" y="5797296"/>
            <a:ext cx="11091672" cy="384048"/>
          </a:xfrm>
          <a:prstGeom prst="roundRect">
            <a:avLst>
              <a:gd name="adj" fmla="val 59524"/>
            </a:avLst>
          </a:prstGeom>
          <a:solidFill>
            <a:srgbClr val="FCE3D2"/>
          </a:solidFill>
          <a:ln w="12700">
            <a:solidFill>
              <a:srgbClr val="FCE3D2"/>
            </a:solidFill>
            <a:prstDash val="solid"/>
          </a:ln>
        </p:spPr>
        <p:txBody>
          <a:bodyPr/>
          <a:lstStyle/>
          <a:p>
            <a:endParaRPr lang="en-US"/>
          </a:p>
        </p:txBody>
      </p:sp>
      <p:sp>
        <p:nvSpPr>
          <p:cNvPr id="86" name="Text 82"/>
          <p:cNvSpPr txBox="1"/>
          <p:nvPr/>
        </p:nvSpPr>
        <p:spPr>
          <a:xfrm>
            <a:off x="822960" y="5797296"/>
            <a:ext cx="10543032" cy="384048"/>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One run each: </a:t>
            </a:r>
            <a:r>
              <a:rPr lang="en-US" sz="1300" dirty="0">
                <a:solidFill>
                  <a:srgbClr val="5F6168"/>
                </a:solidFill>
                <a:latin typeface="Arial" pitchFamily="34" charset="0"/>
                <a:ea typeface="Arial" pitchFamily="34" charset="-122"/>
                <a:cs typeface="Arial" pitchFamily="34" charset="-120"/>
              </a:rPr>
              <a:t>every figure comes from the one log file named on its card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TIME TO FIRST TOKEN</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The wait before the answer starts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8</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graphicFrame>
        <p:nvGraphicFramePr>
          <p:cNvPr id="10" name="Chart 0"/>
          <p:cNvGraphicFramePr/>
          <p:nvPr/>
        </p:nvGraphicFramePr>
        <p:xfrm>
          <a:off x="548640" y="1463040"/>
          <a:ext cx="7589520" cy="393192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8412480" y="1463040"/>
            <a:ext cx="3227832" cy="3931920"/>
          </a:xfrm>
          <a:prstGeom prst="roundRect">
            <a:avLst>
              <a:gd name="adj" fmla="val 2266"/>
            </a:avLst>
          </a:prstGeom>
          <a:solidFill>
            <a:srgbClr val="FAF9F6"/>
          </a:solidFill>
          <a:ln w="12700">
            <a:solidFill>
              <a:srgbClr val="E4E1DA"/>
            </a:solidFill>
            <a:prstDash val="solid"/>
          </a:ln>
        </p:spPr>
        <p:txBody>
          <a:bodyPr/>
          <a:lstStyle/>
          <a:p>
            <a:endParaRPr lang="en-US"/>
          </a:p>
        </p:txBody>
      </p:sp>
      <p:sp>
        <p:nvSpPr>
          <p:cNvPr id="12" name="Text 7"/>
          <p:cNvSpPr txBox="1"/>
          <p:nvPr/>
        </p:nvSpPr>
        <p:spPr>
          <a:xfrm>
            <a:off x="8641080" y="1664208"/>
            <a:ext cx="2770632" cy="228600"/>
          </a:xfrm>
          <a:prstGeom prst="rect">
            <a:avLst/>
          </a:prstGeom>
          <a:noFill/>
          <a:ln/>
        </p:spPr>
        <p:txBody>
          <a:bodyPr wrap="square" lIns="0" tIns="0" rIns="0" bIns="0" rtlCol="0" anchor="ctr"/>
          <a:lstStyle/>
          <a:p>
            <a:pPr marL="0" indent="0">
              <a:buNone/>
            </a:pPr>
            <a:r>
              <a:rPr lang="en-US" sz="1000" b="1" dirty="0">
                <a:solidFill>
                  <a:srgbClr val="F26522"/>
                </a:solidFill>
                <a:latin typeface="Arial" pitchFamily="34" charset="0"/>
                <a:ea typeface="Arial" pitchFamily="34" charset="-122"/>
                <a:cs typeface="Arial" pitchFamily="34" charset="-120"/>
              </a:rPr>
              <a:t>READING THE CHART</a:t>
            </a:r>
            <a:endParaRPr lang="en-US" sz="1000" dirty="0"/>
          </a:p>
        </p:txBody>
      </p:sp>
      <p:sp>
        <p:nvSpPr>
          <p:cNvPr id="13" name="Text 8"/>
          <p:cNvSpPr txBox="1"/>
          <p:nvPr/>
        </p:nvSpPr>
        <p:spPr>
          <a:xfrm>
            <a:off x="8641080" y="1993392"/>
            <a:ext cx="2770632" cy="2651760"/>
          </a:xfrm>
          <a:prstGeom prst="rect">
            <a:avLst/>
          </a:prstGeom>
          <a:noFill/>
          <a:ln/>
        </p:spPr>
        <p:txBody>
          <a:bodyPr wrap="square" lIns="0" tIns="0" rIns="0" bIns="0" rtlCol="0" anchor="t"/>
          <a:lstStyle/>
          <a:p>
            <a:pPr marL="0" indent="0">
              <a:lnSpc>
                <a:spcPct val="122000"/>
              </a:lnSpc>
              <a:buNone/>
            </a:pPr>
            <a:r>
              <a:rPr lang="en-US" sz="1200" b="1" dirty="0">
                <a:solidFill>
                  <a:srgbClr val="1A1A1C"/>
                </a:solidFill>
                <a:latin typeface="Arial" pitchFamily="34" charset="0"/>
                <a:ea typeface="Arial" pitchFamily="34" charset="-122"/>
                <a:cs typeface="Arial" pitchFamily="34" charset="-120"/>
              </a:rPr>
              <a:t>The grey bars grow</a:t>
            </a:r>
            <a:endParaRPr lang="en-US" sz="1200" dirty="0"/>
          </a:p>
          <a:p>
            <a:pPr marL="0" indent="0">
              <a:lnSpc>
                <a:spcPct val="122000"/>
              </a:lnSpc>
              <a:buNone/>
            </a:pPr>
            <a:r>
              <a:rPr lang="en-US" sz="1050" dirty="0">
                <a:solidFill>
                  <a:srgbClr val="5F6168"/>
                </a:solidFill>
                <a:latin typeface="Arial" pitchFamily="34" charset="0"/>
                <a:ea typeface="Arial" pitchFamily="34" charset="-122"/>
                <a:cs typeface="Arial" pitchFamily="34" charset="-120"/>
              </a:rPr>
              <a:t>Without aiDAPTIV+ the wait scales with context: 3 min 4 s at 8K, 3 min 53 s at 10K, 4 min 32 s at 13K.</a:t>
            </a:r>
            <a:endParaRPr lang="en-US" sz="1200" dirty="0"/>
          </a:p>
          <a:p>
            <a:pPr marL="0" indent="0">
              <a:lnSpc>
                <a:spcPct val="122000"/>
              </a:lnSpc>
              <a:buNone/>
            </a:pPr>
            <a:r>
              <a:rPr lang="en-US" sz="700" dirty="0">
                <a:solidFill>
                  <a:srgbClr val="000000"/>
                </a:solidFill>
                <a:latin typeface="Arial" pitchFamily="34" charset="0"/>
                <a:ea typeface="Arial" pitchFamily="34" charset="-122"/>
                <a:cs typeface="Arial" pitchFamily="34" charset="-120"/>
              </a:rPr>
              <a:t> </a:t>
            </a:r>
            <a:endParaRPr lang="en-US" sz="1200" dirty="0"/>
          </a:p>
          <a:p>
            <a:pPr marL="0" indent="0">
              <a:lnSpc>
                <a:spcPct val="122000"/>
              </a:lnSpc>
              <a:buNone/>
            </a:pPr>
            <a:r>
              <a:rPr lang="en-US" sz="1200" b="1" dirty="0">
                <a:solidFill>
                  <a:srgbClr val="1A1A1C"/>
                </a:solidFill>
                <a:latin typeface="Arial" pitchFamily="34" charset="0"/>
                <a:ea typeface="Arial" pitchFamily="34" charset="-122"/>
                <a:cs typeface="Arial" pitchFamily="34" charset="-120"/>
              </a:rPr>
              <a:t>The amber bars are half</a:t>
            </a:r>
            <a:endParaRPr lang="en-US" sz="1200" dirty="0"/>
          </a:p>
          <a:p>
            <a:pPr marL="0" indent="0">
              <a:lnSpc>
                <a:spcPct val="122000"/>
              </a:lnSpc>
              <a:buNone/>
            </a:pPr>
            <a:r>
              <a:rPr lang="en-US" sz="1050" dirty="0">
                <a:solidFill>
                  <a:srgbClr val="5F6168"/>
                </a:solidFill>
                <a:latin typeface="Arial" pitchFamily="34" charset="0"/>
                <a:ea typeface="Arial" pitchFamily="34" charset="-122"/>
                <a:cs typeface="Arial" pitchFamily="34" charset="-120"/>
              </a:rPr>
              <a:t>Even on a cold run with nothing cached, MoE expert offload roughly doubles prefill throughput — 94 t/s against 46 t/s at 8K.</a:t>
            </a:r>
            <a:endParaRPr lang="en-US" sz="1200" dirty="0"/>
          </a:p>
          <a:p>
            <a:pPr marL="0" indent="0">
              <a:lnSpc>
                <a:spcPct val="122000"/>
              </a:lnSpc>
              <a:buNone/>
            </a:pPr>
            <a:r>
              <a:rPr lang="en-US" sz="700" dirty="0">
                <a:solidFill>
                  <a:srgbClr val="000000"/>
                </a:solidFill>
                <a:latin typeface="Arial" pitchFamily="34" charset="0"/>
                <a:ea typeface="Arial" pitchFamily="34" charset="-122"/>
                <a:cs typeface="Arial" pitchFamily="34" charset="-120"/>
              </a:rPr>
              <a:t> </a:t>
            </a:r>
            <a:endParaRPr lang="en-US" sz="1200" dirty="0"/>
          </a:p>
          <a:p>
            <a:pPr marL="0" indent="0">
              <a:lnSpc>
                <a:spcPct val="122000"/>
              </a:lnSpc>
              <a:buNone/>
            </a:pPr>
            <a:r>
              <a:rPr lang="en-US" sz="1200" b="1" dirty="0">
                <a:solidFill>
                  <a:srgbClr val="1A1A1C"/>
                </a:solidFill>
                <a:latin typeface="Arial" pitchFamily="34" charset="0"/>
                <a:ea typeface="Arial" pitchFamily="34" charset="-122"/>
                <a:cs typeface="Arial" pitchFamily="34" charset="-120"/>
              </a:rPr>
              <a:t>The orange bars vanish</a:t>
            </a:r>
            <a:endParaRPr lang="en-US" sz="1200" dirty="0"/>
          </a:p>
          <a:p>
            <a:pPr marL="0" indent="0">
              <a:lnSpc>
                <a:spcPct val="122000"/>
              </a:lnSpc>
              <a:buNone/>
            </a:pPr>
            <a:r>
              <a:rPr lang="en-US" sz="1050" dirty="0">
                <a:solidFill>
                  <a:srgbClr val="5F6168"/>
                </a:solidFill>
                <a:latin typeface="Arial" pitchFamily="34" charset="0"/>
                <a:ea typeface="Arial" pitchFamily="34" charset="-122"/>
                <a:cs typeface="Arial" pitchFamily="34" charset="-120"/>
              </a:rPr>
              <a:t>Once the prefix is on the AI SSD the wait is 1–2 s, set by the new question, not the context.</a:t>
            </a:r>
            <a:endParaRPr lang="en-US" sz="1200" dirty="0"/>
          </a:p>
        </p:txBody>
      </p:sp>
      <p:sp>
        <p:nvSpPr>
          <p:cNvPr id="14" name="Shape 9"/>
          <p:cNvSpPr/>
          <p:nvPr/>
        </p:nvSpPr>
        <p:spPr>
          <a:xfrm>
            <a:off x="8641080" y="4690872"/>
            <a:ext cx="2770632" cy="9144"/>
          </a:xfrm>
          <a:prstGeom prst="rect">
            <a:avLst/>
          </a:prstGeom>
          <a:solidFill>
            <a:srgbClr val="E4E1DA"/>
          </a:solidFill>
          <a:ln w="12700">
            <a:solidFill>
              <a:srgbClr val="E4E1DA"/>
            </a:solidFill>
            <a:prstDash val="solid"/>
          </a:ln>
        </p:spPr>
        <p:txBody>
          <a:bodyPr/>
          <a:lstStyle/>
          <a:p>
            <a:endParaRPr lang="en-US"/>
          </a:p>
        </p:txBody>
      </p:sp>
      <p:sp>
        <p:nvSpPr>
          <p:cNvPr id="15" name="Text 10"/>
          <p:cNvSpPr txBox="1"/>
          <p:nvPr/>
        </p:nvSpPr>
        <p:spPr>
          <a:xfrm>
            <a:off x="8641080" y="4809744"/>
            <a:ext cx="2770632" cy="502920"/>
          </a:xfrm>
          <a:prstGeom prst="rect">
            <a:avLst/>
          </a:prstGeom>
          <a:noFill/>
          <a:ln/>
        </p:spPr>
        <p:txBody>
          <a:bodyPr wrap="square" lIns="0" tIns="0" rIns="0" bIns="0" rtlCol="0" anchor="ctr"/>
          <a:lstStyle/>
          <a:p>
            <a:pPr marL="0" indent="0">
              <a:lnSpc>
                <a:spcPct val="115000"/>
              </a:lnSpc>
              <a:buNone/>
            </a:pPr>
            <a:r>
              <a:rPr lang="en-US" sz="1500" b="1" dirty="0">
                <a:solidFill>
                  <a:srgbClr val="F26522"/>
                </a:solidFill>
                <a:latin typeface="Arial" pitchFamily="34" charset="0"/>
                <a:ea typeface="Arial" pitchFamily="34" charset="-122"/>
                <a:cs typeface="Arial" pitchFamily="34" charset="-120"/>
              </a:rPr>
              <a:t>4 min 32 s  →  1.3 s</a:t>
            </a:r>
            <a:endParaRPr lang="en-US" sz="1500" dirty="0"/>
          </a:p>
          <a:p>
            <a:pPr marL="0" indent="0">
              <a:lnSpc>
                <a:spcPct val="115000"/>
              </a:lnSpc>
              <a:buNone/>
            </a:pPr>
            <a:r>
              <a:rPr lang="en-US" sz="950" dirty="0">
                <a:solidFill>
                  <a:srgbClr val="9A9CA3"/>
                </a:solidFill>
                <a:latin typeface="Arial" pitchFamily="34" charset="0"/>
                <a:ea typeface="Arial" pitchFamily="34" charset="-122"/>
                <a:cs typeface="Arial" pitchFamily="34" charset="-120"/>
              </a:rPr>
              <a:t>what a 13K query costs the user, before and after</a:t>
            </a:r>
            <a:endParaRPr lang="en-US" sz="1500" dirty="0"/>
          </a:p>
        </p:txBody>
      </p:sp>
      <p:sp>
        <p:nvSpPr>
          <p:cNvPr id="16" name="Shape 11"/>
          <p:cNvSpPr/>
          <p:nvPr/>
        </p:nvSpPr>
        <p:spPr>
          <a:xfrm>
            <a:off x="548640" y="5632704"/>
            <a:ext cx="11091672" cy="411480"/>
          </a:xfrm>
          <a:prstGeom prst="roundRect">
            <a:avLst>
              <a:gd name="adj" fmla="val 55556"/>
            </a:avLst>
          </a:prstGeom>
          <a:solidFill>
            <a:srgbClr val="FCE3D2"/>
          </a:solidFill>
          <a:ln w="12700">
            <a:solidFill>
              <a:srgbClr val="FCE3D2"/>
            </a:solidFill>
            <a:prstDash val="solid"/>
          </a:ln>
        </p:spPr>
        <p:txBody>
          <a:bodyPr/>
          <a:lstStyle/>
          <a:p>
            <a:endParaRPr lang="en-US"/>
          </a:p>
        </p:txBody>
      </p:sp>
      <p:sp>
        <p:nvSpPr>
          <p:cNvPr id="17" name="Text 12"/>
          <p:cNvSpPr txBox="1"/>
          <p:nvPr/>
        </p:nvSpPr>
        <p:spPr>
          <a:xfrm>
            <a:off x="822960" y="5632704"/>
            <a:ext cx="10543032" cy="41148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The shape of it: </a:t>
            </a:r>
            <a:r>
              <a:rPr lang="en-US" sz="1300" dirty="0">
                <a:solidFill>
                  <a:srgbClr val="5F6168"/>
                </a:solidFill>
                <a:latin typeface="Arial" pitchFamily="34" charset="0"/>
                <a:ea typeface="Arial" pitchFamily="34" charset="-122"/>
                <a:cs typeface="Arial" pitchFamily="34" charset="-120"/>
              </a:rPr>
              <a:t>the answer is the same on both stacks - only the wait changes, and it stops scaling with context once the prefix is cached.</a:t>
            </a:r>
            <a:endParaRPr lang="en-US" sz="1300" dirty="0"/>
          </a:p>
        </p:txBody>
      </p:sp>
      <p:sp>
        <p:nvSpPr>
          <p:cNvPr id="18" name="Text 13"/>
          <p:cNvSpPr txBox="1"/>
          <p:nvPr/>
        </p:nvSpPr>
        <p:spPr>
          <a:xfrm>
            <a:off x="548640" y="6144768"/>
            <a:ext cx="11091672" cy="201168"/>
          </a:xfrm>
          <a:prstGeom prst="rect">
            <a:avLst/>
          </a:prstGeom>
          <a:noFill/>
          <a:ln/>
        </p:spPr>
        <p:txBody>
          <a:bodyPr wrap="square" lIns="0" tIns="0" rIns="0" bIns="0" rtlCol="0" anchor="ctr"/>
          <a:lstStyle/>
          <a:p>
            <a:pPr marL="0" indent="0">
              <a:buNone/>
            </a:pPr>
            <a:r>
              <a:rPr lang="en-US" sz="900" dirty="0">
                <a:solidFill>
                  <a:srgbClr val="9A9CA3"/>
                </a:solidFill>
                <a:latin typeface="Arial" pitchFamily="34" charset="0"/>
                <a:ea typeface="Arial" pitchFamily="34" charset="-122"/>
                <a:cs typeface="Arial" pitchFamily="34" charset="-120"/>
              </a:rPr>
              <a:t>Prefill time = llama-server "prompt eval time" for task 0 — one log file per bar, listed on the results slide.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PROOF</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The same 13K query in both logs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9</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17320"/>
            <a:ext cx="5422392" cy="3977640"/>
          </a:xfrm>
          <a:prstGeom prst="roundRect">
            <a:avLst>
              <a:gd name="adj" fmla="val 1149"/>
            </a:avLst>
          </a:prstGeom>
          <a:solidFill>
            <a:srgbClr val="1A1A1C"/>
          </a:solidFill>
          <a:ln w="12700">
            <a:solidFill>
              <a:srgbClr val="3A3A40"/>
            </a:solidFill>
            <a:prstDash val="solid"/>
          </a:ln>
        </p:spPr>
        <p:txBody>
          <a:bodyPr/>
          <a:lstStyle/>
          <a:p>
            <a:endParaRPr lang="en-US"/>
          </a:p>
        </p:txBody>
      </p:sp>
      <p:sp>
        <p:nvSpPr>
          <p:cNvPr id="11" name="Text 7"/>
          <p:cNvSpPr txBox="1"/>
          <p:nvPr/>
        </p:nvSpPr>
        <p:spPr>
          <a:xfrm>
            <a:off x="749808" y="1563624"/>
            <a:ext cx="5020056" cy="219456"/>
          </a:xfrm>
          <a:prstGeom prst="rect">
            <a:avLst/>
          </a:prstGeom>
          <a:noFill/>
          <a:ln/>
        </p:spPr>
        <p:txBody>
          <a:bodyPr wrap="square" lIns="0" tIns="0" rIns="0" bIns="0" rtlCol="0" anchor="ctr"/>
          <a:lstStyle/>
          <a:p>
            <a:pPr marL="0" indent="0">
              <a:buNone/>
            </a:pPr>
            <a:r>
              <a:rPr lang="en-US" sz="1000" b="1" dirty="0">
                <a:solidFill>
                  <a:srgbClr val="9A9CA3"/>
                </a:solidFill>
                <a:latin typeface="Arial" pitchFamily="34" charset="0"/>
                <a:ea typeface="Arial" pitchFamily="34" charset="-122"/>
                <a:cs typeface="Arial" pitchFamily="34" charset="-120"/>
              </a:rPr>
              <a:t>WITHOUT aiDAPTIV+  ·  llama_server_Benchmark_13K-1.log</a:t>
            </a:r>
            <a:endParaRPr lang="en-US" sz="1000" dirty="0"/>
          </a:p>
        </p:txBody>
      </p:sp>
      <p:sp>
        <p:nvSpPr>
          <p:cNvPr id="12" name="Text 8"/>
          <p:cNvSpPr txBox="1"/>
          <p:nvPr/>
        </p:nvSpPr>
        <p:spPr>
          <a:xfrm>
            <a:off x="749808" y="1874520"/>
            <a:ext cx="5020056" cy="3355848"/>
          </a:xfrm>
          <a:prstGeom prst="rect">
            <a:avLst/>
          </a:prstGeom>
          <a:noFill/>
          <a:ln/>
        </p:spPr>
        <p:txBody>
          <a:bodyPr wrap="square" lIns="0" tIns="0" rIns="0" bIns="0" rtlCol="0" anchor="t"/>
          <a:lstStyle/>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srv  load_model: n_slots = 4, n_ctx_slot = 32000</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slot launch_slot_: id 3 | task 0 | processing task</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slot print_timing: id 3 | task 0 | prompt processing,</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1541, progress = 0.12, t =  27.95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3589, progress = 0.28, t =  66.62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5637, progress = 0.44, t = 108.59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7685, progress = 0.60, t = 152.19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9733, progress = 0.76, t = 197.85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11781, progress = 0.92, t = 245.38 s</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  n_tokens = 12774, progress = 1.00, t = 271.41 s</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a:t>
            </a:r>
            <a:endParaRPr lang="en-US" sz="800" dirty="0"/>
          </a:p>
          <a:p>
            <a:pPr marL="0" indent="0">
              <a:lnSpc>
                <a:spcPct val="124000"/>
              </a:lnSpc>
              <a:buNone/>
            </a:pPr>
            <a:r>
              <a:rPr lang="en-US" sz="800" b="1" dirty="0">
                <a:solidFill>
                  <a:srgbClr val="FFFFFF"/>
                </a:solidFill>
                <a:latin typeface="Consolas" pitchFamily="34" charset="0"/>
                <a:ea typeface="Consolas" pitchFamily="34" charset="-122"/>
                <a:cs typeface="Consolas" pitchFamily="34" charset="-120"/>
              </a:rPr>
              <a:t>prompt eval time = 271859.39 ms / 12778 tokens</a:t>
            </a:r>
            <a:endParaRPr lang="en-US" sz="800" dirty="0"/>
          </a:p>
          <a:p>
            <a:pPr marL="0" indent="0">
              <a:lnSpc>
                <a:spcPct val="124000"/>
              </a:lnSpc>
              <a:buNone/>
            </a:pPr>
            <a:r>
              <a:rPr lang="en-US" sz="800" b="1" dirty="0">
                <a:solidFill>
                  <a:srgbClr val="FFFFFF"/>
                </a:solidFill>
                <a:latin typeface="Consolas" pitchFamily="34" charset="0"/>
                <a:ea typeface="Consolas" pitchFamily="34" charset="-122"/>
                <a:cs typeface="Consolas" pitchFamily="34" charset="-120"/>
              </a:rPr>
              <a:t>  (21.28 ms per token, 47.00 tokens per second)</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eval time =  23937.92 ms /   156 tokens</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total time = 295797.30 ms / 12934 tokens</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graphs reused =      154</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slot release: id 3 | task 0 | stop processing:</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n_tokens = 12933, truncated = 0</a:t>
            </a:r>
            <a:endParaRPr lang="en-US" sz="800" dirty="0"/>
          </a:p>
        </p:txBody>
      </p:sp>
      <p:sp>
        <p:nvSpPr>
          <p:cNvPr id="13" name="Shape 9"/>
          <p:cNvSpPr/>
          <p:nvPr/>
        </p:nvSpPr>
        <p:spPr>
          <a:xfrm>
            <a:off x="6217920" y="1417320"/>
            <a:ext cx="5422392" cy="3977640"/>
          </a:xfrm>
          <a:prstGeom prst="roundRect">
            <a:avLst>
              <a:gd name="adj" fmla="val 1149"/>
            </a:avLst>
          </a:prstGeom>
          <a:solidFill>
            <a:srgbClr val="1A1A1C"/>
          </a:solidFill>
          <a:ln w="12700">
            <a:solidFill>
              <a:srgbClr val="3A3A40"/>
            </a:solidFill>
            <a:prstDash val="solid"/>
          </a:ln>
        </p:spPr>
        <p:txBody>
          <a:bodyPr/>
          <a:lstStyle/>
          <a:p>
            <a:endParaRPr lang="en-US"/>
          </a:p>
        </p:txBody>
      </p:sp>
      <p:sp>
        <p:nvSpPr>
          <p:cNvPr id="14" name="Text 10"/>
          <p:cNvSpPr txBox="1"/>
          <p:nvPr/>
        </p:nvSpPr>
        <p:spPr>
          <a:xfrm>
            <a:off x="6419088" y="1563624"/>
            <a:ext cx="5020056" cy="219456"/>
          </a:xfrm>
          <a:prstGeom prst="rect">
            <a:avLst/>
          </a:prstGeom>
          <a:noFill/>
          <a:ln/>
        </p:spPr>
        <p:txBody>
          <a:bodyPr wrap="square" lIns="0" tIns="0" rIns="0" bIns="0" rtlCol="0" anchor="ctr"/>
          <a:lstStyle/>
          <a:p>
            <a:pPr marL="0" indent="0">
              <a:buNone/>
            </a:pPr>
            <a:r>
              <a:rPr lang="en-US" sz="1000" b="1" dirty="0">
                <a:solidFill>
                  <a:srgbClr val="F9A11B"/>
                </a:solidFill>
                <a:latin typeface="Arial" pitchFamily="34" charset="0"/>
                <a:ea typeface="Arial" pitchFamily="34" charset="-122"/>
                <a:cs typeface="Arial" pitchFamily="34" charset="-120"/>
              </a:rPr>
              <a:t>WITH aiDAPTIV+  ·  Onyx_Benchmark_13K-Second_Running-1q.log</a:t>
            </a:r>
            <a:endParaRPr lang="en-US" sz="1000" dirty="0"/>
          </a:p>
        </p:txBody>
      </p:sp>
      <p:sp>
        <p:nvSpPr>
          <p:cNvPr id="15" name="Text 11"/>
          <p:cNvSpPr txBox="1"/>
          <p:nvPr/>
        </p:nvSpPr>
        <p:spPr>
          <a:xfrm>
            <a:off x="6419088" y="1874520"/>
            <a:ext cx="5020056" cy="3355848"/>
          </a:xfrm>
          <a:prstGeom prst="rect">
            <a:avLst/>
          </a:prstGeom>
          <a:noFill/>
          <a:ln/>
        </p:spPr>
        <p:txBody>
          <a:bodyPr wrap="square" lIns="0" tIns="0" rIns="0" bIns="0" rtlCol="0" anchor="t"/>
          <a:lstStyle/>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CLI: llama-server.exe --ctx-size 32000</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--kv-cache-resume-policy 1 -ngl 100 --no-mmap</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--offload-path D:/nvme0/inference</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--vram-experts-cached-gb 8</a:t>
            </a:r>
            <a:endParaRPr lang="en-US" sz="800" dirty="0"/>
          </a:p>
          <a:p>
            <a:pPr marL="0" indent="0">
              <a:lnSpc>
                <a:spcPct val="124000"/>
              </a:lnSpc>
              <a:buNone/>
            </a:pPr>
            <a:r>
              <a:rPr lang="en-US" sz="800" dirty="0">
                <a:solidFill>
                  <a:srgbClr val="F9A11B"/>
                </a:solidFill>
                <a:latin typeface="Consolas" pitchFamily="34" charset="0"/>
                <a:ea typeface="Consolas" pitchFamily="34" charset="-122"/>
                <a:cs typeface="Consolas" pitchFamily="34" charset="-120"/>
              </a:rPr>
              <a:t>[MDW][Info][Runtime] Trying to resume KV cache...</a:t>
            </a:r>
            <a:endParaRPr lang="en-US" sz="800" dirty="0"/>
          </a:p>
          <a:p>
            <a:pPr marL="0" indent="0">
              <a:lnSpc>
                <a:spcPct val="124000"/>
              </a:lnSpc>
              <a:buNone/>
            </a:pPr>
            <a:r>
              <a:rPr lang="en-US" sz="800" dirty="0">
                <a:solidFill>
                  <a:srgbClr val="F9A11B"/>
                </a:solidFill>
                <a:latin typeface="Consolas" pitchFamily="34" charset="0"/>
                <a:ea typeface="Consolas" pitchFamily="34" charset="-122"/>
                <a:cs typeface="Consolas" pitchFamily="34" charset="-120"/>
              </a:rPr>
              <a:t>[MDW][Info][Runtime] KV cache resume completed</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slot launch_slot_: id 3 | task 0 | processing task</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slot update_slots: Hit token cnt (GPU):      0</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slot update_slots: Hit token cnt (DRAM):     0</a:t>
            </a:r>
            <a:endParaRPr lang="en-US" sz="800" dirty="0"/>
          </a:p>
          <a:p>
            <a:pPr marL="0" indent="0">
              <a:lnSpc>
                <a:spcPct val="124000"/>
              </a:lnSpc>
              <a:buNone/>
            </a:pPr>
            <a:r>
              <a:rPr lang="en-US" sz="800" b="1" dirty="0">
                <a:solidFill>
                  <a:srgbClr val="F26522"/>
                </a:solidFill>
                <a:latin typeface="Consolas" pitchFamily="34" charset="0"/>
                <a:ea typeface="Consolas" pitchFamily="34" charset="-122"/>
                <a:cs typeface="Consolas" pitchFamily="34" charset="-120"/>
              </a:rPr>
              <a:t>slot update_slots: Hit token cnt (CACHE): 12776</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slot update_slots: saved checkpoint to Cache</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Storage (n_tokens = 12776)</a:t>
            </a:r>
            <a:endParaRPr lang="en-US" sz="800" dirty="0"/>
          </a:p>
          <a:p>
            <a:pPr marL="0" indent="0">
              <a:lnSpc>
                <a:spcPct val="124000"/>
              </a:lnSpc>
              <a:buNone/>
            </a:pPr>
            <a:r>
              <a:rPr lang="en-US" sz="800" dirty="0">
                <a:solidFill>
                  <a:srgbClr val="C9CAD0"/>
                </a:solidFill>
                <a:latin typeface="Consolas" pitchFamily="34" charset="0"/>
                <a:ea typeface="Consolas" pitchFamily="34" charset="-122"/>
                <a:cs typeface="Consolas" pitchFamily="34" charset="-120"/>
              </a:rPr>
              <a:t>Single-token MoE expert hit rate (GPU): 95.42%</a:t>
            </a:r>
            <a:endParaRPr lang="en-US" sz="800" dirty="0"/>
          </a:p>
          <a:p>
            <a:pPr marL="0" indent="0">
              <a:lnSpc>
                <a:spcPct val="124000"/>
              </a:lnSpc>
              <a:buNone/>
            </a:pPr>
            <a:r>
              <a:rPr lang="en-US" sz="800" b="1" dirty="0">
                <a:solidFill>
                  <a:srgbClr val="FFFFFF"/>
                </a:solidFill>
                <a:latin typeface="Consolas" pitchFamily="34" charset="0"/>
                <a:ea typeface="Consolas" pitchFamily="34" charset="-122"/>
                <a:cs typeface="Consolas" pitchFamily="34" charset="-120"/>
              </a:rPr>
              <a:t>prompt eval time =   1260.52 ms /     6 tokens</a:t>
            </a:r>
            <a:endParaRPr lang="en-US" sz="800" dirty="0"/>
          </a:p>
          <a:p>
            <a:pPr marL="0" indent="0">
              <a:lnSpc>
                <a:spcPct val="124000"/>
              </a:lnSpc>
              <a:buNone/>
            </a:pPr>
            <a:r>
              <a:rPr lang="en-US" sz="800" b="1" dirty="0">
                <a:solidFill>
                  <a:srgbClr val="FFFFFF"/>
                </a:solidFill>
                <a:latin typeface="Consolas" pitchFamily="34" charset="0"/>
                <a:ea typeface="Consolas" pitchFamily="34" charset="-122"/>
                <a:cs typeface="Consolas" pitchFamily="34" charset="-120"/>
              </a:rPr>
              <a:t>  (210.09 ms per token)</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eval time =  18249.94 ms /   156 tokens</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total time =  19510.47 ms /   162 tokens</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graphs reused =      154</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slot release: id 3 | task 0 | stop processing:</a:t>
            </a:r>
            <a:endParaRPr lang="en-US" sz="800" dirty="0"/>
          </a:p>
          <a:p>
            <a:pPr marL="0" indent="0">
              <a:lnSpc>
                <a:spcPct val="124000"/>
              </a:lnSpc>
              <a:buNone/>
            </a:pPr>
            <a:r>
              <a:rPr lang="en-US" sz="800" dirty="0">
                <a:solidFill>
                  <a:srgbClr val="9A9CA3"/>
                </a:solidFill>
                <a:latin typeface="Consolas" pitchFamily="34" charset="0"/>
                <a:ea typeface="Consolas" pitchFamily="34" charset="-122"/>
                <a:cs typeface="Consolas" pitchFamily="34" charset="-120"/>
              </a:rPr>
              <a:t>  n_tokens = 12937, truncated = 0</a:t>
            </a:r>
            <a:endParaRPr lang="en-US" sz="800" dirty="0"/>
          </a:p>
        </p:txBody>
      </p:sp>
      <p:sp>
        <p:nvSpPr>
          <p:cNvPr id="16" name="Shape 12"/>
          <p:cNvSpPr/>
          <p:nvPr/>
        </p:nvSpPr>
        <p:spPr>
          <a:xfrm>
            <a:off x="548640" y="5559552"/>
            <a:ext cx="11091672" cy="457200"/>
          </a:xfrm>
          <a:prstGeom prst="roundRect">
            <a:avLst>
              <a:gd name="adj" fmla="val 50000"/>
            </a:avLst>
          </a:prstGeom>
          <a:solidFill>
            <a:srgbClr val="FCE3D2"/>
          </a:solidFill>
          <a:ln w="12700">
            <a:solidFill>
              <a:srgbClr val="FCE3D2"/>
            </a:solidFill>
            <a:prstDash val="solid"/>
          </a:ln>
        </p:spPr>
        <p:txBody>
          <a:bodyPr/>
          <a:lstStyle/>
          <a:p>
            <a:endParaRPr lang="en-US"/>
          </a:p>
        </p:txBody>
      </p:sp>
      <p:sp>
        <p:nvSpPr>
          <p:cNvPr id="17" name="Text 13"/>
          <p:cNvSpPr txBox="1"/>
          <p:nvPr/>
        </p:nvSpPr>
        <p:spPr>
          <a:xfrm>
            <a:off x="822960" y="5559552"/>
            <a:ext cx="10543032" cy="45720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Same query, same 156 tokens generated: </a:t>
            </a:r>
            <a:r>
              <a:rPr lang="en-US" sz="1300" dirty="0">
                <a:solidFill>
                  <a:srgbClr val="5F6168"/>
                </a:solidFill>
                <a:latin typeface="Arial" pitchFamily="34" charset="0"/>
                <a:ea typeface="Arial" pitchFamily="34" charset="-122"/>
                <a:cs typeface="Arial" pitchFamily="34" charset="-120"/>
              </a:rPr>
              <a:t>12,778 tokens prefilled in 271.9 s, against 6 in 1.26 s once 12,776 came back from the SSD.</a:t>
            </a:r>
            <a:endParaRPr lang="en-US" sz="1300" dirty="0"/>
          </a:p>
        </p:txBody>
      </p:sp>
      <p:sp>
        <p:nvSpPr>
          <p:cNvPr id="18" name="Text 14"/>
          <p:cNvSpPr txBox="1"/>
          <p:nvPr/>
        </p:nvSpPr>
        <p:spPr>
          <a:xfrm>
            <a:off x="548640" y="6144768"/>
            <a:ext cx="11091672" cy="201168"/>
          </a:xfrm>
          <a:prstGeom prst="rect">
            <a:avLst/>
          </a:prstGeom>
          <a:noFill/>
          <a:ln/>
        </p:spPr>
        <p:txBody>
          <a:bodyPr wrap="square" lIns="0" tIns="0" rIns="0" bIns="0" rtlCol="0" anchor="ctr"/>
          <a:lstStyle/>
          <a:p>
            <a:pPr marL="0" indent="0">
              <a:buNone/>
            </a:pPr>
            <a:r>
              <a:rPr lang="en-US" sz="900" dirty="0">
                <a:solidFill>
                  <a:srgbClr val="9A9CA3"/>
                </a:solidFill>
                <a:latin typeface="Arial" pitchFamily="34" charset="0"/>
                <a:ea typeface="Arial" pitchFamily="34" charset="-122"/>
                <a:cs typeface="Arial" pitchFamily="34" charset="-120"/>
              </a:rPr>
              <a:t>Lines are verbatim from the two logs, trimmed to fit  ·  GPU and DRAM hit counts are 0, so the prefix came from aiDAPTIV+ storage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SECTION 2</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Packaging it up: manual and demo</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10</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563624"/>
            <a:ext cx="11091672" cy="2999232"/>
          </a:xfrm>
          <a:prstGeom prst="roundRect">
            <a:avLst>
              <a:gd name="adj" fmla="val 2439"/>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563624"/>
            <a:ext cx="11091672" cy="64008"/>
          </a:xfrm>
          <a:prstGeom prst="rect">
            <a:avLst/>
          </a:prstGeom>
          <a:solidFill>
            <a:srgbClr val="F9A11B"/>
          </a:solidFill>
          <a:ln w="12700">
            <a:solidFill>
              <a:srgbClr val="F9A11B"/>
            </a:solidFill>
            <a:prstDash val="solid"/>
          </a:ln>
        </p:spPr>
        <p:txBody>
          <a:bodyPr/>
          <a:lstStyle/>
          <a:p>
            <a:endParaRPr lang="en-US"/>
          </a:p>
        </p:txBody>
      </p:sp>
      <p:sp>
        <p:nvSpPr>
          <p:cNvPr id="12" name="Text 8"/>
          <p:cNvSpPr txBox="1"/>
          <p:nvPr/>
        </p:nvSpPr>
        <p:spPr>
          <a:xfrm>
            <a:off x="1005840" y="2459736"/>
            <a:ext cx="3803904" cy="704088"/>
          </a:xfrm>
          <a:prstGeom prst="rect">
            <a:avLst/>
          </a:prstGeom>
          <a:noFill/>
          <a:ln/>
        </p:spPr>
        <p:txBody>
          <a:bodyPr wrap="square" lIns="0" tIns="0" rIns="0" bIns="0" rtlCol="0" anchor="ctr"/>
          <a:lstStyle/>
          <a:p>
            <a:pPr marL="0" indent="0">
              <a:buNone/>
            </a:pPr>
            <a:r>
              <a:rPr lang="en-US" sz="3400" b="1" dirty="0">
                <a:solidFill>
                  <a:srgbClr val="F26522"/>
                </a:solidFill>
                <a:latin typeface="Arial" pitchFamily="34" charset="0"/>
                <a:ea typeface="Arial" pitchFamily="34" charset="-122"/>
                <a:cs typeface="Arial" pitchFamily="34" charset="-120"/>
              </a:rPr>
              <a:t>DELIVERABLES</a:t>
            </a:r>
            <a:endParaRPr lang="en-US" sz="3400" dirty="0"/>
          </a:p>
        </p:txBody>
      </p:sp>
      <p:sp>
        <p:nvSpPr>
          <p:cNvPr id="13" name="Text 9"/>
          <p:cNvSpPr txBox="1"/>
          <p:nvPr/>
        </p:nvSpPr>
        <p:spPr>
          <a:xfrm>
            <a:off x="1005840" y="3191256"/>
            <a:ext cx="3803904" cy="45720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User manual and demo videos</a:t>
            </a:r>
            <a:endParaRPr lang="en-US" sz="1400" dirty="0"/>
          </a:p>
        </p:txBody>
      </p:sp>
      <p:sp>
        <p:nvSpPr>
          <p:cNvPr id="14" name="Shape 10"/>
          <p:cNvSpPr/>
          <p:nvPr/>
        </p:nvSpPr>
        <p:spPr>
          <a:xfrm>
            <a:off x="4901184" y="1956816"/>
            <a:ext cx="9144" cy="2203704"/>
          </a:xfrm>
          <a:prstGeom prst="rect">
            <a:avLst/>
          </a:prstGeom>
          <a:solidFill>
            <a:srgbClr val="E4E1DA"/>
          </a:solidFill>
          <a:ln w="12700">
            <a:solidFill>
              <a:srgbClr val="E4E1DA"/>
            </a:solidFill>
            <a:prstDash val="solid"/>
          </a:ln>
        </p:spPr>
        <p:txBody>
          <a:bodyPr/>
          <a:lstStyle/>
          <a:p>
            <a:endParaRPr lang="en-US"/>
          </a:p>
        </p:txBody>
      </p:sp>
      <p:sp>
        <p:nvSpPr>
          <p:cNvPr id="15" name="Text 11"/>
          <p:cNvSpPr txBox="1"/>
          <p:nvPr/>
        </p:nvSpPr>
        <p:spPr>
          <a:xfrm>
            <a:off x="5303520" y="2075688"/>
            <a:ext cx="5897880" cy="2194560"/>
          </a:xfrm>
          <a:prstGeom prst="rect">
            <a:avLst/>
          </a:prstGeom>
          <a:noFill/>
          <a:ln/>
        </p:spPr>
        <p:txBody>
          <a:bodyPr wrap="square" lIns="0" tIns="0" rIns="0" bIns="0" rtlCol="0" anchor="ctr"/>
          <a:lstStyle/>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A user manual so the setup can be reproduced without walking through it in person</a:t>
            </a:r>
            <a:endParaRPr lang="en-US" sz="1200" dirty="0"/>
          </a:p>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Screen recordings of every benchmark run, on both stacks, at all three lengths</a:t>
            </a:r>
            <a:endParaRPr lang="en-US" sz="1200" dirty="0"/>
          </a:p>
          <a:p>
            <a:pPr marL="0" indent="0">
              <a:lnSpc>
                <a:spcPct val="130000"/>
              </a:lnSpc>
              <a:spcAft>
                <a:spcPts val="600"/>
              </a:spcAft>
              <a:buNone/>
            </a:pPr>
            <a:r>
              <a:rPr lang="en-US" sz="1200" dirty="0">
                <a:solidFill>
                  <a:srgbClr val="5F6168"/>
                </a:solidFill>
                <a:latin typeface="Arial" pitchFamily="34" charset="0"/>
                <a:ea typeface="Arial" pitchFamily="34" charset="-122"/>
                <a:cs typeface="Arial" pitchFamily="34" charset="-120"/>
              </a:rPr>
              <a:t>•  Logs and prompt files kept alongside, so any number in this deck can be re-checked</a:t>
            </a:r>
            <a:endParaRPr lang="en-US" sz="1200" dirty="0"/>
          </a:p>
        </p:txBody>
      </p:sp>
      <p:sp>
        <p:nvSpPr>
          <p:cNvPr id="16" name="Shape 12"/>
          <p:cNvSpPr/>
          <p:nvPr/>
        </p:nvSpPr>
        <p:spPr>
          <a:xfrm>
            <a:off x="548640" y="4828032"/>
            <a:ext cx="11091672" cy="548640"/>
          </a:xfrm>
          <a:prstGeom prst="roundRect">
            <a:avLst>
              <a:gd name="adj" fmla="val 41667"/>
            </a:avLst>
          </a:prstGeom>
          <a:solidFill>
            <a:srgbClr val="FCE3D2"/>
          </a:solidFill>
          <a:ln w="12700">
            <a:solidFill>
              <a:srgbClr val="FCE3D2"/>
            </a:solidFill>
            <a:prstDash val="solid"/>
          </a:ln>
        </p:spPr>
        <p:txBody>
          <a:bodyPr/>
          <a:lstStyle/>
          <a:p>
            <a:endParaRPr lang="en-US"/>
          </a:p>
        </p:txBody>
      </p:sp>
      <p:sp>
        <p:nvSpPr>
          <p:cNvPr id="17" name="Text 13"/>
          <p:cNvSpPr txBox="1"/>
          <p:nvPr/>
        </p:nvSpPr>
        <p:spPr>
          <a:xfrm>
            <a:off x="822960" y="4828032"/>
            <a:ext cx="10543032" cy="54864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Outcome: </a:t>
            </a:r>
            <a:r>
              <a:rPr lang="en-US" sz="1300" dirty="0">
                <a:solidFill>
                  <a:srgbClr val="5F6168"/>
                </a:solidFill>
                <a:latin typeface="Arial" pitchFamily="34" charset="0"/>
                <a:ea typeface="Arial" pitchFamily="34" charset="-122"/>
                <a:cs typeface="Arial" pitchFamily="34" charset="-120"/>
              </a:rPr>
              <a:t>the benchmark is reproducible by someone who was not in the room - written steps, raw logs and a recording of each run.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21–23 SEP · DELIVERABLES</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User manual and demo videos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392174"/>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11</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481328"/>
            <a:ext cx="5486400" cy="3931920"/>
          </a:xfrm>
          <a:prstGeom prst="roundRect">
            <a:avLst>
              <a:gd name="adj" fmla="val 1860"/>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481328"/>
            <a:ext cx="5486400" cy="64008"/>
          </a:xfrm>
          <a:prstGeom prst="rect">
            <a:avLst/>
          </a:prstGeom>
          <a:solidFill>
            <a:srgbClr val="F26522"/>
          </a:solidFill>
          <a:ln w="12700">
            <a:solidFill>
              <a:srgbClr val="F26522"/>
            </a:solidFill>
            <a:prstDash val="solid"/>
          </a:ln>
        </p:spPr>
        <p:txBody>
          <a:bodyPr/>
          <a:lstStyle/>
          <a:p>
            <a:endParaRPr lang="en-US"/>
          </a:p>
        </p:txBody>
      </p:sp>
      <p:sp>
        <p:nvSpPr>
          <p:cNvPr id="12" name="Text 8"/>
          <p:cNvSpPr txBox="1"/>
          <p:nvPr/>
        </p:nvSpPr>
        <p:spPr>
          <a:xfrm>
            <a:off x="868680" y="1719072"/>
            <a:ext cx="4846320" cy="274320"/>
          </a:xfrm>
          <a:prstGeom prst="rect">
            <a:avLst/>
          </a:prstGeom>
          <a:noFill/>
          <a:ln/>
        </p:spPr>
        <p:txBody>
          <a:bodyPr wrap="square" lIns="0" tIns="0" rIns="0" bIns="0" rtlCol="0" anchor="ctr"/>
          <a:lstStyle/>
          <a:p>
            <a:pPr marL="0" indent="0">
              <a:buNone/>
            </a:pPr>
            <a:r>
              <a:rPr lang="en-US" sz="1100" b="1" dirty="0">
                <a:solidFill>
                  <a:srgbClr val="F26522"/>
                </a:solidFill>
                <a:latin typeface="Arial" pitchFamily="34" charset="0"/>
                <a:ea typeface="Arial" pitchFamily="34" charset="-122"/>
                <a:cs typeface="Arial" pitchFamily="34" charset="-120"/>
              </a:rPr>
              <a:t>USER MANUAL</a:t>
            </a:r>
            <a:endParaRPr lang="en-US" sz="1100" dirty="0"/>
          </a:p>
        </p:txBody>
      </p:sp>
      <p:sp>
        <p:nvSpPr>
          <p:cNvPr id="13" name="Text 9"/>
          <p:cNvSpPr txBox="1"/>
          <p:nvPr/>
        </p:nvSpPr>
        <p:spPr>
          <a:xfrm>
            <a:off x="868680" y="1975104"/>
            <a:ext cx="4846320" cy="36576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Setting up and running the aiDAPTIV+ stack</a:t>
            </a:r>
            <a:endParaRPr lang="en-US" sz="1400" dirty="0"/>
          </a:p>
        </p:txBody>
      </p:sp>
      <p:sp>
        <p:nvSpPr>
          <p:cNvPr id="14" name="Shape 10"/>
          <p:cNvSpPr/>
          <p:nvPr/>
        </p:nvSpPr>
        <p:spPr>
          <a:xfrm>
            <a:off x="868680" y="2395728"/>
            <a:ext cx="292608" cy="292608"/>
          </a:xfrm>
          <a:prstGeom prst="ellipse">
            <a:avLst/>
          </a:prstGeom>
          <a:solidFill>
            <a:srgbClr val="FCE3D2"/>
          </a:solidFill>
          <a:ln w="12700">
            <a:solidFill>
              <a:srgbClr val="FCE3D2"/>
            </a:solidFill>
            <a:prstDash val="solid"/>
          </a:ln>
        </p:spPr>
        <p:txBody>
          <a:bodyPr/>
          <a:lstStyle/>
          <a:p>
            <a:endParaRPr lang="en-US"/>
          </a:p>
        </p:txBody>
      </p:sp>
      <p:sp>
        <p:nvSpPr>
          <p:cNvPr id="15" name="Text 11"/>
          <p:cNvSpPr txBox="1"/>
          <p:nvPr/>
        </p:nvSpPr>
        <p:spPr>
          <a:xfrm>
            <a:off x="868680" y="2395728"/>
            <a:ext cx="292608" cy="292608"/>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1</a:t>
            </a:r>
            <a:endParaRPr lang="en-US" sz="1100" dirty="0"/>
          </a:p>
        </p:txBody>
      </p:sp>
      <p:sp>
        <p:nvSpPr>
          <p:cNvPr id="16" name="Text 12"/>
          <p:cNvSpPr txBox="1"/>
          <p:nvPr/>
        </p:nvSpPr>
        <p:spPr>
          <a:xfrm>
            <a:off x="1298448" y="2359152"/>
            <a:ext cx="4416552" cy="365760"/>
          </a:xfrm>
          <a:prstGeom prst="rect">
            <a:avLst/>
          </a:prstGeom>
          <a:noFill/>
          <a:ln/>
        </p:spPr>
        <p:txBody>
          <a:bodyPr wrap="square" lIns="0" tIns="0" rIns="0" bIns="0" rtlCol="0" anchor="ctr"/>
          <a:lstStyle/>
          <a:p>
            <a:pPr marL="0" indent="0">
              <a:buNone/>
            </a:pPr>
            <a:r>
              <a:rPr lang="en-US" sz="1100" b="1" dirty="0">
                <a:solidFill>
                  <a:srgbClr val="1A1A1C"/>
                </a:solidFill>
                <a:latin typeface="Arial" pitchFamily="34" charset="0"/>
                <a:ea typeface="Arial" pitchFamily="34" charset="-122"/>
                <a:cs typeface="Arial" pitchFamily="34" charset="-120"/>
              </a:rPr>
              <a:t>Install - </a:t>
            </a:r>
            <a:r>
              <a:rPr lang="en-US" sz="1100" dirty="0">
                <a:solidFill>
                  <a:srgbClr val="5F6168"/>
                </a:solidFill>
                <a:latin typeface="Arial" pitchFamily="34" charset="0"/>
                <a:ea typeface="Arial" pitchFamily="34" charset="-122"/>
                <a:cs typeface="Arial" pitchFamily="34" charset="-120"/>
              </a:rPr>
              <a:t>Middleware install and the checks that confirm it</a:t>
            </a:r>
            <a:endParaRPr lang="en-US" sz="1100" dirty="0"/>
          </a:p>
        </p:txBody>
      </p:sp>
      <p:sp>
        <p:nvSpPr>
          <p:cNvPr id="17" name="Shape 13"/>
          <p:cNvSpPr/>
          <p:nvPr/>
        </p:nvSpPr>
        <p:spPr>
          <a:xfrm>
            <a:off x="868680" y="2898648"/>
            <a:ext cx="292608" cy="292608"/>
          </a:xfrm>
          <a:prstGeom prst="ellipse">
            <a:avLst/>
          </a:prstGeom>
          <a:solidFill>
            <a:srgbClr val="FCE3D2"/>
          </a:solidFill>
          <a:ln w="12700">
            <a:solidFill>
              <a:srgbClr val="FCE3D2"/>
            </a:solidFill>
            <a:prstDash val="solid"/>
          </a:ln>
        </p:spPr>
        <p:txBody>
          <a:bodyPr/>
          <a:lstStyle/>
          <a:p>
            <a:endParaRPr lang="en-US"/>
          </a:p>
        </p:txBody>
      </p:sp>
      <p:sp>
        <p:nvSpPr>
          <p:cNvPr id="18" name="Text 14"/>
          <p:cNvSpPr txBox="1"/>
          <p:nvPr/>
        </p:nvSpPr>
        <p:spPr>
          <a:xfrm>
            <a:off x="868680" y="2898648"/>
            <a:ext cx="292608" cy="292608"/>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2</a:t>
            </a:r>
            <a:endParaRPr lang="en-US" sz="1100" dirty="0"/>
          </a:p>
        </p:txBody>
      </p:sp>
      <p:sp>
        <p:nvSpPr>
          <p:cNvPr id="19" name="Text 15"/>
          <p:cNvSpPr txBox="1"/>
          <p:nvPr/>
        </p:nvSpPr>
        <p:spPr>
          <a:xfrm>
            <a:off x="1298448" y="2862072"/>
            <a:ext cx="4416552" cy="365760"/>
          </a:xfrm>
          <a:prstGeom prst="rect">
            <a:avLst/>
          </a:prstGeom>
          <a:noFill/>
          <a:ln/>
        </p:spPr>
        <p:txBody>
          <a:bodyPr wrap="square" lIns="0" tIns="0" rIns="0" bIns="0" rtlCol="0" anchor="ctr"/>
          <a:lstStyle/>
          <a:p>
            <a:pPr marL="0" indent="0">
              <a:buNone/>
            </a:pPr>
            <a:r>
              <a:rPr lang="en-US" sz="1100" b="1" dirty="0">
                <a:solidFill>
                  <a:srgbClr val="1A1A1C"/>
                </a:solidFill>
                <a:latin typeface="Arial" pitchFamily="34" charset="0"/>
                <a:ea typeface="Arial" pitchFamily="34" charset="-122"/>
                <a:cs typeface="Arial" pitchFamily="34" charset="-120"/>
              </a:rPr>
              <a:t>Configure - </a:t>
            </a:r>
            <a:r>
              <a:rPr lang="en-US" sz="1100" dirty="0">
                <a:solidFill>
                  <a:srgbClr val="5F6168"/>
                </a:solidFill>
                <a:latin typeface="Arial" pitchFamily="34" charset="0"/>
                <a:ea typeface="Arial" pitchFamily="34" charset="-122"/>
                <a:cs typeface="Arial" pitchFamily="34" charset="-120"/>
              </a:rPr>
              <a:t>llama-server flags, offload path and cache folder</a:t>
            </a:r>
            <a:endParaRPr lang="en-US" sz="1100" dirty="0"/>
          </a:p>
        </p:txBody>
      </p:sp>
      <p:sp>
        <p:nvSpPr>
          <p:cNvPr id="20" name="Shape 16"/>
          <p:cNvSpPr/>
          <p:nvPr/>
        </p:nvSpPr>
        <p:spPr>
          <a:xfrm>
            <a:off x="868680" y="3401568"/>
            <a:ext cx="292608" cy="292608"/>
          </a:xfrm>
          <a:prstGeom prst="ellipse">
            <a:avLst/>
          </a:prstGeom>
          <a:solidFill>
            <a:srgbClr val="FCE3D2"/>
          </a:solidFill>
          <a:ln w="12700">
            <a:solidFill>
              <a:srgbClr val="FCE3D2"/>
            </a:solidFill>
            <a:prstDash val="solid"/>
          </a:ln>
        </p:spPr>
        <p:txBody>
          <a:bodyPr/>
          <a:lstStyle/>
          <a:p>
            <a:endParaRPr lang="en-US"/>
          </a:p>
        </p:txBody>
      </p:sp>
      <p:sp>
        <p:nvSpPr>
          <p:cNvPr id="21" name="Text 17"/>
          <p:cNvSpPr txBox="1"/>
          <p:nvPr/>
        </p:nvSpPr>
        <p:spPr>
          <a:xfrm>
            <a:off x="868680" y="3401568"/>
            <a:ext cx="292608" cy="292608"/>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3</a:t>
            </a:r>
            <a:endParaRPr lang="en-US" sz="1100" dirty="0"/>
          </a:p>
        </p:txBody>
      </p:sp>
      <p:sp>
        <p:nvSpPr>
          <p:cNvPr id="22" name="Text 18"/>
          <p:cNvSpPr txBox="1"/>
          <p:nvPr/>
        </p:nvSpPr>
        <p:spPr>
          <a:xfrm>
            <a:off x="1298448" y="3364992"/>
            <a:ext cx="4416552" cy="365760"/>
          </a:xfrm>
          <a:prstGeom prst="rect">
            <a:avLst/>
          </a:prstGeom>
          <a:noFill/>
          <a:ln/>
        </p:spPr>
        <p:txBody>
          <a:bodyPr wrap="square" lIns="0" tIns="0" rIns="0" bIns="0" rtlCol="0" anchor="ctr"/>
          <a:lstStyle/>
          <a:p>
            <a:pPr marL="0" indent="0">
              <a:buNone/>
            </a:pPr>
            <a:r>
              <a:rPr lang="en-US" sz="1100" b="1" dirty="0">
                <a:solidFill>
                  <a:srgbClr val="1A1A1C"/>
                </a:solidFill>
                <a:latin typeface="Arial" pitchFamily="34" charset="0"/>
                <a:ea typeface="Arial" pitchFamily="34" charset="-122"/>
                <a:cs typeface="Arial" pitchFamily="34" charset="-120"/>
              </a:rPr>
              <a:t>Connect - </a:t>
            </a:r>
            <a:r>
              <a:rPr lang="en-US" sz="1100" dirty="0">
                <a:solidFill>
                  <a:srgbClr val="5F6168"/>
                </a:solidFill>
                <a:latin typeface="Arial" pitchFamily="34" charset="0"/>
                <a:ea typeface="Arial" pitchFamily="34" charset="-122"/>
                <a:cs typeface="Arial" pitchFamily="34" charset="-120"/>
              </a:rPr>
              <a:t>Pointing Onyx at the aiDAPTIV+ endpoint</a:t>
            </a:r>
            <a:endParaRPr lang="en-US" sz="1100" dirty="0"/>
          </a:p>
        </p:txBody>
      </p:sp>
      <p:sp>
        <p:nvSpPr>
          <p:cNvPr id="23" name="Shape 19"/>
          <p:cNvSpPr/>
          <p:nvPr/>
        </p:nvSpPr>
        <p:spPr>
          <a:xfrm>
            <a:off x="868680" y="3904488"/>
            <a:ext cx="292608" cy="292608"/>
          </a:xfrm>
          <a:prstGeom prst="ellipse">
            <a:avLst/>
          </a:prstGeom>
          <a:solidFill>
            <a:srgbClr val="FCE3D2"/>
          </a:solidFill>
          <a:ln w="12700">
            <a:solidFill>
              <a:srgbClr val="FCE3D2"/>
            </a:solidFill>
            <a:prstDash val="solid"/>
          </a:ln>
        </p:spPr>
        <p:txBody>
          <a:bodyPr/>
          <a:lstStyle/>
          <a:p>
            <a:endParaRPr lang="en-US"/>
          </a:p>
        </p:txBody>
      </p:sp>
      <p:sp>
        <p:nvSpPr>
          <p:cNvPr id="24" name="Text 20"/>
          <p:cNvSpPr txBox="1"/>
          <p:nvPr/>
        </p:nvSpPr>
        <p:spPr>
          <a:xfrm>
            <a:off x="868680" y="3904488"/>
            <a:ext cx="292608" cy="292608"/>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4</a:t>
            </a:r>
            <a:endParaRPr lang="en-US" sz="1100" dirty="0"/>
          </a:p>
        </p:txBody>
      </p:sp>
      <p:sp>
        <p:nvSpPr>
          <p:cNvPr id="25" name="Text 21"/>
          <p:cNvSpPr txBox="1"/>
          <p:nvPr/>
        </p:nvSpPr>
        <p:spPr>
          <a:xfrm>
            <a:off x="1298448" y="3867912"/>
            <a:ext cx="4416552" cy="365760"/>
          </a:xfrm>
          <a:prstGeom prst="rect">
            <a:avLst/>
          </a:prstGeom>
          <a:noFill/>
          <a:ln/>
        </p:spPr>
        <p:txBody>
          <a:bodyPr wrap="square" lIns="0" tIns="0" rIns="0" bIns="0" rtlCol="0" anchor="ctr"/>
          <a:lstStyle/>
          <a:p>
            <a:pPr marL="0" indent="0">
              <a:buNone/>
            </a:pPr>
            <a:r>
              <a:rPr lang="en-US" sz="1100" b="1" dirty="0">
                <a:solidFill>
                  <a:srgbClr val="1A1A1C"/>
                </a:solidFill>
                <a:latin typeface="Arial" pitchFamily="34" charset="0"/>
                <a:ea typeface="Arial" pitchFamily="34" charset="-122"/>
                <a:cs typeface="Arial" pitchFamily="34" charset="-120"/>
              </a:rPr>
              <a:t>Verify - </a:t>
            </a:r>
            <a:r>
              <a:rPr lang="en-US" sz="1100" dirty="0">
                <a:solidFill>
                  <a:srgbClr val="5F6168"/>
                </a:solidFill>
                <a:latin typeface="Arial" pitchFamily="34" charset="0"/>
                <a:ea typeface="Arial" pitchFamily="34" charset="-122"/>
                <a:cs typeface="Arial" pitchFamily="34" charset="-120"/>
              </a:rPr>
              <a:t>Reading the log to confirm cache reuse</a:t>
            </a:r>
            <a:endParaRPr lang="en-US" sz="1100" dirty="0"/>
          </a:p>
        </p:txBody>
      </p:sp>
      <p:sp>
        <p:nvSpPr>
          <p:cNvPr id="26" name="Shape 22"/>
          <p:cNvSpPr/>
          <p:nvPr/>
        </p:nvSpPr>
        <p:spPr>
          <a:xfrm>
            <a:off x="868680" y="4407408"/>
            <a:ext cx="292608" cy="292608"/>
          </a:xfrm>
          <a:prstGeom prst="ellipse">
            <a:avLst/>
          </a:prstGeom>
          <a:solidFill>
            <a:srgbClr val="FCE3D2"/>
          </a:solidFill>
          <a:ln w="12700">
            <a:solidFill>
              <a:srgbClr val="FCE3D2"/>
            </a:solidFill>
            <a:prstDash val="solid"/>
          </a:ln>
        </p:spPr>
        <p:txBody>
          <a:bodyPr/>
          <a:lstStyle/>
          <a:p>
            <a:endParaRPr lang="en-US"/>
          </a:p>
        </p:txBody>
      </p:sp>
      <p:sp>
        <p:nvSpPr>
          <p:cNvPr id="27" name="Text 23"/>
          <p:cNvSpPr txBox="1"/>
          <p:nvPr/>
        </p:nvSpPr>
        <p:spPr>
          <a:xfrm>
            <a:off x="868680" y="4407408"/>
            <a:ext cx="292608" cy="292608"/>
          </a:xfrm>
          <a:prstGeom prst="rect">
            <a:avLst/>
          </a:prstGeom>
          <a:noFill/>
          <a:ln/>
        </p:spPr>
        <p:txBody>
          <a:bodyPr wrap="square" lIns="0" tIns="0" rIns="0" bIns="0" rtlCol="0" anchor="ctr"/>
          <a:lstStyle/>
          <a:p>
            <a:pPr marL="0" indent="0" algn="ctr">
              <a:buNone/>
            </a:pPr>
            <a:r>
              <a:rPr lang="en-US" sz="1100" b="1" dirty="0">
                <a:solidFill>
                  <a:srgbClr val="D9501A"/>
                </a:solidFill>
                <a:latin typeface="Arial" pitchFamily="34" charset="0"/>
                <a:ea typeface="Arial" pitchFamily="34" charset="-122"/>
                <a:cs typeface="Arial" pitchFamily="34" charset="-120"/>
              </a:rPr>
              <a:t>5</a:t>
            </a:r>
            <a:endParaRPr lang="en-US" sz="1100" dirty="0"/>
          </a:p>
        </p:txBody>
      </p:sp>
      <p:sp>
        <p:nvSpPr>
          <p:cNvPr id="28" name="Text 24"/>
          <p:cNvSpPr txBox="1"/>
          <p:nvPr/>
        </p:nvSpPr>
        <p:spPr>
          <a:xfrm>
            <a:off x="1298448" y="4370832"/>
            <a:ext cx="4416552" cy="365760"/>
          </a:xfrm>
          <a:prstGeom prst="rect">
            <a:avLst/>
          </a:prstGeom>
          <a:noFill/>
          <a:ln/>
        </p:spPr>
        <p:txBody>
          <a:bodyPr wrap="square" lIns="0" tIns="0" rIns="0" bIns="0" rtlCol="0" anchor="ctr"/>
          <a:lstStyle/>
          <a:p>
            <a:pPr marL="0" indent="0">
              <a:buNone/>
            </a:pPr>
            <a:r>
              <a:rPr lang="en-US" sz="1100" b="1" dirty="0">
                <a:solidFill>
                  <a:srgbClr val="1A1A1C"/>
                </a:solidFill>
                <a:latin typeface="Arial" pitchFamily="34" charset="0"/>
                <a:ea typeface="Arial" pitchFamily="34" charset="-122"/>
                <a:cs typeface="Arial" pitchFamily="34" charset="-120"/>
              </a:rPr>
              <a:t>Troubleshoot - </a:t>
            </a:r>
            <a:r>
              <a:rPr lang="en-US" sz="1100" dirty="0">
                <a:solidFill>
                  <a:srgbClr val="5F6168"/>
                </a:solidFill>
                <a:latin typeface="Arial" pitchFamily="34" charset="0"/>
                <a:ea typeface="Arial" pitchFamily="34" charset="-122"/>
                <a:cs typeface="Arial" pitchFamily="34" charset="-120"/>
              </a:rPr>
              <a:t>What a missed cache looks like and why</a:t>
            </a:r>
            <a:endParaRPr lang="en-US" sz="1100" dirty="0"/>
          </a:p>
        </p:txBody>
      </p:sp>
      <p:sp>
        <p:nvSpPr>
          <p:cNvPr id="29" name="Shape 25"/>
          <p:cNvSpPr/>
          <p:nvPr/>
        </p:nvSpPr>
        <p:spPr>
          <a:xfrm>
            <a:off x="868680" y="4983480"/>
            <a:ext cx="146304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30" name="Text 26"/>
          <p:cNvSpPr txBox="1"/>
          <p:nvPr/>
        </p:nvSpPr>
        <p:spPr>
          <a:xfrm>
            <a:off x="868680" y="4983480"/>
            <a:ext cx="146304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WRITTEN</a:t>
            </a:r>
            <a:endParaRPr lang="en-US" sz="900" dirty="0"/>
          </a:p>
        </p:txBody>
      </p:sp>
      <p:sp>
        <p:nvSpPr>
          <p:cNvPr id="31" name="Shape 27"/>
          <p:cNvSpPr/>
          <p:nvPr/>
        </p:nvSpPr>
        <p:spPr>
          <a:xfrm>
            <a:off x="6336792" y="1481328"/>
            <a:ext cx="5303520" cy="3931920"/>
          </a:xfrm>
          <a:prstGeom prst="roundRect">
            <a:avLst>
              <a:gd name="adj" fmla="val 1860"/>
            </a:avLst>
          </a:prstGeom>
          <a:solidFill>
            <a:srgbClr val="FAF9F6"/>
          </a:solidFill>
          <a:ln w="12700">
            <a:solidFill>
              <a:srgbClr val="E4E1DA"/>
            </a:solidFill>
            <a:prstDash val="solid"/>
          </a:ln>
        </p:spPr>
        <p:txBody>
          <a:bodyPr/>
          <a:lstStyle/>
          <a:p>
            <a:endParaRPr lang="en-US"/>
          </a:p>
        </p:txBody>
      </p:sp>
      <p:sp>
        <p:nvSpPr>
          <p:cNvPr id="32" name="Shape 28"/>
          <p:cNvSpPr/>
          <p:nvPr/>
        </p:nvSpPr>
        <p:spPr>
          <a:xfrm>
            <a:off x="6336792" y="1481328"/>
            <a:ext cx="5303520" cy="64008"/>
          </a:xfrm>
          <a:prstGeom prst="rect">
            <a:avLst/>
          </a:prstGeom>
          <a:solidFill>
            <a:srgbClr val="F9A11B"/>
          </a:solidFill>
          <a:ln w="12700">
            <a:solidFill>
              <a:srgbClr val="F9A11B"/>
            </a:solidFill>
            <a:prstDash val="solid"/>
          </a:ln>
        </p:spPr>
        <p:txBody>
          <a:bodyPr/>
          <a:lstStyle/>
          <a:p>
            <a:endParaRPr lang="en-US"/>
          </a:p>
        </p:txBody>
      </p:sp>
      <p:sp>
        <p:nvSpPr>
          <p:cNvPr id="33" name="Text 29"/>
          <p:cNvSpPr txBox="1"/>
          <p:nvPr/>
        </p:nvSpPr>
        <p:spPr>
          <a:xfrm>
            <a:off x="6656832" y="1719072"/>
            <a:ext cx="4663440" cy="274320"/>
          </a:xfrm>
          <a:prstGeom prst="rect">
            <a:avLst/>
          </a:prstGeom>
          <a:noFill/>
          <a:ln/>
        </p:spPr>
        <p:txBody>
          <a:bodyPr wrap="square" lIns="0" tIns="0" rIns="0" bIns="0" rtlCol="0" anchor="ctr"/>
          <a:lstStyle/>
          <a:p>
            <a:pPr marL="0" indent="0">
              <a:buNone/>
            </a:pPr>
            <a:r>
              <a:rPr lang="en-US" sz="1100" b="1" dirty="0">
                <a:solidFill>
                  <a:srgbClr val="F26522"/>
                </a:solidFill>
                <a:latin typeface="Arial" pitchFamily="34" charset="0"/>
                <a:ea typeface="Arial" pitchFamily="34" charset="-122"/>
                <a:cs typeface="Arial" pitchFamily="34" charset="-120"/>
              </a:rPr>
              <a:t>DEMO VIDEO</a:t>
            </a:r>
            <a:endParaRPr lang="en-US" sz="1100" dirty="0"/>
          </a:p>
        </p:txBody>
      </p:sp>
      <p:sp>
        <p:nvSpPr>
          <p:cNvPr id="34" name="Text 30"/>
          <p:cNvSpPr txBox="1"/>
          <p:nvPr/>
        </p:nvSpPr>
        <p:spPr>
          <a:xfrm>
            <a:off x="6656832" y="1975104"/>
            <a:ext cx="4663440" cy="365760"/>
          </a:xfrm>
          <a:prstGeom prst="rect">
            <a:avLst/>
          </a:prstGeom>
          <a:noFill/>
          <a:ln/>
        </p:spPr>
        <p:txBody>
          <a:bodyPr wrap="square" lIns="0" tIns="0" rIns="0" bIns="0" rtlCol="0" anchor="ctr"/>
          <a:lstStyle/>
          <a:p>
            <a:pPr marL="0" indent="0">
              <a:buNone/>
            </a:pPr>
            <a:r>
              <a:rPr lang="en-US" sz="1400" b="1" dirty="0">
                <a:solidFill>
                  <a:srgbClr val="1A1A1C"/>
                </a:solidFill>
                <a:latin typeface="Arial" pitchFamily="34" charset="0"/>
                <a:ea typeface="Arial" pitchFamily="34" charset="-122"/>
                <a:cs typeface="Arial" pitchFamily="34" charset="-120"/>
              </a:rPr>
              <a:t>The comparison, with and without aiDAPTIV+</a:t>
            </a:r>
            <a:endParaRPr lang="en-US" sz="1400" dirty="0"/>
          </a:p>
        </p:txBody>
      </p:sp>
      <p:sp>
        <p:nvSpPr>
          <p:cNvPr id="35" name="Text 31"/>
          <p:cNvSpPr txBox="1"/>
          <p:nvPr/>
        </p:nvSpPr>
        <p:spPr>
          <a:xfrm>
            <a:off x="6656832" y="2432304"/>
            <a:ext cx="4663440" cy="1783080"/>
          </a:xfrm>
          <a:prstGeom prst="rect">
            <a:avLst/>
          </a:prstGeom>
          <a:noFill/>
          <a:ln/>
        </p:spPr>
        <p:txBody>
          <a:bodyPr wrap="square" lIns="0" tIns="0" rIns="0" bIns="0" rtlCol="0" anchor="ctr"/>
          <a:lstStyle/>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The same question asked twice - </a:t>
            </a:r>
            <a:r>
              <a:rPr lang="en-US" sz="1050" b="1" dirty="0">
                <a:solidFill>
                  <a:srgbClr val="1A1A1C"/>
                </a:solidFill>
                <a:latin typeface="Arial" pitchFamily="34" charset="0"/>
                <a:ea typeface="Arial" pitchFamily="34" charset="-122"/>
                <a:cs typeface="Arial" pitchFamily="34" charset="-120"/>
              </a:rPr>
              <a:t>once on each stack</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Run at all three lengths - </a:t>
            </a:r>
            <a:r>
              <a:rPr lang="en-US" sz="1050" b="1" dirty="0">
                <a:solidFill>
                  <a:srgbClr val="1A1A1C"/>
                </a:solidFill>
                <a:latin typeface="Arial" pitchFamily="34" charset="0"/>
                <a:ea typeface="Arial" pitchFamily="34" charset="-122"/>
                <a:cs typeface="Arial" pitchFamily="34" charset="-120"/>
              </a:rPr>
              <a:t>8K, 10K and 13K</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Shows the wait </a:t>
            </a:r>
            <a:r>
              <a:rPr lang="en-US" sz="1050" b="1" dirty="0">
                <a:solidFill>
                  <a:srgbClr val="1A1A1C"/>
                </a:solidFill>
                <a:latin typeface="Arial" pitchFamily="34" charset="0"/>
                <a:ea typeface="Arial" pitchFamily="34" charset="-122"/>
                <a:cs typeface="Arial" pitchFamily="34" charset="-120"/>
              </a:rPr>
              <a:t>as the user sees it</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Answer checked on screen — </a:t>
            </a:r>
            <a:r>
              <a:rPr lang="en-US" sz="1050" b="1" dirty="0">
                <a:solidFill>
                  <a:srgbClr val="1A1A1C"/>
                </a:solidFill>
                <a:latin typeface="Arial" pitchFamily="34" charset="0"/>
                <a:ea typeface="Arial" pitchFamily="34" charset="-122"/>
                <a:cs typeface="Arial" pitchFamily="34" charset="-120"/>
              </a:rPr>
              <a:t>correct either way</a:t>
            </a:r>
            <a:endParaRPr lang="en-US" sz="1050" dirty="0"/>
          </a:p>
          <a:p>
            <a:pPr marL="0" indent="0">
              <a:lnSpc>
                <a:spcPct val="130000"/>
              </a:lnSpc>
              <a:spcAft>
                <a:spcPts val="600"/>
              </a:spcAft>
              <a:buNone/>
            </a:pPr>
            <a:r>
              <a:rPr lang="en-US" sz="1050" dirty="0">
                <a:solidFill>
                  <a:srgbClr val="5F6168"/>
                </a:solidFill>
                <a:latin typeface="Arial" pitchFamily="34" charset="0"/>
                <a:ea typeface="Arial" pitchFamily="34" charset="-122"/>
                <a:cs typeface="Arial" pitchFamily="34" charset="-120"/>
              </a:rPr>
              <a:t>•  Kept with the matching log, </a:t>
            </a:r>
            <a:r>
              <a:rPr lang="en-US" sz="1050" b="1" dirty="0">
                <a:solidFill>
                  <a:srgbClr val="1A1A1C"/>
                </a:solidFill>
                <a:latin typeface="Arial" pitchFamily="34" charset="0"/>
                <a:ea typeface="Arial" pitchFamily="34" charset="-122"/>
                <a:cs typeface="Arial" pitchFamily="34" charset="-120"/>
              </a:rPr>
              <a:t>so timings can be traced</a:t>
            </a:r>
            <a:endParaRPr lang="en-US" sz="1050" dirty="0"/>
          </a:p>
        </p:txBody>
      </p:sp>
      <p:sp>
        <p:nvSpPr>
          <p:cNvPr id="36" name="Shape 32"/>
          <p:cNvSpPr/>
          <p:nvPr/>
        </p:nvSpPr>
        <p:spPr>
          <a:xfrm>
            <a:off x="6656832" y="4315968"/>
            <a:ext cx="4663440" cy="475488"/>
          </a:xfrm>
          <a:prstGeom prst="roundRect">
            <a:avLst>
              <a:gd name="adj" fmla="val 42308"/>
            </a:avLst>
          </a:prstGeom>
          <a:solidFill>
            <a:srgbClr val="FCE3D2"/>
          </a:solidFill>
          <a:ln w="12700">
            <a:solidFill>
              <a:srgbClr val="FCE3D2"/>
            </a:solidFill>
            <a:prstDash val="solid"/>
          </a:ln>
        </p:spPr>
        <p:txBody>
          <a:bodyPr/>
          <a:lstStyle/>
          <a:p>
            <a:endParaRPr lang="en-US"/>
          </a:p>
        </p:txBody>
      </p:sp>
      <p:sp>
        <p:nvSpPr>
          <p:cNvPr id="37" name="Text 33"/>
          <p:cNvSpPr txBox="1"/>
          <p:nvPr/>
        </p:nvSpPr>
        <p:spPr>
          <a:xfrm>
            <a:off x="6839712" y="4315968"/>
            <a:ext cx="4297680" cy="475488"/>
          </a:xfrm>
          <a:prstGeom prst="rect">
            <a:avLst/>
          </a:prstGeom>
          <a:noFill/>
          <a:ln/>
        </p:spPr>
        <p:txBody>
          <a:bodyPr wrap="square" lIns="0" tIns="0" rIns="0" bIns="0" rtlCol="0" anchor="ctr"/>
          <a:lstStyle/>
          <a:p>
            <a:pPr marL="0" indent="0">
              <a:buNone/>
            </a:pPr>
            <a:r>
              <a:rPr lang="en-US" sz="1150" b="1" dirty="0">
                <a:solidFill>
                  <a:srgbClr val="D9501A"/>
                </a:solidFill>
                <a:latin typeface="Arial" pitchFamily="34" charset="0"/>
                <a:ea typeface="Arial" pitchFamily="34" charset="-122"/>
                <a:cs typeface="Arial" pitchFamily="34" charset="-120"/>
              </a:rPr>
              <a:t>On screen at 13K:  </a:t>
            </a:r>
            <a:r>
              <a:rPr lang="en-US" sz="1150" dirty="0">
                <a:solidFill>
                  <a:srgbClr val="5F6168"/>
                </a:solidFill>
                <a:latin typeface="Arial" pitchFamily="34" charset="0"/>
                <a:ea typeface="Arial" pitchFamily="34" charset="-122"/>
                <a:cs typeface="Arial" pitchFamily="34" charset="-120"/>
              </a:rPr>
              <a:t>4 min 32 s of waiting, against 1.3 s</a:t>
            </a:r>
            <a:endParaRPr lang="en-US" sz="1150" dirty="0"/>
          </a:p>
        </p:txBody>
      </p:sp>
      <p:sp>
        <p:nvSpPr>
          <p:cNvPr id="38" name="Shape 34"/>
          <p:cNvSpPr/>
          <p:nvPr/>
        </p:nvSpPr>
        <p:spPr>
          <a:xfrm>
            <a:off x="6656832" y="4983480"/>
            <a:ext cx="1554480" cy="274320"/>
          </a:xfrm>
          <a:prstGeom prst="roundRect">
            <a:avLst>
              <a:gd name="adj" fmla="val 100000"/>
            </a:avLst>
          </a:prstGeom>
          <a:solidFill>
            <a:srgbClr val="E3F3E7"/>
          </a:solidFill>
          <a:ln w="12700">
            <a:solidFill>
              <a:srgbClr val="E3F3E7"/>
            </a:solidFill>
            <a:prstDash val="solid"/>
          </a:ln>
        </p:spPr>
        <p:txBody>
          <a:bodyPr/>
          <a:lstStyle/>
          <a:p>
            <a:endParaRPr lang="en-US"/>
          </a:p>
        </p:txBody>
      </p:sp>
      <p:sp>
        <p:nvSpPr>
          <p:cNvPr id="39" name="Text 35"/>
          <p:cNvSpPr txBox="1"/>
          <p:nvPr/>
        </p:nvSpPr>
        <p:spPr>
          <a:xfrm>
            <a:off x="6656832" y="4983480"/>
            <a:ext cx="1554480" cy="274320"/>
          </a:xfrm>
          <a:prstGeom prst="rect">
            <a:avLst/>
          </a:prstGeom>
          <a:noFill/>
          <a:ln/>
        </p:spPr>
        <p:txBody>
          <a:bodyPr wrap="square" lIns="0" tIns="0" rIns="0" bIns="0" rtlCol="0" anchor="ctr"/>
          <a:lstStyle/>
          <a:p>
            <a:pPr marL="0" indent="0" algn="ctr">
              <a:buNone/>
            </a:pPr>
            <a:r>
              <a:rPr lang="en-US" sz="900" b="1" dirty="0">
                <a:solidFill>
                  <a:srgbClr val="1E8E3E"/>
                </a:solidFill>
                <a:latin typeface="Arial" pitchFamily="34" charset="0"/>
                <a:ea typeface="Arial" pitchFamily="34" charset="-122"/>
                <a:cs typeface="Arial" pitchFamily="34" charset="-120"/>
              </a:rPr>
              <a:t>✓  RECORDED</a:t>
            </a:r>
            <a:endParaRPr lang="en-US" sz="900" dirty="0"/>
          </a:p>
        </p:txBody>
      </p:sp>
      <p:sp>
        <p:nvSpPr>
          <p:cNvPr id="40" name="Shape 36"/>
          <p:cNvSpPr/>
          <p:nvPr/>
        </p:nvSpPr>
        <p:spPr>
          <a:xfrm>
            <a:off x="548640" y="5623560"/>
            <a:ext cx="11091672" cy="457200"/>
          </a:xfrm>
          <a:prstGeom prst="roundRect">
            <a:avLst>
              <a:gd name="adj" fmla="val 50000"/>
            </a:avLst>
          </a:prstGeom>
          <a:solidFill>
            <a:srgbClr val="FCE3D2"/>
          </a:solidFill>
          <a:ln w="12700">
            <a:solidFill>
              <a:srgbClr val="FCE3D2"/>
            </a:solidFill>
            <a:prstDash val="solid"/>
          </a:ln>
        </p:spPr>
        <p:txBody>
          <a:bodyPr/>
          <a:lstStyle/>
          <a:p>
            <a:endParaRPr lang="en-US"/>
          </a:p>
        </p:txBody>
      </p:sp>
      <p:sp>
        <p:nvSpPr>
          <p:cNvPr id="41" name="Text 37"/>
          <p:cNvSpPr txBox="1"/>
          <p:nvPr/>
        </p:nvSpPr>
        <p:spPr>
          <a:xfrm>
            <a:off x="822960" y="5623560"/>
            <a:ext cx="10543032" cy="45720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Together: </a:t>
            </a:r>
            <a:r>
              <a:rPr lang="en-US" sz="1300" dirty="0">
                <a:solidFill>
                  <a:srgbClr val="5F6168"/>
                </a:solidFill>
                <a:latin typeface="Arial" pitchFamily="34" charset="0"/>
                <a:ea typeface="Arial" pitchFamily="34" charset="-122"/>
                <a:cs typeface="Arial" pitchFamily="34" charset="-120"/>
              </a:rPr>
              <a:t>the manual covers how to get there, the recordings show the difference as a user actually experiences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146304" cy="868680"/>
          </a:xfrm>
          <a:prstGeom prst="rect">
            <a:avLst/>
          </a:prstGeom>
          <a:solidFill>
            <a:srgbClr val="F26522"/>
          </a:solidFill>
          <a:ln w="12700">
            <a:solidFill>
              <a:srgbClr val="F26522"/>
            </a:solidFill>
            <a:prstDash val="solid"/>
          </a:ln>
        </p:spPr>
        <p:txBody>
          <a:bodyPr/>
          <a:lstStyle/>
          <a:p>
            <a:endParaRPr lang="en-US"/>
          </a:p>
        </p:txBody>
      </p:sp>
      <p:sp>
        <p:nvSpPr>
          <p:cNvPr id="3" name="Text 1"/>
          <p:cNvSpPr txBox="1"/>
          <p:nvPr/>
        </p:nvSpPr>
        <p:spPr>
          <a:xfrm>
            <a:off x="548640" y="384048"/>
            <a:ext cx="9144000" cy="310896"/>
          </a:xfrm>
          <a:prstGeom prst="rect">
            <a:avLst/>
          </a:prstGeom>
          <a:noFill/>
          <a:ln/>
        </p:spPr>
        <p:txBody>
          <a:bodyPr wrap="square" lIns="0" tIns="0" rIns="0" bIns="0" rtlCol="0" anchor="ctr"/>
          <a:lstStyle/>
          <a:p>
            <a:pPr marL="0" indent="0" algn="l">
              <a:buNone/>
            </a:pPr>
            <a:r>
              <a:rPr lang="en-US" sz="2000" b="1" dirty="0">
                <a:solidFill>
                  <a:srgbClr val="F26522"/>
                </a:solidFill>
                <a:latin typeface="Arial" pitchFamily="34" charset="0"/>
                <a:ea typeface="Arial" pitchFamily="34" charset="-122"/>
                <a:cs typeface="Arial" pitchFamily="34" charset="-120"/>
              </a:rPr>
              <a:t>NEXT · UPCOMING</a:t>
            </a:r>
            <a:endParaRPr lang="en-US" sz="2000" dirty="0"/>
          </a:p>
        </p:txBody>
      </p:sp>
      <p:sp>
        <p:nvSpPr>
          <p:cNvPr id="4" name="Text 2"/>
          <p:cNvSpPr txBox="1"/>
          <p:nvPr/>
        </p:nvSpPr>
        <p:spPr>
          <a:xfrm>
            <a:off x="548640" y="731520"/>
            <a:ext cx="9875520" cy="594360"/>
          </a:xfrm>
          <a:prstGeom prst="rect">
            <a:avLst/>
          </a:prstGeom>
          <a:noFill/>
          <a:ln/>
        </p:spPr>
        <p:txBody>
          <a:bodyPr wrap="square" lIns="0" tIns="0" rIns="0" bIns="0" rtlCol="0" anchor="ctr"/>
          <a:lstStyle/>
          <a:p>
            <a:pPr marL="0" indent="0" algn="l">
              <a:buNone/>
            </a:pPr>
            <a:r>
              <a:rPr lang="en-US" sz="2800" b="1" dirty="0">
                <a:solidFill>
                  <a:srgbClr val="1A1A1C"/>
                </a:solidFill>
                <a:latin typeface="Arial" pitchFamily="34" charset="0"/>
                <a:ea typeface="Arial" pitchFamily="34" charset="-122"/>
                <a:cs typeface="Arial" pitchFamily="34" charset="-120"/>
              </a:rPr>
              <a:t>Upcoming tasks</a:t>
            </a:r>
            <a:endParaRPr lang="en-US" sz="2800" dirty="0"/>
          </a:p>
        </p:txBody>
      </p:sp>
      <p:pic>
        <p:nvPicPr>
          <p:cNvPr id="5" name="Image 0" descr="assets/logo_dark.png"/>
          <p:cNvPicPr>
            <a:picLocks noChangeAspect="1"/>
          </p:cNvPicPr>
          <p:nvPr/>
        </p:nvPicPr>
        <p:blipFill>
          <a:blip r:embed="rId3"/>
          <a:stretch>
            <a:fillRect/>
          </a:stretch>
        </p:blipFill>
        <p:spPr>
          <a:xfrm>
            <a:off x="10616184" y="411480"/>
            <a:ext cx="1078992" cy="384048"/>
          </a:xfrm>
          <a:prstGeom prst="rect">
            <a:avLst/>
          </a:prstGeom>
        </p:spPr>
      </p:pic>
      <p:sp>
        <p:nvSpPr>
          <p:cNvPr id="6" name="Shape 3"/>
          <p:cNvSpPr/>
          <p:nvPr/>
        </p:nvSpPr>
        <p:spPr>
          <a:xfrm>
            <a:off x="548640" y="6400800"/>
            <a:ext cx="11091672" cy="9144"/>
          </a:xfrm>
          <a:prstGeom prst="rect">
            <a:avLst/>
          </a:prstGeom>
          <a:solidFill>
            <a:srgbClr val="E4E1DA"/>
          </a:solidFill>
          <a:ln w="12700">
            <a:solidFill>
              <a:srgbClr val="E4E1DA"/>
            </a:solidFill>
            <a:prstDash val="solid"/>
          </a:ln>
        </p:spPr>
        <p:txBody>
          <a:bodyPr/>
          <a:lstStyle/>
          <a:p>
            <a:endParaRPr lang="en-US"/>
          </a:p>
        </p:txBody>
      </p:sp>
      <p:sp>
        <p:nvSpPr>
          <p:cNvPr id="7" name="Text 4"/>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900" b="1" dirty="0">
                <a:solidFill>
                  <a:srgbClr val="F26522"/>
                </a:solidFill>
                <a:latin typeface="Arial" pitchFamily="34" charset="0"/>
                <a:ea typeface="Arial" pitchFamily="34" charset="-122"/>
                <a:cs typeface="Arial" pitchFamily="34" charset="-120"/>
              </a:rPr>
              <a:t>MiPhi</a:t>
            </a:r>
            <a:r>
              <a:rPr lang="en-US" sz="900" dirty="0">
                <a:solidFill>
                  <a:srgbClr val="9A9CA3"/>
                </a:solidFill>
                <a:latin typeface="Arial" pitchFamily="34" charset="0"/>
                <a:ea typeface="Arial" pitchFamily="34" charset="-122"/>
                <a:cs typeface="Arial" pitchFamily="34" charset="-120"/>
              </a:rPr>
              <a:t>  ·  aiDAPTIV+ Integration — Weekly Update  ·  23 September 2026</a:t>
            </a:r>
            <a:endParaRPr lang="en-US" sz="900" dirty="0"/>
          </a:p>
        </p:txBody>
      </p:sp>
      <p:sp>
        <p:nvSpPr>
          <p:cNvPr id="8"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9A9CA3"/>
                </a:solidFill>
                <a:latin typeface="Arial" pitchFamily="34" charset="0"/>
                <a:ea typeface="Arial" pitchFamily="34" charset="-122"/>
                <a:cs typeface="Arial" pitchFamily="34" charset="-120"/>
              </a:rPr>
              <a:t>12</a:t>
            </a:r>
            <a:endParaRPr lang="en-US" sz="900" dirty="0"/>
          </a:p>
        </p:txBody>
      </p:sp>
      <p:pic>
        <p:nvPicPr>
          <p:cNvPr id="9" name="Image 1" descr="assets/gradbar.png"/>
          <p:cNvPicPr>
            <a:picLocks noChangeAspect="1"/>
          </p:cNvPicPr>
          <p:nvPr/>
        </p:nvPicPr>
        <p:blipFill>
          <a:blip r:embed="rId4"/>
          <a:stretch>
            <a:fillRect/>
          </a:stretch>
        </p:blipFill>
        <p:spPr>
          <a:xfrm>
            <a:off x="0" y="6784848"/>
            <a:ext cx="12191695" cy="73152"/>
          </a:xfrm>
          <a:prstGeom prst="rect">
            <a:avLst/>
          </a:prstGeom>
        </p:spPr>
      </p:pic>
      <p:sp>
        <p:nvSpPr>
          <p:cNvPr id="10" name="Shape 6"/>
          <p:cNvSpPr/>
          <p:nvPr/>
        </p:nvSpPr>
        <p:spPr>
          <a:xfrm>
            <a:off x="548640" y="1600200"/>
            <a:ext cx="5422392" cy="3300984"/>
          </a:xfrm>
          <a:prstGeom prst="roundRect">
            <a:avLst>
              <a:gd name="adj" fmla="val 2216"/>
            </a:avLst>
          </a:prstGeom>
          <a:solidFill>
            <a:srgbClr val="FAF9F6"/>
          </a:solidFill>
          <a:ln w="12700">
            <a:solidFill>
              <a:srgbClr val="E4E1DA"/>
            </a:solidFill>
            <a:prstDash val="solid"/>
          </a:ln>
        </p:spPr>
        <p:txBody>
          <a:bodyPr/>
          <a:lstStyle/>
          <a:p>
            <a:endParaRPr lang="en-US"/>
          </a:p>
        </p:txBody>
      </p:sp>
      <p:sp>
        <p:nvSpPr>
          <p:cNvPr id="11" name="Shape 7"/>
          <p:cNvSpPr/>
          <p:nvPr/>
        </p:nvSpPr>
        <p:spPr>
          <a:xfrm>
            <a:off x="548640" y="1600200"/>
            <a:ext cx="5422392" cy="64008"/>
          </a:xfrm>
          <a:prstGeom prst="rect">
            <a:avLst/>
          </a:prstGeom>
          <a:solidFill>
            <a:srgbClr val="F26522"/>
          </a:solidFill>
          <a:ln w="12700">
            <a:solidFill>
              <a:srgbClr val="F26522"/>
            </a:solidFill>
            <a:prstDash val="solid"/>
          </a:ln>
        </p:spPr>
        <p:txBody>
          <a:bodyPr/>
          <a:lstStyle/>
          <a:p>
            <a:endParaRPr lang="en-US"/>
          </a:p>
        </p:txBody>
      </p:sp>
      <p:sp>
        <p:nvSpPr>
          <p:cNvPr id="12" name="Shape 8"/>
          <p:cNvSpPr/>
          <p:nvPr/>
        </p:nvSpPr>
        <p:spPr>
          <a:xfrm>
            <a:off x="868680" y="1920240"/>
            <a:ext cx="548640" cy="548640"/>
          </a:xfrm>
          <a:prstGeom prst="ellipse">
            <a:avLst/>
          </a:prstGeom>
          <a:solidFill>
            <a:srgbClr val="FCE3D2"/>
          </a:solidFill>
          <a:ln w="12700">
            <a:solidFill>
              <a:srgbClr val="FCE3D2"/>
            </a:solidFill>
            <a:prstDash val="solid"/>
          </a:ln>
        </p:spPr>
        <p:txBody>
          <a:bodyPr/>
          <a:lstStyle/>
          <a:p>
            <a:endParaRPr lang="en-US"/>
          </a:p>
        </p:txBody>
      </p:sp>
      <p:sp>
        <p:nvSpPr>
          <p:cNvPr id="13" name="Text 9"/>
          <p:cNvSpPr txBox="1"/>
          <p:nvPr/>
        </p:nvSpPr>
        <p:spPr>
          <a:xfrm>
            <a:off x="868680" y="1920240"/>
            <a:ext cx="548640" cy="54864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1</a:t>
            </a:r>
            <a:endParaRPr lang="en-US" sz="1400" dirty="0"/>
          </a:p>
        </p:txBody>
      </p:sp>
      <p:sp>
        <p:nvSpPr>
          <p:cNvPr id="14" name="Text 10"/>
          <p:cNvSpPr txBox="1"/>
          <p:nvPr/>
        </p:nvSpPr>
        <p:spPr>
          <a:xfrm>
            <a:off x="868680" y="2633472"/>
            <a:ext cx="4782312" cy="320040"/>
          </a:xfrm>
          <a:prstGeom prst="rect">
            <a:avLst/>
          </a:prstGeom>
          <a:noFill/>
          <a:ln/>
        </p:spPr>
        <p:txBody>
          <a:bodyPr wrap="square" lIns="0" tIns="0" rIns="0" bIns="0" rtlCol="0" anchor="ctr"/>
          <a:lstStyle/>
          <a:p>
            <a:pPr marL="0" indent="0">
              <a:buNone/>
            </a:pPr>
            <a:r>
              <a:rPr lang="en-US" sz="1500" b="1" dirty="0">
                <a:solidFill>
                  <a:srgbClr val="1A1A1C"/>
                </a:solidFill>
                <a:latin typeface="Arial" pitchFamily="34" charset="0"/>
                <a:ea typeface="Arial" pitchFamily="34" charset="-122"/>
                <a:cs typeface="Arial" pitchFamily="34" charset="-120"/>
              </a:rPr>
              <a:t>Integrate LibreChat with aiDAPTIV+</a:t>
            </a:r>
            <a:endParaRPr lang="en-US" sz="1500" dirty="0"/>
          </a:p>
        </p:txBody>
      </p:sp>
      <p:sp>
        <p:nvSpPr>
          <p:cNvPr id="15" name="Text 11"/>
          <p:cNvSpPr txBox="1"/>
          <p:nvPr/>
        </p:nvSpPr>
        <p:spPr>
          <a:xfrm>
            <a:off x="868680" y="3108960"/>
            <a:ext cx="4782312" cy="1143000"/>
          </a:xfrm>
          <a:prstGeom prst="rect">
            <a:avLst/>
          </a:prstGeom>
          <a:noFill/>
          <a:ln/>
        </p:spPr>
        <p:txBody>
          <a:bodyPr wrap="square" lIns="0" tIns="0" rIns="0" bIns="0" rtlCol="0" anchor="ctr"/>
          <a:lstStyle/>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Wire LibreChat to the aiDAPTIV+ endpoint, same path as Onyx</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cache_prompt plus an offload folder on the AI SSD</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Confirm KV cache reuse in the LibreChat request path</a:t>
            </a:r>
            <a:endParaRPr lang="en-US" sz="1100" dirty="0"/>
          </a:p>
        </p:txBody>
      </p:sp>
      <p:sp>
        <p:nvSpPr>
          <p:cNvPr id="16" name="Shape 12"/>
          <p:cNvSpPr/>
          <p:nvPr/>
        </p:nvSpPr>
        <p:spPr>
          <a:xfrm>
            <a:off x="868680" y="4343400"/>
            <a:ext cx="1417320" cy="320040"/>
          </a:xfrm>
          <a:prstGeom prst="roundRect">
            <a:avLst>
              <a:gd name="adj" fmla="val 85714"/>
            </a:avLst>
          </a:prstGeom>
          <a:solidFill>
            <a:srgbClr val="FCE3D2"/>
          </a:solidFill>
          <a:ln w="12700">
            <a:solidFill>
              <a:srgbClr val="FCE3D2"/>
            </a:solidFill>
            <a:prstDash val="solid"/>
          </a:ln>
        </p:spPr>
        <p:txBody>
          <a:bodyPr/>
          <a:lstStyle/>
          <a:p>
            <a:endParaRPr lang="en-US"/>
          </a:p>
        </p:txBody>
      </p:sp>
      <p:sp>
        <p:nvSpPr>
          <p:cNvPr id="17" name="Text 13"/>
          <p:cNvSpPr txBox="1"/>
          <p:nvPr/>
        </p:nvSpPr>
        <p:spPr>
          <a:xfrm>
            <a:off x="868680" y="4343400"/>
            <a:ext cx="1417320" cy="320040"/>
          </a:xfrm>
          <a:prstGeom prst="rect">
            <a:avLst/>
          </a:prstGeom>
          <a:noFill/>
          <a:ln/>
        </p:spPr>
        <p:txBody>
          <a:bodyPr wrap="square" lIns="0" tIns="0" rIns="0" bIns="0" rtlCol="0" anchor="ctr"/>
          <a:lstStyle/>
          <a:p>
            <a:pPr marL="0" indent="0" algn="ctr">
              <a:buNone/>
            </a:pPr>
            <a:r>
              <a:rPr lang="en-US" sz="900" b="1" dirty="0">
                <a:solidFill>
                  <a:srgbClr val="D9501A"/>
                </a:solidFill>
                <a:latin typeface="Arial" pitchFamily="34" charset="0"/>
                <a:ea typeface="Arial" pitchFamily="34" charset="-122"/>
                <a:cs typeface="Arial" pitchFamily="34" charset="-120"/>
              </a:rPr>
              <a:t>PLANNED</a:t>
            </a:r>
            <a:endParaRPr lang="en-US" sz="900" dirty="0"/>
          </a:p>
        </p:txBody>
      </p:sp>
      <p:sp>
        <p:nvSpPr>
          <p:cNvPr id="18" name="Shape 14"/>
          <p:cNvSpPr/>
          <p:nvPr/>
        </p:nvSpPr>
        <p:spPr>
          <a:xfrm>
            <a:off x="6217920" y="1600200"/>
            <a:ext cx="5422392" cy="3300984"/>
          </a:xfrm>
          <a:prstGeom prst="roundRect">
            <a:avLst>
              <a:gd name="adj" fmla="val 2216"/>
            </a:avLst>
          </a:prstGeom>
          <a:solidFill>
            <a:srgbClr val="FAF9F6"/>
          </a:solidFill>
          <a:ln w="12700">
            <a:solidFill>
              <a:srgbClr val="E4E1DA"/>
            </a:solidFill>
            <a:prstDash val="solid"/>
          </a:ln>
        </p:spPr>
        <p:txBody>
          <a:bodyPr/>
          <a:lstStyle/>
          <a:p>
            <a:endParaRPr lang="en-US"/>
          </a:p>
        </p:txBody>
      </p:sp>
      <p:sp>
        <p:nvSpPr>
          <p:cNvPr id="19" name="Shape 15"/>
          <p:cNvSpPr/>
          <p:nvPr/>
        </p:nvSpPr>
        <p:spPr>
          <a:xfrm>
            <a:off x="6217920" y="1600200"/>
            <a:ext cx="5422392" cy="64008"/>
          </a:xfrm>
          <a:prstGeom prst="rect">
            <a:avLst/>
          </a:prstGeom>
          <a:solidFill>
            <a:srgbClr val="F26522"/>
          </a:solidFill>
          <a:ln w="12700">
            <a:solidFill>
              <a:srgbClr val="F26522"/>
            </a:solidFill>
            <a:prstDash val="solid"/>
          </a:ln>
        </p:spPr>
        <p:txBody>
          <a:bodyPr/>
          <a:lstStyle/>
          <a:p>
            <a:endParaRPr lang="en-US"/>
          </a:p>
        </p:txBody>
      </p:sp>
      <p:sp>
        <p:nvSpPr>
          <p:cNvPr id="20" name="Shape 16"/>
          <p:cNvSpPr/>
          <p:nvPr/>
        </p:nvSpPr>
        <p:spPr>
          <a:xfrm>
            <a:off x="6537960" y="1920240"/>
            <a:ext cx="548640" cy="548640"/>
          </a:xfrm>
          <a:prstGeom prst="ellipse">
            <a:avLst/>
          </a:prstGeom>
          <a:solidFill>
            <a:srgbClr val="FCE3D2"/>
          </a:solidFill>
          <a:ln w="12700">
            <a:solidFill>
              <a:srgbClr val="FCE3D2"/>
            </a:solidFill>
            <a:prstDash val="solid"/>
          </a:ln>
        </p:spPr>
        <p:txBody>
          <a:bodyPr/>
          <a:lstStyle/>
          <a:p>
            <a:endParaRPr lang="en-US"/>
          </a:p>
        </p:txBody>
      </p:sp>
      <p:sp>
        <p:nvSpPr>
          <p:cNvPr id="21" name="Text 17"/>
          <p:cNvSpPr txBox="1"/>
          <p:nvPr/>
        </p:nvSpPr>
        <p:spPr>
          <a:xfrm>
            <a:off x="6537960" y="1920240"/>
            <a:ext cx="548640" cy="548640"/>
          </a:xfrm>
          <a:prstGeom prst="rect">
            <a:avLst/>
          </a:prstGeom>
          <a:noFill/>
          <a:ln/>
        </p:spPr>
        <p:txBody>
          <a:bodyPr wrap="square" lIns="0" tIns="0" rIns="0" bIns="0" rtlCol="0" anchor="ctr"/>
          <a:lstStyle/>
          <a:p>
            <a:pPr marL="0" indent="0" algn="ctr">
              <a:buNone/>
            </a:pPr>
            <a:r>
              <a:rPr lang="en-US" sz="1400" b="1" dirty="0">
                <a:solidFill>
                  <a:srgbClr val="D9501A"/>
                </a:solidFill>
                <a:latin typeface="Arial" pitchFamily="34" charset="0"/>
                <a:ea typeface="Arial" pitchFamily="34" charset="-122"/>
                <a:cs typeface="Arial" pitchFamily="34" charset="-120"/>
              </a:rPr>
              <a:t>2</a:t>
            </a:r>
            <a:endParaRPr lang="en-US" sz="1400" dirty="0"/>
          </a:p>
        </p:txBody>
      </p:sp>
      <p:sp>
        <p:nvSpPr>
          <p:cNvPr id="22" name="Text 18"/>
          <p:cNvSpPr txBox="1"/>
          <p:nvPr/>
        </p:nvSpPr>
        <p:spPr>
          <a:xfrm>
            <a:off x="6537960" y="2633472"/>
            <a:ext cx="4782312" cy="320040"/>
          </a:xfrm>
          <a:prstGeom prst="rect">
            <a:avLst/>
          </a:prstGeom>
          <a:noFill/>
          <a:ln/>
        </p:spPr>
        <p:txBody>
          <a:bodyPr wrap="square" lIns="0" tIns="0" rIns="0" bIns="0" rtlCol="0" anchor="ctr"/>
          <a:lstStyle/>
          <a:p>
            <a:pPr marL="0" indent="0">
              <a:buNone/>
            </a:pPr>
            <a:r>
              <a:rPr lang="en-US" sz="1500" b="1" dirty="0">
                <a:solidFill>
                  <a:srgbClr val="1A1A1C"/>
                </a:solidFill>
                <a:latin typeface="Arial" pitchFamily="34" charset="0"/>
                <a:ea typeface="Arial" pitchFamily="34" charset="-122"/>
                <a:cs typeface="Arial" pitchFamily="34" charset="-120"/>
              </a:rPr>
              <a:t>If it works - run the same benchmark</a:t>
            </a:r>
            <a:endParaRPr lang="en-US" sz="1500" dirty="0"/>
          </a:p>
        </p:txBody>
      </p:sp>
      <p:sp>
        <p:nvSpPr>
          <p:cNvPr id="23" name="Text 19"/>
          <p:cNvSpPr txBox="1"/>
          <p:nvPr/>
        </p:nvSpPr>
        <p:spPr>
          <a:xfrm>
            <a:off x="6537960" y="3108960"/>
            <a:ext cx="4782312" cy="1143000"/>
          </a:xfrm>
          <a:prstGeom prst="rect">
            <a:avLst/>
          </a:prstGeom>
          <a:noFill/>
          <a:ln/>
        </p:spPr>
        <p:txBody>
          <a:bodyPr wrap="square" lIns="0" tIns="0" rIns="0" bIns="0" rtlCol="0" anchor="ctr"/>
          <a:lstStyle/>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Repeat this week's method on LibreChat instead of Onyx</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Same three prompt lengths: 8K, 10K and 13K</a:t>
            </a:r>
            <a:endParaRPr lang="en-US" sz="1100" dirty="0"/>
          </a:p>
          <a:p>
            <a:pPr marL="0" indent="0">
              <a:lnSpc>
                <a:spcPct val="130000"/>
              </a:lnSpc>
              <a:spcAft>
                <a:spcPts val="600"/>
              </a:spcAft>
              <a:buNone/>
            </a:pPr>
            <a:r>
              <a:rPr lang="en-US" sz="1100" dirty="0">
                <a:solidFill>
                  <a:srgbClr val="5F6168"/>
                </a:solidFill>
                <a:latin typeface="Arial" pitchFamily="34" charset="0"/>
                <a:ea typeface="Arial" pitchFamily="34" charset="-122"/>
                <a:cs typeface="Arial" pitchFamily="34" charset="-120"/>
              </a:rPr>
              <a:t>•  With and without aiDAPTIV+, logs and recordings kept as before</a:t>
            </a:r>
            <a:endParaRPr lang="en-US" sz="1100" dirty="0"/>
          </a:p>
        </p:txBody>
      </p:sp>
      <p:sp>
        <p:nvSpPr>
          <p:cNvPr id="24" name="Shape 20"/>
          <p:cNvSpPr/>
          <p:nvPr/>
        </p:nvSpPr>
        <p:spPr>
          <a:xfrm>
            <a:off x="6537960" y="4343400"/>
            <a:ext cx="2148840" cy="320040"/>
          </a:xfrm>
          <a:prstGeom prst="roundRect">
            <a:avLst>
              <a:gd name="adj" fmla="val 85714"/>
            </a:avLst>
          </a:prstGeom>
          <a:solidFill>
            <a:srgbClr val="F0EFEC"/>
          </a:solidFill>
          <a:ln w="12700">
            <a:solidFill>
              <a:srgbClr val="F0EFEC"/>
            </a:solidFill>
            <a:prstDash val="solid"/>
          </a:ln>
        </p:spPr>
        <p:txBody>
          <a:bodyPr/>
          <a:lstStyle/>
          <a:p>
            <a:endParaRPr lang="en-US"/>
          </a:p>
        </p:txBody>
      </p:sp>
      <p:sp>
        <p:nvSpPr>
          <p:cNvPr id="25" name="Text 21"/>
          <p:cNvSpPr txBox="1"/>
          <p:nvPr/>
        </p:nvSpPr>
        <p:spPr>
          <a:xfrm>
            <a:off x="6537960" y="4343400"/>
            <a:ext cx="2148840" cy="320040"/>
          </a:xfrm>
          <a:prstGeom prst="rect">
            <a:avLst/>
          </a:prstGeom>
          <a:noFill/>
          <a:ln/>
        </p:spPr>
        <p:txBody>
          <a:bodyPr wrap="square" lIns="0" tIns="0" rIns="0" bIns="0" rtlCol="0" anchor="ctr"/>
          <a:lstStyle/>
          <a:p>
            <a:pPr marL="0" indent="0" algn="ctr">
              <a:buNone/>
            </a:pPr>
            <a:r>
              <a:rPr lang="en-US" sz="900" b="1" dirty="0">
                <a:solidFill>
                  <a:srgbClr val="5F6168"/>
                </a:solidFill>
                <a:latin typeface="Arial" pitchFamily="34" charset="0"/>
                <a:ea typeface="Arial" pitchFamily="34" charset="-122"/>
                <a:cs typeface="Arial" pitchFamily="34" charset="-120"/>
              </a:rPr>
              <a:t>IF INTEGRATION WORKS</a:t>
            </a:r>
            <a:endParaRPr lang="en-US" sz="900" dirty="0"/>
          </a:p>
        </p:txBody>
      </p:sp>
      <p:sp>
        <p:nvSpPr>
          <p:cNvPr id="26" name="Shape 22"/>
          <p:cNvSpPr/>
          <p:nvPr/>
        </p:nvSpPr>
        <p:spPr>
          <a:xfrm>
            <a:off x="6016752" y="3136392"/>
            <a:ext cx="292608" cy="256032"/>
          </a:xfrm>
          <a:prstGeom prst="rightArrow">
            <a:avLst/>
          </a:prstGeom>
          <a:solidFill>
            <a:srgbClr val="C9CAD0"/>
          </a:solidFill>
          <a:ln w="12700">
            <a:solidFill>
              <a:srgbClr val="C9CAD0"/>
            </a:solidFill>
            <a:prstDash val="solid"/>
          </a:ln>
        </p:spPr>
        <p:txBody>
          <a:bodyPr/>
          <a:lstStyle/>
          <a:p>
            <a:endParaRPr lang="en-US"/>
          </a:p>
        </p:txBody>
      </p:sp>
      <p:sp>
        <p:nvSpPr>
          <p:cNvPr id="27" name="Shape 23"/>
          <p:cNvSpPr/>
          <p:nvPr/>
        </p:nvSpPr>
        <p:spPr>
          <a:xfrm>
            <a:off x="548640" y="5193792"/>
            <a:ext cx="11091672" cy="457200"/>
          </a:xfrm>
          <a:prstGeom prst="roundRect">
            <a:avLst>
              <a:gd name="adj" fmla="val 50000"/>
            </a:avLst>
          </a:prstGeom>
          <a:solidFill>
            <a:srgbClr val="FCE3D2"/>
          </a:solidFill>
          <a:ln w="12700">
            <a:solidFill>
              <a:srgbClr val="FCE3D2"/>
            </a:solidFill>
            <a:prstDash val="solid"/>
          </a:ln>
        </p:spPr>
        <p:txBody>
          <a:bodyPr/>
          <a:lstStyle/>
          <a:p>
            <a:endParaRPr lang="en-US"/>
          </a:p>
        </p:txBody>
      </p:sp>
      <p:sp>
        <p:nvSpPr>
          <p:cNvPr id="28" name="Text 24"/>
          <p:cNvSpPr txBox="1"/>
          <p:nvPr/>
        </p:nvSpPr>
        <p:spPr>
          <a:xfrm>
            <a:off x="822960" y="5193792"/>
            <a:ext cx="10543032" cy="457200"/>
          </a:xfrm>
          <a:prstGeom prst="rect">
            <a:avLst/>
          </a:prstGeom>
          <a:noFill/>
          <a:ln/>
        </p:spPr>
        <p:txBody>
          <a:bodyPr wrap="square" lIns="0" tIns="0" rIns="0" bIns="0" rtlCol="0" anchor="ctr"/>
          <a:lstStyle/>
          <a:p>
            <a:pPr marL="0" indent="0">
              <a:buNone/>
            </a:pPr>
            <a:r>
              <a:rPr lang="en-US" sz="1300" b="1" dirty="0">
                <a:solidFill>
                  <a:srgbClr val="D9501A"/>
                </a:solidFill>
                <a:latin typeface="Arial" pitchFamily="34" charset="0"/>
                <a:ea typeface="Arial" pitchFamily="34" charset="-122"/>
                <a:cs typeface="Arial" pitchFamily="34" charset="-120"/>
              </a:rPr>
              <a:t>Next week: </a:t>
            </a:r>
            <a:r>
              <a:rPr lang="en-US" sz="1300" dirty="0">
                <a:solidFill>
                  <a:srgbClr val="5F6168"/>
                </a:solidFill>
                <a:latin typeface="Arial" pitchFamily="34" charset="0"/>
                <a:ea typeface="Arial" pitchFamily="34" charset="-122"/>
                <a:cs typeface="Arial" pitchFamily="34" charset="-120"/>
              </a:rPr>
              <a:t>LibreChat integration with aiDAPTIV+ and once it works, the same benchmarking repeated on LibreChat.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2860</Words>
  <Application>Microsoft Office PowerPoint</Application>
  <PresentationFormat>Widescreen</PresentationFormat>
  <Paragraphs>328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aiDAPTIV+ Weekly Update - 23 September 2026</dc:title>
  <dc:subject>PptxGenJS Presentation</dc:subject>
  <dc:creator>MiPhi</dc:creator>
  <cp:lastModifiedBy>Ajay Ganapathy K H</cp:lastModifiedBy>
  <cp:revision>15</cp:revision>
  <dcterms:created xsi:type="dcterms:W3CDTF">2026-09-23T05:01:55Z</dcterms:created>
  <dcterms:modified xsi:type="dcterms:W3CDTF">2026-09-23T06:48:42Z</dcterms:modified>
</cp:coreProperties>
</file>