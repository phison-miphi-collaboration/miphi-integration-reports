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phi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2235496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14884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9A11B"/>
                </a:solidFill>
                <a:latin typeface="Arial"/>
              </a:rPr>
              <a:t>INTERNAL STATUS UPDATE  ·  11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1323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dirty="0">
                <a:solidFill>
                  <a:srgbClr val="FFFFFF"/>
                </a:solidFill>
                <a:latin typeface="Arial"/>
              </a:rPr>
              <a:t>aiDAPTIV+ Middleware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51960"/>
            <a:ext cx="6766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9CAD0"/>
                </a:solidFill>
                <a:latin typeface="Arial"/>
              </a:rPr>
              <a:t>Setup complete, middleware integrated with LibreChat, Onyx, OpenWebUI and Obsidian, and KV cache offloading verified.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9CA3"/>
                </a:solidFill>
                <a:latin typeface="Arial"/>
              </a:rPr>
              <a:t>Model under test: gemma-4-26B-A4B-it-UD-Q4_K_M.gguf   ·   aiDAPTIV+ build NXWVB306.1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554480"/>
            <a:ext cx="3474720" cy="4480560"/>
          </a:xfrm>
          <a:prstGeom prst="roundRect">
            <a:avLst>
              <a:gd name="adj" fmla="val 5000"/>
            </a:avLst>
          </a:prstGeom>
          <a:solidFill>
            <a:srgbClr val="2A2A2E"/>
          </a:solidFill>
          <a:ln w="12700">
            <a:solidFill>
              <a:srgbClr val="3A3A4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17830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A9CA3"/>
                </a:solidFill>
                <a:latin typeface="Arial"/>
              </a:rPr>
              <a:t>PROGRESS</a:t>
            </a:r>
          </a:p>
        </p:txBody>
      </p:sp>
      <p:sp>
        <p:nvSpPr>
          <p:cNvPr id="9" name="Oval 8"/>
          <p:cNvSpPr/>
          <p:nvPr/>
        </p:nvSpPr>
        <p:spPr>
          <a:xfrm>
            <a:off x="8503920" y="2194560"/>
            <a:ext cx="329184" cy="32918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223113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Windows OS &amp; namespaces</a:t>
            </a:r>
          </a:p>
        </p:txBody>
      </p:sp>
      <p:sp>
        <p:nvSpPr>
          <p:cNvPr id="11" name="Oval 10"/>
          <p:cNvSpPr/>
          <p:nvPr/>
        </p:nvSpPr>
        <p:spPr>
          <a:xfrm>
            <a:off x="8503920" y="2798064"/>
            <a:ext cx="329184" cy="32918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28346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Middleware installed</a:t>
            </a:r>
          </a:p>
        </p:txBody>
      </p:sp>
      <p:sp>
        <p:nvSpPr>
          <p:cNvPr id="13" name="Oval 12"/>
          <p:cNvSpPr/>
          <p:nvPr/>
        </p:nvSpPr>
        <p:spPr>
          <a:xfrm>
            <a:off x="8503920" y="3401568"/>
            <a:ext cx="329184" cy="32918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3438144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4 apps integrated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0" y="4005072"/>
            <a:ext cx="329184" cy="329184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404164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KV cache offload verified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0" y="4608576"/>
            <a:ext cx="329184" cy="329184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464515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9A11B"/>
                </a:solidFill>
                <a:latin typeface="Arial"/>
              </a:rPr>
              <a:t>Benchmark with / without</a:t>
            </a:r>
          </a:p>
        </p:txBody>
      </p:sp>
      <p:sp>
        <p:nvSpPr>
          <p:cNvPr id="19" name="Oval 18"/>
          <p:cNvSpPr/>
          <p:nvPr/>
        </p:nvSpPr>
        <p:spPr>
          <a:xfrm>
            <a:off x="8503920" y="5212080"/>
            <a:ext cx="329184" cy="329184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524865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9A11B"/>
                </a:solidFill>
                <a:latin typeface="Arial"/>
              </a:rPr>
              <a:t>Doc upload &amp; web search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Arial"/>
              </a:rPr>
              <a:t>STATUS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Setup &amp; integration done — benchmarking next</a:t>
            </a:r>
          </a:p>
        </p:txBody>
      </p:sp>
      <p:pic>
        <p:nvPicPr>
          <p:cNvPr id="5" name="Picture 4" descr="miphi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Internal Status Update  ·  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5422392" cy="4663440"/>
          </a:xfrm>
          <a:prstGeom prst="roundRect">
            <a:avLst>
              <a:gd name="adj" fmla="val 4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5422392" cy="64008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E8E3E"/>
                </a:solidFill>
                <a:latin typeface="Arial"/>
              </a:rPr>
              <a:t>COMPLETED</a:t>
            </a:r>
            <a:r>
              <a:rPr sz="1100" b="0">
                <a:solidFill>
                  <a:srgbClr val="9A9CA3"/>
                </a:solidFill>
                <a:latin typeface="Arial"/>
              </a:rPr>
              <a:t>   5 tasks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194560"/>
            <a:ext cx="365760" cy="365760"/>
          </a:xfrm>
          <a:prstGeom prst="ellipse">
            <a:avLst/>
          </a:prstGeom>
          <a:solidFill>
            <a:srgbClr val="E3F3E7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E8E3E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2176272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Windows OS installed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F6168"/>
                </a:solidFill>
                <a:latin typeface="Arial"/>
              </a:rPr>
              <a:t>Clean Windows 11 install on the test laptop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2980944"/>
            <a:ext cx="365760" cy="365760"/>
          </a:xfrm>
          <a:prstGeom prst="ellipse">
            <a:avLst/>
          </a:prstGeom>
          <a:solidFill>
            <a:srgbClr val="E3F3E7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E8E3E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2962656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NVMe namespaces allocated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F6168"/>
                </a:solidFill>
                <a:latin typeface="Arial"/>
              </a:rPr>
              <a:t>Boot drive (C:) + dedicated aiDAPTIV namespace (D:)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767328"/>
            <a:ext cx="365760" cy="365760"/>
          </a:xfrm>
          <a:prstGeom prst="ellipse">
            <a:avLst/>
          </a:prstGeom>
          <a:solidFill>
            <a:srgbClr val="E3F3E7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E8E3E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74904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aiDAPTIV+ middleware installed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F6168"/>
                </a:solidFill>
                <a:latin typeface="Arial"/>
              </a:rPr>
              <a:t>Build NXWVB306.1 · environment check passing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553712"/>
            <a:ext cx="365760" cy="365760"/>
          </a:xfrm>
          <a:prstGeom prst="ellipse">
            <a:avLst/>
          </a:prstGeom>
          <a:solidFill>
            <a:srgbClr val="E3F3E7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E8E3E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535424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4 apps integrated, with &amp; without aiDAPTIV+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F6168"/>
                </a:solidFill>
                <a:latin typeface="Arial"/>
              </a:rPr>
              <a:t>LibreChat · Onyx · OpenWebUI · Obsidian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5340096"/>
            <a:ext cx="365760" cy="365760"/>
          </a:xfrm>
          <a:prstGeom prst="ellipse">
            <a:avLst/>
          </a:prstGeom>
          <a:solidFill>
            <a:srgbClr val="E3F3E7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E8E3E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19" y="5321808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dirty="0">
                <a:solidFill>
                  <a:srgbClr val="1A1A1C"/>
                </a:solidFill>
                <a:latin typeface="Arial"/>
              </a:rPr>
              <a:t>KV cache offload verified</a:t>
            </a:r>
          </a:p>
          <a:p>
            <a:pPr algn="l">
              <a:spcAft>
                <a:spcPts val="200"/>
              </a:spcAft>
            </a:pPr>
            <a:r>
              <a:rPr sz="1150" b="0" dirty="0">
                <a:solidFill>
                  <a:srgbClr val="5F6168"/>
                </a:solidFill>
                <a:latin typeface="Arial"/>
              </a:rPr>
              <a:t>Cache file on D: grew 16.5× during a live session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508760"/>
            <a:ext cx="5422392" cy="4663440"/>
          </a:xfrm>
          <a:prstGeom prst="roundRect">
            <a:avLst>
              <a:gd name="adj" fmla="val 4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1508760"/>
            <a:ext cx="5422392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59" y="17373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6522"/>
                </a:solidFill>
                <a:latin typeface="Arial"/>
              </a:rPr>
              <a:t>UPCOMING</a:t>
            </a:r>
            <a:r>
              <a:rPr sz="1100" b="0">
                <a:solidFill>
                  <a:srgbClr val="9A9CA3"/>
                </a:solidFill>
                <a:latin typeface="Arial"/>
              </a:rPr>
              <a:t>   4 tasks</a:t>
            </a:r>
          </a:p>
        </p:txBody>
      </p:sp>
      <p:sp>
        <p:nvSpPr>
          <p:cNvPr id="26" name="Oval 25"/>
          <p:cNvSpPr/>
          <p:nvPr/>
        </p:nvSpPr>
        <p:spPr>
          <a:xfrm>
            <a:off x="6537959" y="2194560"/>
            <a:ext cx="365760" cy="365760"/>
          </a:xfrm>
          <a:prstGeom prst="ellipse">
            <a:avLst/>
          </a:prstGeom>
          <a:solidFill>
            <a:srgbClr val="FCE3D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26522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176272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Benchmark basic functionality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F6168"/>
                </a:solidFill>
                <a:latin typeface="Arial"/>
              </a:rPr>
              <a:t>Same workload with vs. without aiDAPTIV+</a:t>
            </a:r>
          </a:p>
        </p:txBody>
      </p:sp>
      <p:sp>
        <p:nvSpPr>
          <p:cNvPr id="28" name="Oval 27"/>
          <p:cNvSpPr/>
          <p:nvPr/>
        </p:nvSpPr>
        <p:spPr>
          <a:xfrm>
            <a:off x="6537959" y="2980944"/>
            <a:ext cx="365760" cy="365760"/>
          </a:xfrm>
          <a:prstGeom prst="ellipse">
            <a:avLst/>
          </a:prstGeom>
          <a:solidFill>
            <a:srgbClr val="FCE3D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26522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962656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Document upload feature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F6168"/>
                </a:solidFill>
                <a:latin typeface="Arial"/>
              </a:rPr>
              <a:t>Add to all four apps</a:t>
            </a:r>
          </a:p>
        </p:txBody>
      </p:sp>
      <p:sp>
        <p:nvSpPr>
          <p:cNvPr id="30" name="Oval 29"/>
          <p:cNvSpPr/>
          <p:nvPr/>
        </p:nvSpPr>
        <p:spPr>
          <a:xfrm>
            <a:off x="6537959" y="3767328"/>
            <a:ext cx="365760" cy="365760"/>
          </a:xfrm>
          <a:prstGeom prst="ellipse">
            <a:avLst/>
          </a:prstGeom>
          <a:solidFill>
            <a:srgbClr val="FCE3D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26522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74904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Web search feature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F6168"/>
                </a:solidFill>
                <a:latin typeface="Arial"/>
              </a:rPr>
              <a:t>Add to all four apps</a:t>
            </a:r>
          </a:p>
        </p:txBody>
      </p:sp>
      <p:sp>
        <p:nvSpPr>
          <p:cNvPr id="32" name="Oval 31"/>
          <p:cNvSpPr/>
          <p:nvPr/>
        </p:nvSpPr>
        <p:spPr>
          <a:xfrm>
            <a:off x="6537959" y="4553712"/>
            <a:ext cx="365760" cy="365760"/>
          </a:xfrm>
          <a:prstGeom prst="ellipse">
            <a:avLst/>
          </a:prstGeom>
          <a:solidFill>
            <a:srgbClr val="FCE3D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26522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535424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Verify functionality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5F6168"/>
                </a:solidFill>
                <a:latin typeface="Arial"/>
              </a:rPr>
              <a:t>End-to-end checks, with &amp; without aiDAPTIV+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Arial"/>
              </a:rPr>
              <a:t>SETUP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What we set up on the test machine</a:t>
            </a:r>
          </a:p>
        </p:txBody>
      </p:sp>
      <p:pic>
        <p:nvPicPr>
          <p:cNvPr id="5" name="Picture 4" descr="miphi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Internal Status Update  ·  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600200"/>
            <a:ext cx="2560320" cy="64008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59" y="1920240"/>
            <a:ext cx="502920" cy="50292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60604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Install Windows 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429000"/>
            <a:ext cx="21031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Windows 11 (x64) installed on the test laptop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Remote access via TeamViewer for the team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" y="49377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>
            <a:noFill/>
          </a:ln>
          <a:effectLst/>
        </p:spPr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8E3E"/>
                </a:solidFill>
                <a:latin typeface="Arial"/>
              </a:rPr>
              <a:t>✓  DONE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36391" y="3520440"/>
            <a:ext cx="228601" cy="0"/>
          </a:xfrm>
          <a:prstGeom prst="line">
            <a:avLst/>
          </a:prstGeom>
          <a:ln w="25400">
            <a:solidFill>
              <a:srgbClr val="F265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92424" y="16002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92424" y="1600200"/>
            <a:ext cx="2560320" cy="64008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666744" y="1920240"/>
            <a:ext cx="502920" cy="50292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744" y="260604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Allocate namespaces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6744" y="3429000"/>
            <a:ext cx="21031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NVMe split into two namespaces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Boot drive (C:) for OS &amp; apps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aiDAPTIV namespace (D:) for KV cache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66744" y="49377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>
            <a:noFill/>
          </a:ln>
          <a:effectLst/>
        </p:spPr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8E3E"/>
                </a:solidFill>
                <a:latin typeface="Arial"/>
              </a:rPr>
              <a:t>✓  DONE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0176" y="3520440"/>
            <a:ext cx="228599" cy="0"/>
          </a:xfrm>
          <a:prstGeom prst="line">
            <a:avLst/>
          </a:prstGeom>
          <a:ln w="25400">
            <a:solidFill>
              <a:srgbClr val="F265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36207" y="16002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36207" y="1600200"/>
            <a:ext cx="2560320" cy="64008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510527" y="1920240"/>
            <a:ext cx="502920" cy="50292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7" y="260604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Install middleware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7" y="3429000"/>
            <a:ext cx="21031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aiDAPTIV+ build NXWVB306.1 (x64)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llama-server Launcher v0.0.1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Dry-run environment check OK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0527" y="49377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>
            <a:noFill/>
          </a:ln>
          <a:effectLst/>
        </p:spPr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8E3E"/>
                </a:solidFill>
                <a:latin typeface="Arial"/>
              </a:rPr>
              <a:t>✓  DONE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23959" y="3520440"/>
            <a:ext cx="228601" cy="0"/>
          </a:xfrm>
          <a:prstGeom prst="line">
            <a:avLst/>
          </a:prstGeom>
          <a:ln w="25400">
            <a:solidFill>
              <a:srgbClr val="F265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079992" y="1600200"/>
            <a:ext cx="2560320" cy="3840480"/>
          </a:xfrm>
          <a:prstGeom prst="roundRect">
            <a:avLst>
              <a:gd name="adj" fmla="val 5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79992" y="1600200"/>
            <a:ext cx="2560320" cy="64008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354312" y="1920240"/>
            <a:ext cx="502920" cy="502920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54312" y="260604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Integrate apps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4312" y="3429000"/>
            <a:ext cx="21031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LibreChat · Onyx · OpenWebUI · Obsidian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Each wired to both backends: with and without aiDAPTIV+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54312" y="49377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>
            <a:noFill/>
          </a:ln>
          <a:effectLst/>
        </p:spPr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8E3E"/>
                </a:solidFill>
                <a:latin typeface="Arial"/>
              </a:rPr>
              <a:t>✓  DONE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623560"/>
            <a:ext cx="11091672" cy="548640"/>
          </a:xfrm>
          <a:prstGeom prst="roundRect">
            <a:avLst>
              <a:gd name="adj" fmla="val 15000"/>
            </a:avLst>
          </a:prstGeom>
          <a:solidFill>
            <a:srgbClr val="FCE3D2"/>
          </a:solidFill>
          <a:ln>
            <a:noFill/>
          </a:ln>
          <a:effectLst/>
        </p:spPr>
        <p:txBody>
          <a:bodyPr wrap="square" lIns="228600" tIns="137160" rIns="228600" bIns="137160" rtlCol="0" anchor="ctr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501A"/>
                </a:solidFill>
                <a:latin typeface="Arial"/>
              </a:rPr>
              <a:t>Outcome: </a:t>
            </a:r>
            <a:r>
              <a:rPr sz="1300" b="0">
                <a:solidFill>
                  <a:srgbClr val="5F6168"/>
                </a:solidFill>
                <a:latin typeface="Arial"/>
              </a:rPr>
              <a:t>one machine, one model, two backends — ready for a like-for-like with / without aiDAPTIV+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Arial"/>
              </a:rPr>
              <a:t>SETUP · STEPS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Windows OS and NVMe namespace allocation</a:t>
            </a:r>
          </a:p>
        </p:txBody>
      </p:sp>
      <p:pic>
        <p:nvPicPr>
          <p:cNvPr id="5" name="Picture 4" descr="miphi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Internal Status Update  ·  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5669280" cy="4617720"/>
          </a:xfrm>
          <a:prstGeom prst="roundRect">
            <a:avLst>
              <a:gd name="adj" fmla="val 4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373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F6168"/>
                </a:solidFill>
                <a:latin typeface="Arial"/>
              </a:rPr>
              <a:t>NVMe AI SSD  ·  one physical drive, two namespaces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19456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txBody>
          <a:bodyPr wrap="square" lIns="274320" tIns="164592" rIns="274320" bIns="164592" rtlCol="0" anchor="ctr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9A9CA3"/>
                </a:solidFill>
                <a:latin typeface="Arial"/>
              </a:rPr>
              <a:t>NAMESPACE 1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1A1A1C"/>
                </a:solidFill>
                <a:latin typeface="Arial"/>
              </a:rPr>
              <a:t>Boot drive  ·  C: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Windows 11 OS · applications · aiDAPTIV+ launcher &amp; llama-server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60520"/>
            <a:ext cx="5120640" cy="173736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txBody>
          <a:bodyPr wrap="square" lIns="274320" tIns="164592" rIns="274320" bIns="164592" rtlCol="0" anchor="ctr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CE3D2"/>
                </a:solidFill>
                <a:latin typeface="Arial"/>
              </a:rPr>
              <a:t>NAMESPACE 2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aiDAPTIV namespace  ·  D: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Dedicated AI SSD region for KV cache offload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--offload-path D:\nvme0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6002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A9CA3"/>
                </a:solidFill>
                <a:latin typeface="Arial"/>
              </a:rPr>
              <a:t>WHAT WAS DONE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2029967"/>
            <a:ext cx="109728" cy="10972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0" y="1965960"/>
            <a:ext cx="4663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Windows 11 installed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Fresh OS install on the test laptop; remote access via TeamViewer.</a:t>
            </a:r>
          </a:p>
        </p:txBody>
      </p:sp>
      <p:sp>
        <p:nvSpPr>
          <p:cNvPr id="17" name="Oval 16"/>
          <p:cNvSpPr/>
          <p:nvPr/>
        </p:nvSpPr>
        <p:spPr>
          <a:xfrm>
            <a:off x="6675120" y="3035808"/>
            <a:ext cx="109728" cy="10972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0" y="2971800"/>
            <a:ext cx="4663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Boot namespace created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Holds the OS, the client apps and the aiDAPTIV+ binaries.</a:t>
            </a:r>
          </a:p>
        </p:txBody>
      </p:sp>
      <p:sp>
        <p:nvSpPr>
          <p:cNvPr id="19" name="Oval 18"/>
          <p:cNvSpPr/>
          <p:nvPr/>
        </p:nvSpPr>
        <p:spPr>
          <a:xfrm>
            <a:off x="6675120" y="4041648"/>
            <a:ext cx="109728" cy="10972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0" y="3977639"/>
            <a:ext cx="4663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aiDAPTIV namespace created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Mounted as D: (“New Volume”) and reserved for the middleware.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5047488"/>
            <a:ext cx="109728" cy="10972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4983480"/>
            <a:ext cx="4663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Offload path pointed at D: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Middleware creates its cache directory D:\nvme0\inference on first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Arial"/>
              </a:rPr>
              <a:t>SETUP ·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Middleware installed — environment check passing</a:t>
            </a:r>
          </a:p>
        </p:txBody>
      </p:sp>
      <p:pic>
        <p:nvPicPr>
          <p:cNvPr id="5" name="Picture 4" descr="miphi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Internal Status Update  ·  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 (1).png"/>
          <p:cNvPicPr>
            <a:picLocks noChangeAspect="1"/>
          </p:cNvPicPr>
          <p:nvPr/>
        </p:nvPicPr>
        <p:blipFill>
          <a:blip r:embed="rId3"/>
          <a:srcRect l="10900" b="5800"/>
          <a:stretch>
            <a:fillRect/>
          </a:stretch>
        </p:blipFill>
        <p:spPr>
          <a:xfrm>
            <a:off x="548640" y="1601698"/>
            <a:ext cx="5394960" cy="3700323"/>
          </a:xfrm>
          <a:prstGeom prst="rect">
            <a:avLst/>
          </a:prstGeom>
          <a:ln w="12700">
            <a:solidFill>
              <a:srgbClr val="E4E1DA"/>
            </a:solidFill>
          </a:ln>
        </p:spPr>
      </p:pic>
      <p:pic>
        <p:nvPicPr>
          <p:cNvPr id="11" name="Picture 10" descr="image (2)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217920" y="2028172"/>
            <a:ext cx="5422392" cy="2847374"/>
          </a:xfrm>
          <a:prstGeom prst="rect">
            <a:avLst/>
          </a:prstGeom>
          <a:ln w="12700">
            <a:solidFill>
              <a:srgbClr val="E4E1DA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48640" y="5393461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A9CA3"/>
                </a:solidFill>
                <a:latin typeface="Arial"/>
              </a:rPr>
              <a:t>llama-server Launcher v0.0.1 — offload path, KV cache policy (Resume), GPU 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966987"/>
            <a:ext cx="54223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A9CA3"/>
                </a:solidFill>
                <a:latin typeface="Arial"/>
              </a:rPr>
              <a:t>Dry run: middleware synchronizes with the AI SSD — “Powered by Phison aiDAPTIV+”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378467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26522"/>
                </a:solidFill>
                <a:latin typeface="Arial"/>
              </a:rPr>
              <a:t>NXWVB306.1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789947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168"/>
                </a:solidFill>
                <a:latin typeface="Arial"/>
              </a:rPr>
              <a:t>middleware build (x64)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378467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26522"/>
                </a:solidFill>
                <a:latin typeface="Arial"/>
              </a:rPr>
              <a:t>3.81 GB/s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789947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168"/>
                </a:solidFill>
                <a:latin typeface="Arial"/>
              </a:rPr>
              <a:t>MW write · 4.5×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5378467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26522"/>
                </a:solidFill>
                <a:latin typeface="Arial"/>
              </a:rPr>
              <a:t>7.27 GB/s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5789947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168"/>
                </a:solidFill>
                <a:latin typeface="Arial"/>
              </a:rPr>
              <a:t>MW read · 3.2× baseline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Arial"/>
              </a:rPr>
              <a:t>SETUP ·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Apps integrated with and without aiDAPTIV+</a:t>
            </a:r>
          </a:p>
        </p:txBody>
      </p:sp>
      <p:pic>
        <p:nvPicPr>
          <p:cNvPr id="5" name="Picture 4" descr="miphi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Internal Status Update  ·  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A9CA3"/>
                </a:solidFill>
                <a:latin typeface="Arial"/>
              </a:rPr>
              <a:t>CLIENT 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4173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A9CA3"/>
                </a:solidFill>
                <a:latin typeface="Arial"/>
              </a:rPr>
              <a:t>BACKENDS (SAME MODEL)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4173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A9CA3"/>
                </a:solidFill>
                <a:latin typeface="Arial"/>
              </a:rPr>
              <a:t>WHERE THE KV CACHE LIVES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83080"/>
            <a:ext cx="2651760" cy="777240"/>
          </a:xfrm>
          <a:prstGeom prst="roundRect">
            <a:avLst>
              <a:gd name="adj" fmla="val 1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txBody>
          <a:bodyPr wrap="square" lIns="201168" tIns="120700" rIns="201168" bIns="120700" rtlCol="0" anchor="ctr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C"/>
                </a:solidFill>
                <a:latin typeface="Arial"/>
              </a:rPr>
              <a:t>LibreChat</a:t>
            </a:r>
            <a:r>
              <a:rPr sz="1050" b="0">
                <a:solidFill>
                  <a:srgbClr val="5F6168"/>
                </a:solidFill>
                <a:latin typeface="Arial"/>
              </a:rPr>
              <a:t>   web chat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46120" y="2167128"/>
            <a:ext cx="868680" cy="347472"/>
          </a:xfrm>
          <a:prstGeom prst="line">
            <a:avLst/>
          </a:prstGeom>
          <a:ln w="15875">
            <a:solidFill>
              <a:srgbClr val="9A9CA3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46120" y="2167128"/>
            <a:ext cx="868680" cy="2450592"/>
          </a:xfrm>
          <a:prstGeom prst="line">
            <a:avLst/>
          </a:prstGeom>
          <a:ln w="19050">
            <a:solidFill>
              <a:srgbClr val="F265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" y="2770632"/>
            <a:ext cx="2651760" cy="777240"/>
          </a:xfrm>
          <a:prstGeom prst="roundRect">
            <a:avLst>
              <a:gd name="adj" fmla="val 1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txBody>
          <a:bodyPr wrap="square" lIns="201168" tIns="120700" rIns="201168" bIns="120700" rtlCol="0" anchor="ctr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C"/>
                </a:solidFill>
                <a:latin typeface="Arial"/>
              </a:rPr>
              <a:t>Onyx</a:t>
            </a:r>
            <a:r>
              <a:rPr sz="1050" b="0">
                <a:solidFill>
                  <a:srgbClr val="5F6168"/>
                </a:solidFill>
                <a:latin typeface="Arial"/>
              </a:rPr>
              <a:t>   AI chat &amp; search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246120" y="2514600"/>
            <a:ext cx="868680" cy="640080"/>
          </a:xfrm>
          <a:prstGeom prst="line">
            <a:avLst/>
          </a:prstGeom>
          <a:ln w="15875">
            <a:solidFill>
              <a:srgbClr val="9A9CA3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46120" y="3154680"/>
            <a:ext cx="868680" cy="1463040"/>
          </a:xfrm>
          <a:prstGeom prst="line">
            <a:avLst/>
          </a:prstGeom>
          <a:ln w="19050">
            <a:solidFill>
              <a:srgbClr val="F265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" y="3758184"/>
            <a:ext cx="2651760" cy="777240"/>
          </a:xfrm>
          <a:prstGeom prst="roundRect">
            <a:avLst>
              <a:gd name="adj" fmla="val 1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txBody>
          <a:bodyPr wrap="square" lIns="201168" tIns="120700" rIns="201168" bIns="120700" rtlCol="0" anchor="ctr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C"/>
                </a:solidFill>
                <a:latin typeface="Arial"/>
              </a:rPr>
              <a:t>OpenWebUI</a:t>
            </a:r>
            <a:r>
              <a:rPr sz="1050" b="0">
                <a:solidFill>
                  <a:srgbClr val="5F6168"/>
                </a:solidFill>
                <a:latin typeface="Arial"/>
              </a:rPr>
              <a:t>   web chat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246120" y="2514600"/>
            <a:ext cx="868680" cy="1627632"/>
          </a:xfrm>
          <a:prstGeom prst="line">
            <a:avLst/>
          </a:prstGeom>
          <a:ln w="15875">
            <a:solidFill>
              <a:srgbClr val="9A9CA3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46120" y="4142232"/>
            <a:ext cx="868680" cy="475488"/>
          </a:xfrm>
          <a:prstGeom prst="line">
            <a:avLst/>
          </a:prstGeom>
          <a:ln w="19050">
            <a:solidFill>
              <a:srgbClr val="F265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8640" y="4745736"/>
            <a:ext cx="2651760" cy="777240"/>
          </a:xfrm>
          <a:prstGeom prst="roundRect">
            <a:avLst>
              <a:gd name="adj" fmla="val 12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txBody>
          <a:bodyPr wrap="square" lIns="201168" tIns="120700" rIns="201168" bIns="120700" rtlCol="0" anchor="ctr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C"/>
                </a:solidFill>
                <a:latin typeface="Arial"/>
              </a:rPr>
              <a:t>Obsidian</a:t>
            </a:r>
            <a:r>
              <a:rPr sz="1050" b="0">
                <a:solidFill>
                  <a:srgbClr val="5F6168"/>
                </a:solidFill>
                <a:latin typeface="Arial"/>
              </a:rPr>
              <a:t>   Copilot plugin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246120" y="2514600"/>
            <a:ext cx="868680" cy="2615184"/>
          </a:xfrm>
          <a:prstGeom prst="line">
            <a:avLst/>
          </a:prstGeom>
          <a:ln w="15875">
            <a:solidFill>
              <a:srgbClr val="9A9CA3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246120" y="4617720"/>
            <a:ext cx="868680" cy="512064"/>
          </a:xfrm>
          <a:prstGeom prst="line">
            <a:avLst/>
          </a:prstGeom>
          <a:ln w="19050">
            <a:solidFill>
              <a:srgbClr val="F265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160520" y="1783080"/>
            <a:ext cx="32918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9A9CA3"/>
            </a:solidFill>
          </a:ln>
          <a:effectLst/>
        </p:spPr>
        <p:txBody>
          <a:bodyPr wrap="square" lIns="228600" tIns="137160" rIns="228600" bIns="137160" rtlCol="0" anchor="ctr"/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9A9CA3"/>
                </a:solidFill>
                <a:latin typeface="Arial"/>
              </a:rPr>
              <a:t>WITHOUT aiDAPTIV+</a:t>
            </a:r>
          </a:p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1A1A1C"/>
                </a:solidFill>
                <a:latin typeface="Arial"/>
              </a:rPr>
              <a:t>Standard llama-server</a:t>
            </a: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5F6168"/>
                </a:solidFill>
                <a:latin typeface="Arial"/>
              </a:rPr>
              <a:t>KV cache in GPU VRAM / DRAM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3886200"/>
            <a:ext cx="3291840" cy="14630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9501A"/>
              </a:gs>
              <a:gs pos="100000">
                <a:srgbClr val="F26522"/>
              </a:gs>
            </a:gsLst>
            <a:lin ang="16200000" scaled="0"/>
          </a:gradFill>
          <a:ln>
            <a:noFill/>
          </a:ln>
          <a:effectLst/>
        </p:spPr>
        <p:txBody>
          <a:bodyPr wrap="square" lIns="228600" tIns="137160" rIns="228600" bIns="137160" rtlCol="0" anchor="ctr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CE3D2"/>
                </a:solidFill>
                <a:latin typeface="Arial"/>
              </a:rPr>
              <a:t>WITH aiDAPTIV+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aiDAPTIV+ llama-server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Middleware offloads KV cache to the AI SSD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0" y="1783080"/>
            <a:ext cx="3136392" cy="1463040"/>
          </a:xfrm>
          <a:prstGeom prst="roundRect">
            <a:avLst>
              <a:gd name="adj" fmla="val 8000"/>
            </a:avLst>
          </a:prstGeom>
          <a:solidFill>
            <a:srgbClr val="FAF9F6"/>
          </a:solidFill>
          <a:ln w="12700">
            <a:solidFill>
              <a:srgbClr val="E4E1DA"/>
            </a:solidFill>
          </a:ln>
          <a:effectLst/>
        </p:spPr>
        <p:txBody>
          <a:bodyPr wrap="square" lIns="228600" tIns="137160" rIns="228600" bIns="137160" rtlCol="0" anchor="ctr"/>
          <a:lstStyle/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1A1A1C"/>
                </a:solidFill>
                <a:latin typeface="Arial"/>
              </a:rPr>
              <a:t>GPU VRAM + DRAM</a:t>
            </a:r>
          </a:p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5F6168"/>
                </a:solidFill>
                <a:latin typeface="Arial"/>
              </a:rPr>
              <a:t>Model layers, hot KV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3886200"/>
            <a:ext cx="3136392" cy="1463040"/>
          </a:xfrm>
          <a:prstGeom prst="roundRect">
            <a:avLst>
              <a:gd name="adj" fmla="val 8000"/>
            </a:avLst>
          </a:prstGeom>
          <a:solidFill>
            <a:srgbClr val="FCE3D2"/>
          </a:solidFill>
          <a:ln w="19050">
            <a:solidFill>
              <a:srgbClr val="F26522"/>
            </a:solidFill>
          </a:ln>
          <a:effectLst/>
        </p:spPr>
        <p:txBody>
          <a:bodyPr wrap="square" lIns="228600" tIns="137160" rIns="228600" bIns="137160" rtlCol="0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D9501A"/>
                </a:solidFill>
                <a:latin typeface="Arial"/>
              </a:rPr>
              <a:t>AI SSD  ·  D: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168"/>
                </a:solidFill>
                <a:latin typeface="Arial"/>
              </a:rPr>
              <a:t>aiDAPTIV namespace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168"/>
                </a:solidFill>
                <a:latin typeface="Consolas"/>
              </a:rPr>
              <a:t>D:\nvme0\inference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98079" y="2514600"/>
            <a:ext cx="960121" cy="0"/>
          </a:xfrm>
          <a:prstGeom prst="line">
            <a:avLst/>
          </a:prstGeom>
          <a:ln w="19050">
            <a:solidFill>
              <a:srgbClr val="9A9CA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498079" y="2926080"/>
            <a:ext cx="960121" cy="1463040"/>
          </a:xfrm>
          <a:prstGeom prst="line">
            <a:avLst/>
          </a:prstGeom>
          <a:ln w="19050">
            <a:solidFill>
              <a:srgbClr val="9A9CA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98079" y="4617720"/>
            <a:ext cx="960121" cy="0"/>
          </a:xfrm>
          <a:prstGeom prst="line">
            <a:avLst/>
          </a:prstGeom>
          <a:ln w="28575">
            <a:solidFill>
              <a:srgbClr val="F265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Arial"/>
              </a:rPr>
              <a:t>ACCOMPLISHED ·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Middleware integrated with four apps</a:t>
            </a:r>
          </a:p>
        </p:txBody>
      </p:sp>
      <p:pic>
        <p:nvPicPr>
          <p:cNvPr id="5" name="Picture 4" descr="miphi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Internal Status Update  ·  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600200"/>
          <a:ext cx="1109167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182880" marR="182880" anchor="ctr">
                    <a:solidFill>
                      <a:srgbClr val="1A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182880" marR="182880" anchor="ctr">
                    <a:solidFill>
                      <a:srgbClr val="1A1A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Without aiDAPTIV+</a:t>
                      </a:r>
                    </a:p>
                  </a:txBody>
                  <a:tcPr marL="182880" marR="182880" anchor="ctr">
                    <a:solidFill>
                      <a:srgbClr val="1A1A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With aiDAPTIV+</a:t>
                      </a:r>
                    </a:p>
                  </a:txBody>
                  <a:tcPr marL="182880" marR="182880" anchor="ctr">
                    <a:solidFill>
                      <a:srgbClr val="1A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Proof</a:t>
                      </a:r>
                    </a:p>
                  </a:txBody>
                  <a:tcPr marL="182880" marR="182880" anchor="ctr">
                    <a:solidFill>
                      <a:srgbClr val="1A1A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A1A1C"/>
                          </a:solidFill>
                          <a:latin typeface="Arial"/>
                        </a:rPr>
                        <a:t>LibreChat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5F6168"/>
                          </a:solidFill>
                          <a:latin typeface="Arial"/>
                        </a:rPr>
                        <a:t>Web chat UI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D9501A"/>
                          </a:solidFill>
                          <a:latin typeface="Arial"/>
                        </a:rPr>
                        <a:t>Slide 8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A1A1C"/>
                          </a:solidFill>
                          <a:latin typeface="Arial"/>
                        </a:rPr>
                        <a:t>Onyx</a:t>
                      </a:r>
                    </a:p>
                  </a:txBody>
                  <a:tcPr marL="182880" marR="182880"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5F6168"/>
                          </a:solidFill>
                          <a:latin typeface="Arial"/>
                        </a:rPr>
                        <a:t>AI chat &amp; enterprise search</a:t>
                      </a:r>
                    </a:p>
                  </a:txBody>
                  <a:tcPr marL="182880" marR="182880"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0" marR="182880"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0" marR="182880"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D9501A"/>
                          </a:solidFill>
                          <a:latin typeface="Arial"/>
                        </a:rPr>
                        <a:t>Slide 9</a:t>
                      </a:r>
                    </a:p>
                  </a:txBody>
                  <a:tcPr marL="182880" marR="182880" anchor="ctr">
                    <a:solidFill>
                      <a:srgbClr val="FA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A1A1C"/>
                          </a:solidFill>
                          <a:latin typeface="Arial"/>
                        </a:rPr>
                        <a:t>OpenWebUI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5F6168"/>
                          </a:solidFill>
                          <a:latin typeface="Arial"/>
                        </a:rPr>
                        <a:t>Web chat UI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D9501A"/>
                          </a:solidFill>
                          <a:latin typeface="Arial"/>
                        </a:rPr>
                        <a:t>Slide 10</a:t>
                      </a:r>
                    </a:p>
                  </a:txBody>
                  <a:tcPr marL="182880" marR="18288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A1A1C"/>
                          </a:solidFill>
                          <a:latin typeface="Arial"/>
                        </a:rPr>
                        <a:t>Obsidian</a:t>
                      </a:r>
                    </a:p>
                  </a:txBody>
                  <a:tcPr marL="182880" marR="182880"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5F6168"/>
                          </a:solidFill>
                          <a:latin typeface="Arial"/>
                        </a:rPr>
                        <a:t>Notes app · Copilot plugin</a:t>
                      </a:r>
                    </a:p>
                  </a:txBody>
                  <a:tcPr marL="182880" marR="182880"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0" marR="182880"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0" marR="182880" anchor="ctr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D9501A"/>
                          </a:solidFill>
                          <a:latin typeface="Arial"/>
                        </a:rPr>
                        <a:t>Slide 11</a:t>
                      </a:r>
                    </a:p>
                  </a:txBody>
                  <a:tcPr marL="182880" marR="182880" anchor="ctr">
                    <a:solidFill>
                      <a:srgbClr val="FA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A1A1C"/>
                          </a:solidFill>
                          <a:latin typeface="Arial"/>
                        </a:rPr>
                        <a:t>KV cache offload</a:t>
                      </a:r>
                    </a:p>
                  </a:txBody>
                  <a:tcPr marL="182880" marR="182880" anchor="ctr">
                    <a:solidFill>
                      <a:srgbClr val="FCE3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5F6168"/>
                          </a:solidFill>
                          <a:latin typeface="Arial"/>
                        </a:rPr>
                        <a:t>Verified on the aiDAPTIV namespace (D:)</a:t>
                      </a:r>
                    </a:p>
                  </a:txBody>
                  <a:tcPr marL="182880" marR="182880" anchor="ctr">
                    <a:solidFill>
                      <a:srgbClr val="FCE3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5F616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0" marR="182880" anchor="ctr">
                    <a:solidFill>
                      <a:srgbClr val="FCE3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182880" marR="182880" anchor="ctr">
                    <a:solidFill>
                      <a:srgbClr val="FCE3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D9501A"/>
                          </a:solidFill>
                          <a:latin typeface="Arial"/>
                        </a:rPr>
                        <a:t>Slides 12–13</a:t>
                      </a:r>
                    </a:p>
                  </a:txBody>
                  <a:tcPr marL="182880" marR="182880" anchor="ctr">
                    <a:solidFill>
                      <a:srgbClr val="FCE3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All apps use the same model </a:t>
            </a:r>
            <a:r>
              <a:rPr sz="1200" b="0">
                <a:solidFill>
                  <a:srgbClr val="1A1A1C"/>
                </a:solidFill>
                <a:latin typeface="Consolas"/>
              </a:rPr>
              <a:t>gemma-4-26B-A4B-it-UD-Q4_K_M.gguf</a:t>
            </a:r>
            <a:r>
              <a:rPr sz="1200" b="0">
                <a:solidFill>
                  <a:srgbClr val="5F6168"/>
                </a:solidFill>
                <a:latin typeface="Arial"/>
              </a:rPr>
              <a:t> so results are comparable across apps and backends.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Arial"/>
              </a:rPr>
              <a:t>PROOF · LIBRECHAT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LibreChat running on the aiDAPTIV+ backend</a:t>
            </a:r>
          </a:p>
        </p:txBody>
      </p:sp>
      <p:pic>
        <p:nvPicPr>
          <p:cNvPr id="5" name="Picture 4" descr="miphi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Internal Status Update  ·  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 (4)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8640" y="1733071"/>
            <a:ext cx="7589520" cy="4214817"/>
          </a:xfrm>
          <a:prstGeom prst="rect">
            <a:avLst/>
          </a:prstGeom>
          <a:ln w="12700">
            <a:solidFill>
              <a:srgbClr val="E4E1DA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503920" y="1554480"/>
            <a:ext cx="1193292" cy="274320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>
            <a:noFill/>
          </a:ln>
          <a:effectLst/>
        </p:spPr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8E3E"/>
                </a:solidFill>
                <a:latin typeface="Arial"/>
              </a:rPr>
              <a:t>✓  INTEGRATED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167127"/>
            <a:ext cx="109728" cy="10972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0" y="2103120"/>
            <a:ext cx="291053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Setup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aiDAPTIV+ llama-server added as LibreChat’s model endpoint (plus baseline endpoint).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0" y="3127247"/>
            <a:ext cx="109728" cy="10972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0" y="3063239"/>
            <a:ext cx="291053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Version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LibreChat v0.8.8-rc2 at localhost:3080.</a:t>
            </a:r>
          </a:p>
        </p:txBody>
      </p:sp>
      <p:sp>
        <p:nvSpPr>
          <p:cNvPr id="16" name="Oval 15"/>
          <p:cNvSpPr/>
          <p:nvPr/>
        </p:nvSpPr>
        <p:spPr>
          <a:xfrm>
            <a:off x="8503920" y="4087368"/>
            <a:ext cx="109728" cy="10972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0" y="4023360"/>
            <a:ext cx="291053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Gemma 4 26B A4B · Q4_K_M GGUF.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5047488"/>
            <a:ext cx="109728" cy="10972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0" y="4983480"/>
            <a:ext cx="291053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Check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Reasoning (“Thoughts”) and a full code-generation answer streamed successfully.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Arial"/>
              </a:rPr>
              <a:t>PROOF · ONYX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Onyx running on the aiDAPTIV+ backend</a:t>
            </a:r>
          </a:p>
        </p:txBody>
      </p:sp>
      <p:pic>
        <p:nvPicPr>
          <p:cNvPr id="5" name="Picture 4" descr="miphi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Internal Status Update  ·  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7589520" cy="4663440"/>
          </a:xfrm>
          <a:prstGeom prst="roundRect">
            <a:avLst>
              <a:gd name="adj" fmla="val 3000"/>
            </a:avLst>
          </a:prstGeom>
          <a:solidFill>
            <a:srgbClr val="FAF9F6"/>
          </a:solidFill>
          <a:ln w="19050">
            <a:solidFill>
              <a:srgbClr val="9A9CA3"/>
            </a:solidFill>
            <a:prstDash val="dash"/>
          </a:ln>
          <a:effectLst/>
        </p:spPr>
        <p:txBody>
          <a:bodyPr wrap="square" lIns="457200" tIns="274320" rIns="457200" bIns="274320" rtlCol="0" anchor="ctr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26522"/>
                </a:solidFill>
                <a:latin typeface="Arial"/>
              </a:rPr>
              <a:t>SCREENSHOT PENDING</a:t>
            </a: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A1A1C"/>
                </a:solidFill>
                <a:latin typeface="Arial"/>
              </a:rPr>
              <a:t>Insert proof screenshot here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Onyx chat session answered by the aiDAPTIV+ 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554480"/>
            <a:ext cx="1193292" cy="274320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>
            <a:noFill/>
          </a:ln>
          <a:effectLst/>
        </p:spPr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8E3E"/>
                </a:solidFill>
                <a:latin typeface="Arial"/>
              </a:rPr>
              <a:t>✓  INTEGRATED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167127"/>
            <a:ext cx="109728" cy="10972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0" y="2103120"/>
            <a:ext cx="291053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Setup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aiDAPTIV+ llama-server added as Onyx’s LLM provider (plus baseline endpoint).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0" y="3127247"/>
            <a:ext cx="109728" cy="10972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0" y="3063239"/>
            <a:ext cx="291053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App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Onyx — open-source AI chat &amp; enterprise search.</a:t>
            </a:r>
          </a:p>
        </p:txBody>
      </p:sp>
      <p:sp>
        <p:nvSpPr>
          <p:cNvPr id="16" name="Oval 15"/>
          <p:cNvSpPr/>
          <p:nvPr/>
        </p:nvSpPr>
        <p:spPr>
          <a:xfrm>
            <a:off x="8503920" y="4087368"/>
            <a:ext cx="109728" cy="10972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0" y="4023360"/>
            <a:ext cx="291053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Gemma 4 26B A4B · Q4_K_M GGUF.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5047488"/>
            <a:ext cx="109728" cy="10972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0" y="4983480"/>
            <a:ext cx="291053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Check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Chat response served through the aiDAPTIV+ backend.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187FAF2-DED9-867B-4A49-FAF5C525E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23" y="1481328"/>
            <a:ext cx="7648857" cy="48474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Arial"/>
              </a:rPr>
              <a:t>PROOF · OPENWEBUI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OpenWebUI running on the aiDAPTIV+ backend</a:t>
            </a:r>
          </a:p>
        </p:txBody>
      </p:sp>
      <p:pic>
        <p:nvPicPr>
          <p:cNvPr id="5" name="Picture 4" descr="miphi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Internal Status Update  ·  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7589520" cy="4663440"/>
          </a:xfrm>
          <a:prstGeom prst="roundRect">
            <a:avLst>
              <a:gd name="adj" fmla="val 3000"/>
            </a:avLst>
          </a:prstGeom>
          <a:solidFill>
            <a:srgbClr val="FAF9F6"/>
          </a:solidFill>
          <a:ln w="19050">
            <a:solidFill>
              <a:srgbClr val="9A9CA3"/>
            </a:solidFill>
            <a:prstDash val="dash"/>
          </a:ln>
          <a:effectLst/>
        </p:spPr>
        <p:txBody>
          <a:bodyPr wrap="square" lIns="457200" tIns="274320" rIns="457200" bIns="274320" rtlCol="0" anchor="ctr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26522"/>
                </a:solidFill>
                <a:latin typeface="Arial"/>
              </a:rPr>
              <a:t>SCREENSHOT PENDING</a:t>
            </a: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A1A1C"/>
                </a:solidFill>
                <a:latin typeface="Arial"/>
              </a:rPr>
              <a:t>Insert proof screenshot here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OpenWebUI chat session answered by the aiDAPTIV+ 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554480"/>
            <a:ext cx="1193292" cy="274320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>
            <a:noFill/>
          </a:ln>
          <a:effectLst/>
        </p:spPr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8E3E"/>
                </a:solidFill>
                <a:latin typeface="Arial"/>
              </a:rPr>
              <a:t>✓  INTEGRATED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167127"/>
            <a:ext cx="109728" cy="10972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0" y="2103120"/>
            <a:ext cx="291053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Setup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aiDAPTIV+ llama-server added as an OpenWebUI connection (plus baseline endpoint).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0" y="3127247"/>
            <a:ext cx="109728" cy="10972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0" y="3063239"/>
            <a:ext cx="291053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App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OpenWebUI — self-hosted web chat UI.</a:t>
            </a:r>
          </a:p>
        </p:txBody>
      </p:sp>
      <p:sp>
        <p:nvSpPr>
          <p:cNvPr id="16" name="Oval 15"/>
          <p:cNvSpPr/>
          <p:nvPr/>
        </p:nvSpPr>
        <p:spPr>
          <a:xfrm>
            <a:off x="8503920" y="4087368"/>
            <a:ext cx="109728" cy="10972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0" y="4023360"/>
            <a:ext cx="291053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Gemma 4 26B A4B · Q4_K_M GGUF.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5047488"/>
            <a:ext cx="109728" cy="10972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0" y="4983480"/>
            <a:ext cx="291053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Check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Chat response served through the aiDAPTIV+ backend.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D7D4CAB-C95B-06C9-1B62-09FE69902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7657226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Arial"/>
              </a:rPr>
              <a:t>PROOF · OBSIDIAN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Obsidian Copilot running on the aiDAPTIV+ backend</a:t>
            </a:r>
          </a:p>
        </p:txBody>
      </p:sp>
      <p:pic>
        <p:nvPicPr>
          <p:cNvPr id="5" name="Picture 4" descr="miphi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Internal Status Update  ·  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 (6)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8640" y="1508760"/>
            <a:ext cx="6415911" cy="4663440"/>
          </a:xfrm>
          <a:prstGeom prst="rect">
            <a:avLst/>
          </a:prstGeom>
          <a:ln w="12700">
            <a:solidFill>
              <a:srgbClr val="E4E1DA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7589519" y="1554480"/>
            <a:ext cx="1193292" cy="274320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>
            <a:noFill/>
          </a:ln>
          <a:effectLst/>
        </p:spPr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8E3E"/>
                </a:solidFill>
                <a:latin typeface="Arial"/>
              </a:rPr>
              <a:t>✓  INTEGRATED</a:t>
            </a:r>
          </a:p>
        </p:txBody>
      </p:sp>
      <p:sp>
        <p:nvSpPr>
          <p:cNvPr id="12" name="Oval 11"/>
          <p:cNvSpPr/>
          <p:nvPr/>
        </p:nvSpPr>
        <p:spPr>
          <a:xfrm>
            <a:off x="7589519" y="2167127"/>
            <a:ext cx="109728" cy="10972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2103120"/>
            <a:ext cx="382493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Setup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Obsidian Copilot plugin pointed at the aiDAPTIV+ endpoint (plus baseline endpoint).</a:t>
            </a:r>
          </a:p>
        </p:txBody>
      </p:sp>
      <p:sp>
        <p:nvSpPr>
          <p:cNvPr id="14" name="Oval 13"/>
          <p:cNvSpPr/>
          <p:nvPr/>
        </p:nvSpPr>
        <p:spPr>
          <a:xfrm>
            <a:off x="7589519" y="3127247"/>
            <a:ext cx="109728" cy="10972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3063239"/>
            <a:ext cx="382493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Build KV Cache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One-click action in the chat panel to pre-build the KV cache.</a:t>
            </a:r>
          </a:p>
        </p:txBody>
      </p:sp>
      <p:sp>
        <p:nvSpPr>
          <p:cNvPr id="16" name="Oval 15"/>
          <p:cNvSpPr/>
          <p:nvPr/>
        </p:nvSpPr>
        <p:spPr>
          <a:xfrm>
            <a:off x="7589519" y="4087368"/>
            <a:ext cx="109728" cy="10972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0" y="4023360"/>
            <a:ext cx="382493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gemma-4-26B-A4B-it-UD-Q4_K_M.gguf.</a:t>
            </a:r>
          </a:p>
        </p:txBody>
      </p:sp>
      <p:sp>
        <p:nvSpPr>
          <p:cNvPr id="18" name="Oval 17"/>
          <p:cNvSpPr/>
          <p:nvPr/>
        </p:nvSpPr>
        <p:spPr>
          <a:xfrm>
            <a:off x="7589519" y="5047488"/>
            <a:ext cx="109728" cy="10972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4983480"/>
            <a:ext cx="382493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Check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Prompt answered end-to-end inside the vault (2026-09-10, 18:27).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Arial"/>
              </a:rPr>
              <a:t>ACCOMPLISHED · KV CACHE OFFLOAD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Verified: KV cache is offloading to the AI SSD</a:t>
            </a:r>
          </a:p>
        </p:txBody>
      </p:sp>
      <p:pic>
        <p:nvPicPr>
          <p:cNvPr id="5" name="Picture 4" descr="miphi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Internal Status Update  ·  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48132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A1A1C"/>
          </a:solidFill>
          <a:ln>
            <a:noFill/>
          </a:ln>
          <a:effectLst/>
        </p:spPr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6:21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46304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F6168"/>
                </a:solidFill>
                <a:latin typeface="Arial"/>
              </a:rPr>
              <a:t>kv_cache_…bin = </a:t>
            </a:r>
            <a:r>
              <a:rPr sz="1500" b="1">
                <a:solidFill>
                  <a:srgbClr val="D9501A"/>
                </a:solidFill>
                <a:latin typeface="Arial"/>
              </a:rPr>
              <a:t>73,920 KB</a:t>
            </a:r>
          </a:p>
        </p:txBody>
      </p:sp>
      <p:pic>
        <p:nvPicPr>
          <p:cNvPr id="12" name="Picture 11" descr="image (3).png"/>
          <p:cNvPicPr>
            <a:picLocks noChangeAspect="1"/>
          </p:cNvPicPr>
          <p:nvPr/>
        </p:nvPicPr>
        <p:blipFill>
          <a:blip r:embed="rId3"/>
          <a:srcRect l="12700" t="15686" r="32500" b="56209"/>
          <a:stretch>
            <a:fillRect/>
          </a:stretch>
        </p:blipFill>
        <p:spPr>
          <a:xfrm>
            <a:off x="548640" y="2063141"/>
            <a:ext cx="4937760" cy="1817316"/>
          </a:xfrm>
          <a:prstGeom prst="rect">
            <a:avLst/>
          </a:prstGeom>
          <a:ln w="12700">
            <a:solidFill>
              <a:srgbClr val="E4E1DA"/>
            </a:solidFill>
          </a:ln>
        </p:spPr>
      </p:pic>
      <p:sp>
        <p:nvSpPr>
          <p:cNvPr id="13" name="Rounded Rectangle 12"/>
          <p:cNvSpPr/>
          <p:nvPr/>
        </p:nvSpPr>
        <p:spPr>
          <a:xfrm>
            <a:off x="576072" y="3226224"/>
            <a:ext cx="4882896" cy="199904"/>
          </a:xfrm>
          <a:prstGeom prst="roundRect">
            <a:avLst>
              <a:gd name="adj" fmla="val 20000"/>
            </a:avLst>
          </a:prstGeom>
          <a:noFill/>
          <a:ln w="25400">
            <a:solidFill>
              <a:srgbClr val="F2652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A9CA3"/>
                </a:solidFill>
                <a:latin typeface="Arial"/>
              </a:rPr>
              <a:t>≈ 72 MB · early in session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02552" y="148132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A1A1C"/>
          </a:solidFill>
          <a:ln>
            <a:noFill/>
          </a:ln>
          <a:effectLst/>
        </p:spPr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6:28 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146304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F6168"/>
                </a:solidFill>
                <a:latin typeface="Arial"/>
              </a:rPr>
              <a:t>kv_cache_…bin = </a:t>
            </a:r>
            <a:r>
              <a:rPr sz="1500" b="1">
                <a:solidFill>
                  <a:srgbClr val="D9501A"/>
                </a:solidFill>
                <a:latin typeface="Arial"/>
              </a:rPr>
              <a:t>1,223,200 KB</a:t>
            </a:r>
          </a:p>
        </p:txBody>
      </p:sp>
      <p:pic>
        <p:nvPicPr>
          <p:cNvPr id="17" name="Picture 16" descr="image (5).png"/>
          <p:cNvPicPr>
            <a:picLocks noChangeAspect="1"/>
          </p:cNvPicPr>
          <p:nvPr/>
        </p:nvPicPr>
        <p:blipFill>
          <a:blip r:embed="rId4"/>
          <a:srcRect l="12700" t="4713" r="32500" b="63623"/>
          <a:stretch>
            <a:fillRect/>
          </a:stretch>
        </p:blipFill>
        <p:spPr>
          <a:xfrm>
            <a:off x="6702552" y="2064843"/>
            <a:ext cx="4937760" cy="1813913"/>
          </a:xfrm>
          <a:prstGeom prst="rect">
            <a:avLst/>
          </a:prstGeom>
          <a:ln w="12700">
            <a:solidFill>
              <a:srgbClr val="E4E1DA"/>
            </a:solidFill>
          </a:ln>
        </p:spPr>
      </p:pic>
      <p:sp>
        <p:nvSpPr>
          <p:cNvPr id="18" name="Rounded Rectangle 17"/>
          <p:cNvSpPr/>
          <p:nvPr/>
        </p:nvSpPr>
        <p:spPr>
          <a:xfrm>
            <a:off x="6729984" y="3225747"/>
            <a:ext cx="4882896" cy="199530"/>
          </a:xfrm>
          <a:prstGeom prst="roundRect">
            <a:avLst>
              <a:gd name="adj" fmla="val 20000"/>
            </a:avLst>
          </a:prstGeom>
          <a:noFill/>
          <a:ln w="25400">
            <a:solidFill>
              <a:srgbClr val="F2652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02552" y="41148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A9CA3"/>
                </a:solidFill>
                <a:latin typeface="Arial"/>
              </a:rPr>
              <a:t>≈ 1.17 GB · seven minutes later</a:t>
            </a:r>
          </a:p>
        </p:txBody>
      </p:sp>
      <p:sp>
        <p:nvSpPr>
          <p:cNvPr id="20" name="Oval 19"/>
          <p:cNvSpPr/>
          <p:nvPr/>
        </p:nvSpPr>
        <p:spPr>
          <a:xfrm>
            <a:off x="5541264" y="2423160"/>
            <a:ext cx="1097280" cy="1097280"/>
          </a:xfrm>
          <a:prstGeom prst="ellipse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18900000" scaled="0"/>
          </a:gradFill>
          <a:ln>
            <a:noFill/>
          </a:ln>
          <a:effectLst/>
        </p:spPr>
        <p:txBody>
          <a:bodyPr wrap="square" lIns="18288" tIns="10972" rIns="18288" bIns="10972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16.5×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growth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AF9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6634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A1C"/>
                </a:solidFill>
                <a:latin typeface="Consolas"/>
              </a:rPr>
              <a:t>D:\nvme0\inference</a:t>
            </a:r>
            <a:r>
              <a:rPr sz="1100" b="0">
                <a:solidFill>
                  <a:srgbClr val="9A9CA3"/>
                </a:solidFill>
                <a:latin typeface="Arial"/>
              </a:rPr>
              <a:t>   cache directory on the aiDAPTIV namespace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956048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501A"/>
                </a:solidFill>
                <a:latin typeface="Consolas"/>
              </a:rPr>
              <a:t>kv_cache_&lt;id&gt;.bin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F6168"/>
                </a:solidFill>
                <a:latin typeface="Arial"/>
              </a:rPr>
              <a:t>Offloaded KV cache — grows as tokens are processed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956048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501A"/>
                </a:solidFill>
                <a:latin typeface="Consolas"/>
              </a:rPr>
              <a:t>prefix_tree_&lt;id&gt;.bin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F6168"/>
                </a:solidFill>
                <a:latin typeface="Arial"/>
              </a:rPr>
              <a:t>Prefix index used for cache reuse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956048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501A"/>
                </a:solidFill>
                <a:latin typeface="Consolas"/>
              </a:rPr>
              <a:t>model_info_&lt;id&gt;.bin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F6168"/>
                </a:solidFill>
                <a:latin typeface="Arial"/>
              </a:rPr>
              <a:t>Model metadata for the cached session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4956048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501A"/>
                </a:solidFill>
                <a:latin typeface="Consolas"/>
              </a:rPr>
              <a:t>.lock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F6168"/>
                </a:solidFill>
                <a:latin typeface="Arial"/>
              </a:rPr>
              <a:t>Guards the cache directory while the server runs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A1C"/>
                </a:solidFill>
                <a:latin typeface="Arial"/>
              </a:rPr>
              <a:t>Captured live: </a:t>
            </a:r>
            <a:r>
              <a:rPr sz="1200" b="0">
                <a:solidFill>
                  <a:srgbClr val="5F6168"/>
                </a:solidFill>
                <a:latin typeface="Arial"/>
              </a:rPr>
              <a:t>the launcher reported “Server is ready (llama-server is still running)” while the KV cache kept growing on the SSD.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Arial"/>
              </a:rPr>
              <a:t>ACCOMPLISHED · KV CACHE OFFLOAD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Server log confirms checkpoints saved to Cache Storage</a:t>
            </a:r>
          </a:p>
        </p:txBody>
      </p:sp>
      <p:pic>
        <p:nvPicPr>
          <p:cNvPr id="5" name="Picture 4" descr="miphi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Internal Status Update  ·  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 (7)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11680" y="1627632"/>
            <a:ext cx="6949440" cy="4092128"/>
          </a:xfrm>
          <a:prstGeom prst="rect">
            <a:avLst/>
          </a:prstGeom>
          <a:ln w="12700">
            <a:solidFill>
              <a:srgbClr val="E4E1DA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46304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6522"/>
                </a:solidFill>
                <a:latin typeface="Arial"/>
              </a:rPr>
              <a:t>UPCOMING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C"/>
                </a:solidFill>
                <a:latin typeface="Arial"/>
              </a:rPr>
              <a:t>Next tasks</a:t>
            </a:r>
          </a:p>
        </p:txBody>
      </p:sp>
      <p:pic>
        <p:nvPicPr>
          <p:cNvPr id="5" name="Picture 4" descr="miphi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151" y="411480"/>
            <a:ext cx="1076623" cy="384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26522"/>
                </a:solidFill>
                <a:latin typeface="Arial"/>
              </a:rPr>
              <a:t>MiPhi</a:t>
            </a:r>
            <a:r>
              <a:rPr sz="900" b="0">
                <a:solidFill>
                  <a:srgbClr val="9A9CA3"/>
                </a:solidFill>
                <a:latin typeface="Arial"/>
              </a:rPr>
              <a:t>  ·  aiDAPTIV+ Integration — Internal Status Update  ·  11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9CA3"/>
                </a:solidFill>
                <a:latin typeface="Arial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gradFill rotWithShape="1">
            <a:gsLst>
              <a:gs pos="0">
                <a:srgbClr val="F26522"/>
              </a:gs>
              <a:gs pos="100000">
                <a:srgbClr val="F9A11B"/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2560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600200"/>
            <a:ext cx="256032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59" y="1920240"/>
            <a:ext cx="502920" cy="502920"/>
          </a:xfrm>
          <a:prstGeom prst="ellipse">
            <a:avLst/>
          </a:prstGeom>
          <a:solidFill>
            <a:srgbClr val="FCE3D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501A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60604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Benchmark with vs. without aiDAPTIV+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474720"/>
            <a:ext cx="21031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Same basic chat workload on both backends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Planned metrics: TTFT, prompt &amp; generation tok/s, max context, VRAM 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" y="51206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CE3D2"/>
          </a:solidFill>
          <a:ln>
            <a:noFill/>
          </a:ln>
          <a:effectLst/>
        </p:spPr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9501A"/>
                </a:solidFill>
                <a:latin typeface="Arial"/>
              </a:rPr>
              <a:t>UPCOMING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92424" y="1600200"/>
            <a:ext cx="2560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92424" y="1600200"/>
            <a:ext cx="256032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666744" y="1920240"/>
            <a:ext cx="502920" cy="502920"/>
          </a:xfrm>
          <a:prstGeom prst="ellipse">
            <a:avLst/>
          </a:prstGeom>
          <a:solidFill>
            <a:srgbClr val="FCE3D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501A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260604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Document upload 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744" y="3474720"/>
            <a:ext cx="21031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Add document upload to LibreChat, Onyx, OpenWebUI and Obsidian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Answers grounded in uploaded 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66744" y="51206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CE3D2"/>
          </a:solidFill>
          <a:ln>
            <a:noFill/>
          </a:ln>
          <a:effectLst/>
        </p:spPr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9501A"/>
                </a:solidFill>
                <a:latin typeface="Arial"/>
              </a:rPr>
              <a:t>UPCOMING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1600200"/>
            <a:ext cx="2560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6207" y="1600200"/>
            <a:ext cx="256032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10527" y="1920240"/>
            <a:ext cx="502920" cy="502920"/>
          </a:xfrm>
          <a:prstGeom prst="ellipse">
            <a:avLst/>
          </a:prstGeom>
          <a:solidFill>
            <a:srgbClr val="FCE3D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501A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7" y="260604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Web search feature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7" y="3474720"/>
            <a:ext cx="21031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Add web search to all four apps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Responses served through the aiDAPTIV+ backend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10527" y="51206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CE3D2"/>
          </a:solidFill>
          <a:ln>
            <a:noFill/>
          </a:ln>
          <a:effectLst/>
        </p:spPr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9501A"/>
                </a:solidFill>
                <a:latin typeface="Arial"/>
              </a:rPr>
              <a:t>UPCOMING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9992" y="1600200"/>
            <a:ext cx="2560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79992" y="1600200"/>
            <a:ext cx="256032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354312" y="1920240"/>
            <a:ext cx="502920" cy="502920"/>
          </a:xfrm>
          <a:prstGeom prst="ellipse">
            <a:avLst/>
          </a:prstGeom>
          <a:solidFill>
            <a:srgbClr val="FCE3D2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D9501A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2" y="260604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A1C"/>
                </a:solidFill>
                <a:latin typeface="Arial"/>
              </a:rPr>
              <a:t>Verify functionality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4312" y="3474720"/>
            <a:ext cx="21031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End-to-end checks of chat, document upload and web search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F6168"/>
                </a:solidFill>
                <a:latin typeface="Arial"/>
              </a:rPr>
              <a:t>• On each app, with and without aiDAPTIV+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54312" y="51206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CE3D2"/>
          </a:solidFill>
          <a:ln>
            <a:noFill/>
          </a:ln>
          <a:effectLst/>
        </p:spPr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9501A"/>
                </a:solidFill>
                <a:latin typeface="Arial"/>
              </a:rPr>
              <a:t>UPCOMING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760720"/>
            <a:ext cx="11091672" cy="457200"/>
          </a:xfrm>
          <a:prstGeom prst="roundRect">
            <a:avLst>
              <a:gd name="adj" fmla="val 20000"/>
            </a:avLst>
          </a:prstGeom>
          <a:solidFill>
            <a:srgbClr val="FCE3D2"/>
          </a:solidFill>
          <a:ln>
            <a:noFill/>
          </a:ln>
          <a:effectLst/>
        </p:spPr>
        <p:txBody>
          <a:bodyPr wrap="square" lIns="228600" tIns="137160" rIns="228600" bIns="137160" rtlCol="0" anchor="ctr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501A"/>
                </a:solidFill>
                <a:latin typeface="Arial"/>
              </a:rPr>
              <a:t>Order: </a:t>
            </a:r>
            <a:r>
              <a:rPr sz="1200" b="0">
                <a:solidFill>
                  <a:srgbClr val="5F6168"/>
                </a:solidFill>
                <a:latin typeface="Arial"/>
              </a:rPr>
              <a:t>benchmark first to set the baseline, then add document upload and web search, then verify each feature on every app.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1452</Words>
  <Application>Microsoft Office PowerPoint</Application>
  <PresentationFormat>Widescreen</PresentationFormat>
  <Paragraphs>276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Ajay Ganapathy K H</cp:lastModifiedBy>
  <cp:revision>3</cp:revision>
  <dcterms:created xsi:type="dcterms:W3CDTF">2013-01-27T09:14:16Z</dcterms:created>
  <dcterms:modified xsi:type="dcterms:W3CDTF">2026-09-11T08:36:12Z</dcterms:modified>
  <cp:category/>
</cp:coreProperties>
</file>